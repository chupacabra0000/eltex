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0" r:id="rId2"/>
  </p:sldMasterIdLst>
  <p:notesMasterIdLst>
    <p:notesMasterId r:id="rId58"/>
  </p:notesMasterIdLst>
  <p:handoutMasterIdLst>
    <p:handoutMasterId r:id="rId59"/>
  </p:handoutMasterIdLst>
  <p:sldIdLst>
    <p:sldId id="256" r:id="rId3"/>
    <p:sldId id="257" r:id="rId4"/>
    <p:sldId id="316" r:id="rId5"/>
    <p:sldId id="315" r:id="rId6"/>
    <p:sldId id="258" r:id="rId7"/>
    <p:sldId id="326" r:id="rId8"/>
    <p:sldId id="260" r:id="rId9"/>
    <p:sldId id="314" r:id="rId10"/>
    <p:sldId id="261" r:id="rId11"/>
    <p:sldId id="262" r:id="rId12"/>
    <p:sldId id="263" r:id="rId13"/>
    <p:sldId id="312" r:id="rId14"/>
    <p:sldId id="264" r:id="rId15"/>
    <p:sldId id="265" r:id="rId16"/>
    <p:sldId id="266" r:id="rId17"/>
    <p:sldId id="267" r:id="rId18"/>
    <p:sldId id="317" r:id="rId19"/>
    <p:sldId id="268" r:id="rId20"/>
    <p:sldId id="269" r:id="rId21"/>
    <p:sldId id="345" r:id="rId22"/>
    <p:sldId id="284" r:id="rId23"/>
    <p:sldId id="285" r:id="rId24"/>
    <p:sldId id="286" r:id="rId25"/>
    <p:sldId id="287" r:id="rId26"/>
    <p:sldId id="288" r:id="rId27"/>
    <p:sldId id="311" r:id="rId28"/>
    <p:sldId id="297" r:id="rId29"/>
    <p:sldId id="318" r:id="rId30"/>
    <p:sldId id="319" r:id="rId31"/>
    <p:sldId id="320" r:id="rId32"/>
    <p:sldId id="325" r:id="rId33"/>
    <p:sldId id="321" r:id="rId34"/>
    <p:sldId id="322" r:id="rId35"/>
    <p:sldId id="323" r:id="rId36"/>
    <p:sldId id="324" r:id="rId37"/>
    <p:sldId id="307" r:id="rId38"/>
    <p:sldId id="309" r:id="rId39"/>
    <p:sldId id="327" r:id="rId40"/>
    <p:sldId id="328" r:id="rId41"/>
    <p:sldId id="329" r:id="rId42"/>
    <p:sldId id="330" r:id="rId43"/>
    <p:sldId id="331" r:id="rId44"/>
    <p:sldId id="332" r:id="rId45"/>
    <p:sldId id="333" r:id="rId46"/>
    <p:sldId id="334" r:id="rId47"/>
    <p:sldId id="335" r:id="rId48"/>
    <p:sldId id="336" r:id="rId49"/>
    <p:sldId id="337" r:id="rId50"/>
    <p:sldId id="338" r:id="rId51"/>
    <p:sldId id="339" r:id="rId52"/>
    <p:sldId id="340" r:id="rId53"/>
    <p:sldId id="341" r:id="rId54"/>
    <p:sldId id="342" r:id="rId55"/>
    <p:sldId id="343" r:id="rId56"/>
    <p:sldId id="344" r:id="rId57"/>
  </p:sldIdLst>
  <p:sldSz cx="12192000" cy="6858000"/>
  <p:notesSz cx="6858000" cy="9144000"/>
  <p:embeddedFontLst>
    <p:embeddedFont>
      <p:font typeface="IBM Plex Sans" panose="020B0604020202020204" charset="0"/>
      <p:regular r:id="rId60"/>
      <p:bold r:id="rId61"/>
      <p:italic r:id="rId62"/>
      <p:boldItalic r:id="rId63"/>
    </p:embeddedFont>
    <p:embeddedFont>
      <p:font typeface="Lucida Console" panose="020B0609040504020204" pitchFamily="49" charset="0"/>
      <p:regular r:id="rId64"/>
    </p:embeddedFont>
    <p:embeddedFont>
      <p:font typeface="PT Mono" panose="020B0604020202020204" charset="-52"/>
      <p:regular r:id="rId65"/>
    </p:embeddedFont>
    <p:embeddedFont>
      <p:font typeface="Fira Sans" panose="020B0604020202020204" charset="0"/>
      <p:regular r:id="rId66"/>
      <p:bold r:id="rId67"/>
      <p:italic r:id="rId68"/>
      <p:boldItalic r:id="rId69"/>
    </p:embeddedFont>
    <p:embeddedFont>
      <p:font typeface="Calibri" panose="020F0502020204030204" pitchFamily="34" charset="0"/>
      <p:regular r:id="rId70"/>
      <p:bold r:id="rId71"/>
      <p:italic r:id="rId72"/>
      <p:boldItalic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7" roundtripDataSignature="AMtx7mjm1zI643OJreu02UpaUgseqS6aO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21" d="100"/>
          <a:sy n="121" d="100"/>
        </p:scale>
        <p:origin x="-485" y="-86"/>
      </p:cViewPr>
      <p:guideLst>
        <p:guide orient="horz" pos="2160"/>
        <p:guide pos="3840"/>
      </p:guideLst>
    </p:cSldViewPr>
  </p:slideViewPr>
  <p:notesTextViewPr>
    <p:cViewPr>
      <p:scale>
        <a:sx n="1" d="1"/>
        <a:sy n="1" d="1"/>
      </p:scale>
      <p:origin x="0" y="0"/>
    </p:cViewPr>
  </p:notesTextViewPr>
  <p:notesViewPr>
    <p:cSldViewPr>
      <p:cViewPr varScale="1">
        <p:scale>
          <a:sx n="64" d="100"/>
          <a:sy n="64" d="100"/>
        </p:scale>
        <p:origin x="-2842"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4.fntdata"/><Relationship Id="rId68" Type="http://schemas.openxmlformats.org/officeDocument/2006/relationships/font" Target="fonts/font9.fntdata"/><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66" Type="http://schemas.openxmlformats.org/officeDocument/2006/relationships/font" Target="fonts/font7.fntdata"/><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font" Target="fonts/font2.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5.fntdata"/><Relationship Id="rId69" Type="http://schemas.openxmlformats.org/officeDocument/2006/relationships/font" Target="fonts/font10.fntdata"/><Relationship Id="rId77" Type="http://customschemas.google.com/relationships/presentationmetadata" Target="meta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3.fntdata"/><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handoutMaster" Target="handoutMasters/handoutMaster1.xml"/><Relationship Id="rId67" Type="http://schemas.openxmlformats.org/officeDocument/2006/relationships/font" Target="fonts/font8.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3.fntdata"/><Relationship Id="rId7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1.fntdata"/><Relationship Id="rId65" Type="http://schemas.openxmlformats.org/officeDocument/2006/relationships/font" Target="fonts/font6.fntdata"/><Relationship Id="rId73" Type="http://schemas.openxmlformats.org/officeDocument/2006/relationships/font" Target="fonts/font14.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font" Target="fonts/font12.fntdata"/><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47F7802-C20E-4CDA-B955-B7D3DBB2F109}" type="datetimeFigureOut">
              <a:rPr lang="ru-RU" smtClean="0"/>
              <a:t>05.10.2026</a:t>
            </a:fld>
            <a:endParaRPr lang="ru-RU"/>
          </a:p>
        </p:txBody>
      </p:sp>
      <p:sp>
        <p:nvSpPr>
          <p:cNvPr id="4" name="Нижний колонтитул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1E5DDA1-272B-4CBA-8182-02C8A5B214E6}" type="slidenum">
              <a:rPr lang="ru-RU" smtClean="0"/>
              <a:t>‹#›</a:t>
            </a:fld>
            <a:endParaRPr lang="ru-RU"/>
          </a:p>
        </p:txBody>
      </p:sp>
    </p:spTree>
    <p:extLst>
      <p:ext uri="{BB962C8B-B14F-4D97-AF65-F5344CB8AC3E}">
        <p14:creationId xmlns:p14="http://schemas.microsoft.com/office/powerpoint/2010/main" val="38774638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98362716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5" name="Google Shape;325;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2" name="Google Shape;382;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3" name="Google Shape;393;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6" name="Google Shape;296;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Титульный слайд" type="title">
  <p:cSld name="TITLE">
    <p:spTree>
      <p:nvGrpSpPr>
        <p:cNvPr id="1" name="Shape 11"/>
        <p:cNvGrpSpPr/>
        <p:nvPr/>
      </p:nvGrpSpPr>
      <p:grpSpPr>
        <a:xfrm>
          <a:off x="0" y="0"/>
          <a:ext cx="0" cy="0"/>
          <a:chOff x="0" y="0"/>
          <a:chExt cx="0" cy="0"/>
        </a:xfrm>
      </p:grpSpPr>
      <p:sp>
        <p:nvSpPr>
          <p:cNvPr id="12" name="Google Shape;12;p5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5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57"/>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57"/>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57"/>
          <p:cNvSpPr txBox="1">
            <a:spLocks noGrp="1"/>
          </p:cNvSpPr>
          <p:nvPr>
            <p:ph type="sldNum" idx="12"/>
          </p:nvPr>
        </p:nvSpPr>
        <p:spPr>
          <a:xfrm>
            <a:off x="8610600" y="6356352"/>
            <a:ext cx="2958008" cy="365125"/>
          </a:xfrm>
          <a:prstGeom prst="rect">
            <a:avLst/>
          </a:prstGeom>
          <a:noFill/>
          <a:ln>
            <a:noFill/>
          </a:ln>
        </p:spPr>
        <p:txBody>
          <a:bodyPr spcFirstLastPara="1" wrap="square" lIns="91425" tIns="45700" rIns="91425" bIns="45700" anchor="ctr" anchorCtr="0">
            <a:noAutofit/>
          </a:bodyPr>
          <a:lstStyle>
            <a:lvl1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solidFill>
                  <a:srgbClr val="C00000"/>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725C68B6-61C2-468F-89AB-4B9F7531AA68}" type="slidenum">
              <a:rPr lang="ru-RU" smtClean="0">
                <a:latin typeface="Arial"/>
                <a:cs typeface="Arial"/>
                <a:sym typeface="Arial"/>
              </a:rPr>
              <a:pPr/>
              <a:t>‹#›</a:t>
            </a:fld>
            <a:r>
              <a:rPr lang="ru-RU" dirty="0" smtClean="0">
                <a:latin typeface="Arial"/>
                <a:cs typeface="Arial"/>
                <a:sym typeface="Arial"/>
              </a:rPr>
              <a:t> / 54</a:t>
            </a: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Заголовок и объект" type="obj">
  <p:cSld name="OBJECT">
    <p:spTree>
      <p:nvGrpSpPr>
        <p:cNvPr id="1" name="Shape 17"/>
        <p:cNvGrpSpPr/>
        <p:nvPr/>
      </p:nvGrpSpPr>
      <p:grpSpPr>
        <a:xfrm>
          <a:off x="0" y="0"/>
          <a:ext cx="0" cy="0"/>
          <a:chOff x="0" y="0"/>
          <a:chExt cx="0" cy="0"/>
        </a:xfrm>
      </p:grpSpPr>
      <p:sp>
        <p:nvSpPr>
          <p:cNvPr id="18" name="Google Shape;18;p58"/>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5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58"/>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58"/>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58"/>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solidFill>
                  <a:srgbClr val="FF0000"/>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725C68B6-61C2-468F-89AB-4B9F7531AA68}" type="slidenum">
              <a:rPr lang="ru-RU" smtClean="0">
                <a:latin typeface="Arial"/>
                <a:cs typeface="Arial"/>
                <a:sym typeface="Arial"/>
              </a:rPr>
              <a:pPr/>
              <a:t>‹#›</a:t>
            </a:fld>
            <a:r>
              <a:rPr lang="ru-RU" dirty="0" smtClean="0">
                <a:latin typeface="Arial"/>
                <a:cs typeface="Arial"/>
                <a:sym typeface="Arial"/>
              </a:rPr>
              <a:t> / 54</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Заголовок раздела" type="secHead">
  <p:cSld name="SECTION_HEADER">
    <p:spTree>
      <p:nvGrpSpPr>
        <p:cNvPr id="1" name="Shape 23"/>
        <p:cNvGrpSpPr/>
        <p:nvPr/>
      </p:nvGrpSpPr>
      <p:grpSpPr>
        <a:xfrm>
          <a:off x="0" y="0"/>
          <a:ext cx="0" cy="0"/>
          <a:chOff x="0" y="0"/>
          <a:chExt cx="0" cy="0"/>
        </a:xfrm>
      </p:grpSpPr>
      <p:sp>
        <p:nvSpPr>
          <p:cNvPr id="24" name="Google Shape;24;p59"/>
          <p:cNvSpPr txBox="1">
            <a:spLocks noGrp="1"/>
          </p:cNvSpPr>
          <p:nvPr>
            <p:ph type="title"/>
          </p:nvPr>
        </p:nvSpPr>
        <p:spPr>
          <a:xfrm>
            <a:off x="831851" y="1709740"/>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9"/>
          <p:cNvSpPr txBox="1">
            <a:spLocks noGrp="1"/>
          </p:cNvSpPr>
          <p:nvPr>
            <p:ph type="body" idx="1"/>
          </p:nvPr>
        </p:nvSpPr>
        <p:spPr>
          <a:xfrm>
            <a:off x="831851" y="4589465"/>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59"/>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9"/>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9"/>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725C68B6-61C2-468F-89AB-4B9F7531AA68}" type="slidenum">
              <a:rPr lang="ru-RU" smtClean="0">
                <a:latin typeface="Arial"/>
                <a:cs typeface="Arial"/>
                <a:sym typeface="Arial"/>
              </a:rPr>
              <a:pPr/>
              <a:t>‹#›</a:t>
            </a:fld>
            <a:r>
              <a:rPr lang="ru-RU" dirty="0" smtClean="0">
                <a:latin typeface="Arial"/>
                <a:cs typeface="Arial"/>
                <a:sym typeface="Arial"/>
              </a:rPr>
              <a:t> / 54</a:t>
            </a: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Два объекта" type="twoObj">
  <p:cSld name="TWO_OBJECTS">
    <p:spTree>
      <p:nvGrpSpPr>
        <p:cNvPr id="1" name="Shape 29"/>
        <p:cNvGrpSpPr/>
        <p:nvPr/>
      </p:nvGrpSpPr>
      <p:grpSpPr>
        <a:xfrm>
          <a:off x="0" y="0"/>
          <a:ext cx="0" cy="0"/>
          <a:chOff x="0" y="0"/>
          <a:chExt cx="0" cy="0"/>
        </a:xfrm>
      </p:grpSpPr>
      <p:sp>
        <p:nvSpPr>
          <p:cNvPr id="30" name="Google Shape;30;p60"/>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6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60"/>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0"/>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0"/>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Сравнение" type="twoTxTwoObj">
  <p:cSld name="TWO_OBJECTS_WITH_TEXT">
    <p:spTree>
      <p:nvGrpSpPr>
        <p:cNvPr id="1" name="Shape 36"/>
        <p:cNvGrpSpPr/>
        <p:nvPr/>
      </p:nvGrpSpPr>
      <p:grpSpPr>
        <a:xfrm>
          <a:off x="0" y="0"/>
          <a:ext cx="0" cy="0"/>
          <a:chOff x="0" y="0"/>
          <a:chExt cx="0" cy="0"/>
        </a:xfrm>
      </p:grpSpPr>
      <p:sp>
        <p:nvSpPr>
          <p:cNvPr id="37" name="Google Shape;37;p61"/>
          <p:cNvSpPr txBox="1">
            <a:spLocks noGrp="1"/>
          </p:cNvSpPr>
          <p:nvPr>
            <p:ph type="title"/>
          </p:nvPr>
        </p:nvSpPr>
        <p:spPr>
          <a:xfrm>
            <a:off x="839788"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1"/>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61"/>
          <p:cNvSpPr txBox="1">
            <a:spLocks noGrp="1"/>
          </p:cNvSpPr>
          <p:nvPr>
            <p:ph type="body" idx="2"/>
          </p:nvPr>
        </p:nvSpPr>
        <p:spPr>
          <a:xfrm>
            <a:off x="839789"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1"/>
          <p:cNvSpPr txBox="1">
            <a:spLocks noGrp="1"/>
          </p:cNvSpPr>
          <p:nvPr>
            <p:ph type="body" idx="3"/>
          </p:nvPr>
        </p:nvSpPr>
        <p:spPr>
          <a:xfrm>
            <a:off x="6172201"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61"/>
          <p:cNvSpPr txBox="1">
            <a:spLocks noGrp="1"/>
          </p:cNvSpPr>
          <p:nvPr>
            <p:ph type="body" idx="4"/>
          </p:nvPr>
        </p:nvSpPr>
        <p:spPr>
          <a:xfrm>
            <a:off x="6172201"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1"/>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1"/>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1"/>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Только заголовок" type="titleOnly">
  <p:cSld name="TITLE_ONLY">
    <p:spTree>
      <p:nvGrpSpPr>
        <p:cNvPr id="1" name="Shape 45"/>
        <p:cNvGrpSpPr/>
        <p:nvPr/>
      </p:nvGrpSpPr>
      <p:grpSpPr>
        <a:xfrm>
          <a:off x="0" y="0"/>
          <a:ext cx="0" cy="0"/>
          <a:chOff x="0" y="0"/>
          <a:chExt cx="0" cy="0"/>
        </a:xfrm>
      </p:grpSpPr>
      <p:sp>
        <p:nvSpPr>
          <p:cNvPr id="46" name="Google Shape;46;p62"/>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62"/>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2"/>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2"/>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725C68B6-61C2-468F-89AB-4B9F7531AA68}" type="slidenum">
              <a:rPr lang="ru-RU" smtClean="0">
                <a:latin typeface="Arial"/>
                <a:cs typeface="Arial"/>
                <a:sym typeface="Arial"/>
              </a:rPr>
              <a:pPr/>
              <a:t>‹#›</a:t>
            </a:fld>
            <a:r>
              <a:rPr lang="ru-RU" dirty="0" smtClean="0">
                <a:latin typeface="Arial"/>
                <a:cs typeface="Arial"/>
                <a:sym typeface="Arial"/>
              </a:rPr>
              <a:t> / 54</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Пустой слайд" type="blank">
  <p:cSld name="BLANK">
    <p:spTree>
      <p:nvGrpSpPr>
        <p:cNvPr id="1" name="Shape 50"/>
        <p:cNvGrpSpPr/>
        <p:nvPr/>
      </p:nvGrpSpPr>
      <p:grpSpPr>
        <a:xfrm>
          <a:off x="0" y="0"/>
          <a:ext cx="0" cy="0"/>
          <a:chOff x="0" y="0"/>
          <a:chExt cx="0" cy="0"/>
        </a:xfrm>
      </p:grpSpPr>
      <p:sp>
        <p:nvSpPr>
          <p:cNvPr id="51" name="Google Shape;51;p63"/>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3"/>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3"/>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Объект с подписью" type="objTx">
  <p:cSld name="OBJECT_WITH_CAPTION_TEXT">
    <p:spTree>
      <p:nvGrpSpPr>
        <p:cNvPr id="1" name="Shape 54"/>
        <p:cNvGrpSpPr/>
        <p:nvPr/>
      </p:nvGrpSpPr>
      <p:grpSpPr>
        <a:xfrm>
          <a:off x="0" y="0"/>
          <a:ext cx="0" cy="0"/>
          <a:chOff x="0" y="0"/>
          <a:chExt cx="0" cy="0"/>
        </a:xfrm>
      </p:grpSpPr>
      <p:sp>
        <p:nvSpPr>
          <p:cNvPr id="55" name="Google Shape;55;p6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64"/>
          <p:cNvSpPr txBox="1">
            <a:spLocks noGrp="1"/>
          </p:cNvSpPr>
          <p:nvPr>
            <p:ph type="body" idx="1"/>
          </p:nvPr>
        </p:nvSpPr>
        <p:spPr>
          <a:xfrm>
            <a:off x="5183188" y="987427"/>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6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64"/>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64"/>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6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Рисунок с подписью" type="picTx">
  <p:cSld name="PICTURE_WITH_CAPTION_TEXT">
    <p:spTree>
      <p:nvGrpSpPr>
        <p:cNvPr id="1" name="Shape 61"/>
        <p:cNvGrpSpPr/>
        <p:nvPr/>
      </p:nvGrpSpPr>
      <p:grpSpPr>
        <a:xfrm>
          <a:off x="0" y="0"/>
          <a:ext cx="0" cy="0"/>
          <a:chOff x="0" y="0"/>
          <a:chExt cx="0" cy="0"/>
        </a:xfrm>
      </p:grpSpPr>
      <p:sp>
        <p:nvSpPr>
          <p:cNvPr id="62" name="Google Shape;62;p6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65"/>
          <p:cNvSpPr>
            <a:spLocks noGrp="1"/>
          </p:cNvSpPr>
          <p:nvPr>
            <p:ph type="pic" idx="2"/>
          </p:nvPr>
        </p:nvSpPr>
        <p:spPr>
          <a:xfrm>
            <a:off x="5183188" y="987427"/>
            <a:ext cx="6172200" cy="4873625"/>
          </a:xfrm>
          <a:prstGeom prst="rect">
            <a:avLst/>
          </a:prstGeom>
          <a:noFill/>
          <a:ln>
            <a:noFill/>
          </a:ln>
        </p:spPr>
      </p:sp>
      <p:sp>
        <p:nvSpPr>
          <p:cNvPr id="64" name="Google Shape;64;p6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65"/>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65"/>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65"/>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Заголовок и вертикальный текст" type="vertTx">
  <p:cSld name="VERTICAL_TEXT">
    <p:spTree>
      <p:nvGrpSpPr>
        <p:cNvPr id="1" name="Shape 68"/>
        <p:cNvGrpSpPr/>
        <p:nvPr/>
      </p:nvGrpSpPr>
      <p:grpSpPr>
        <a:xfrm>
          <a:off x="0" y="0"/>
          <a:ext cx="0" cy="0"/>
          <a:chOff x="0" y="0"/>
          <a:chExt cx="0" cy="0"/>
        </a:xfrm>
      </p:grpSpPr>
      <p:sp>
        <p:nvSpPr>
          <p:cNvPr id="69" name="Google Shape;69;p6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6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66"/>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66"/>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6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Вертикальный заголовок и текст" type="vertTitleAndTx">
  <p:cSld name="VERTICAL_TITLE_AND_VERTICAL_TEXT">
    <p:spTree>
      <p:nvGrpSpPr>
        <p:cNvPr id="1" name="Shape 74"/>
        <p:cNvGrpSpPr/>
        <p:nvPr/>
      </p:nvGrpSpPr>
      <p:grpSpPr>
        <a:xfrm>
          <a:off x="0" y="0"/>
          <a:ext cx="0" cy="0"/>
          <a:chOff x="0" y="0"/>
          <a:chExt cx="0" cy="0"/>
        </a:xfrm>
      </p:grpSpPr>
      <p:sp>
        <p:nvSpPr>
          <p:cNvPr id="75" name="Google Shape;75;p67"/>
          <p:cNvSpPr txBox="1">
            <a:spLocks noGrp="1"/>
          </p:cNvSpPr>
          <p:nvPr>
            <p:ph type="title"/>
          </p:nvPr>
        </p:nvSpPr>
        <p:spPr>
          <a:xfrm rot="5400000">
            <a:off x="7133432" y="1956595"/>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67"/>
          <p:cNvSpPr txBox="1">
            <a:spLocks noGrp="1"/>
          </p:cNvSpPr>
          <p:nvPr>
            <p:ph type="body" idx="1"/>
          </p:nvPr>
        </p:nvSpPr>
        <p:spPr>
          <a:xfrm rot="5400000">
            <a:off x="1799432" y="-596105"/>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67"/>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67"/>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6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914400" y="2130426"/>
            <a:ext cx="103632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828800" y="3886200"/>
            <a:ext cx="8534400" cy="1752600"/>
          </a:xfrm>
        </p:spPr>
        <p:txBody>
          <a:bodyPr/>
          <a:lstStyle>
            <a:lvl1pPr marL="0" indent="0" algn="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lvl1pPr>
              <a:defRPr>
                <a:solidFill>
                  <a:srgbClr val="C00000"/>
                </a:solidFill>
              </a:defRPr>
            </a:lvl1pPr>
          </a:lstStyle>
          <a:p>
            <a:fld id="{725C68B6-61C2-468F-89AB-4B9F7531AA68}" type="slidenum">
              <a:rPr lang="ru-RU" smtClean="0"/>
              <a:pPr/>
              <a:t>‹#›</a:t>
            </a:fld>
            <a:r>
              <a:rPr lang="en-US" dirty="0" smtClean="0"/>
              <a:t> / 21</a:t>
            </a:r>
            <a:endParaRPr lang="ru-RU" dirty="0"/>
          </a:p>
        </p:txBody>
      </p:sp>
    </p:spTree>
    <p:extLst>
      <p:ext uri="{BB962C8B-B14F-4D97-AF65-F5344CB8AC3E}">
        <p14:creationId xmlns:p14="http://schemas.microsoft.com/office/powerpoint/2010/main" val="264622097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74639"/>
            <a:ext cx="10972800" cy="566283"/>
          </a:xfrm>
        </p:spPr>
        <p:txBody>
          <a:bodyPr/>
          <a:lstStyle>
            <a:lvl1pPr algn="ctr">
              <a:defRPr sz="3200" u="none"/>
            </a:lvl1pPr>
          </a:lstStyle>
          <a:p>
            <a:r>
              <a:rPr lang="ru-RU" dirty="0" smtClean="0"/>
              <a:t>Образец заголовка</a:t>
            </a:r>
            <a:endParaRPr lang="ru-RU" dirty="0"/>
          </a:p>
        </p:txBody>
      </p:sp>
      <p:sp>
        <p:nvSpPr>
          <p:cNvPr id="3" name="Содержимое 2"/>
          <p:cNvSpPr>
            <a:spLocks noGrp="1"/>
          </p:cNvSpPr>
          <p:nvPr>
            <p:ph idx="1"/>
          </p:nvPr>
        </p:nvSpPr>
        <p:spPr/>
        <p:txBody>
          <a:bodyPr/>
          <a:lstStyle/>
          <a:p>
            <a:pPr lvl="0"/>
            <a:r>
              <a:rPr lang="ru-RU" dirty="0" smtClean="0"/>
              <a:t>Образец текста</a:t>
            </a:r>
          </a:p>
          <a:p>
            <a:pPr lvl="1"/>
            <a:r>
              <a:rPr lang="ru-RU" dirty="0" smtClean="0"/>
              <a:t>Второй уровень</a:t>
            </a:r>
          </a:p>
          <a:p>
            <a:pPr lvl="2"/>
            <a:r>
              <a:rPr lang="ru-RU" dirty="0" smtClean="0"/>
              <a:t>Третий уровень</a:t>
            </a:r>
          </a:p>
          <a:p>
            <a:pPr lvl="3"/>
            <a:r>
              <a:rPr lang="ru-RU" dirty="0" smtClean="0"/>
              <a:t>Четвертый уровень</a:t>
            </a:r>
          </a:p>
          <a:p>
            <a:pPr lvl="4"/>
            <a:r>
              <a:rPr lang="ru-RU" dirty="0" smtClean="0"/>
              <a:t>Пятый уровень</a:t>
            </a:r>
            <a:endParaRPr lang="ru-RU" dirty="0"/>
          </a:p>
        </p:txBody>
      </p:sp>
      <p:sp>
        <p:nvSpPr>
          <p:cNvPr id="4" name="Дата 3"/>
          <p:cNvSpPr>
            <a:spLocks noGrp="1"/>
          </p:cNvSpPr>
          <p:nvPr>
            <p:ph type="dt" sz="half" idx="10"/>
          </p:nvPr>
        </p:nvSpPr>
        <p:spPr/>
        <p:txBody>
          <a:bodyPr/>
          <a:lstStyle/>
          <a:p>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a:xfrm>
            <a:off x="8737600" y="6356351"/>
            <a:ext cx="2614984" cy="365125"/>
          </a:xfrm>
        </p:spPr>
        <p:txBody>
          <a:bodyPr/>
          <a:lstStyle>
            <a:lvl1pPr>
              <a:defRPr>
                <a:solidFill>
                  <a:srgbClr val="FF0000"/>
                </a:solidFill>
              </a:defRPr>
            </a:lvl1pPr>
          </a:lstStyle>
          <a:p>
            <a:fld id="{725C68B6-61C2-468F-89AB-4B9F7531AA68}" type="slidenum">
              <a:rPr lang="ru-RU" smtClean="0"/>
              <a:pPr/>
              <a:t>‹#›</a:t>
            </a:fld>
            <a:r>
              <a:rPr lang="en-US" dirty="0" smtClean="0"/>
              <a:t> / </a:t>
            </a:r>
            <a:r>
              <a:rPr lang="ru-RU" dirty="0" smtClean="0"/>
              <a:t>54</a:t>
            </a:r>
            <a:endParaRPr lang="ru-RU" dirty="0"/>
          </a:p>
        </p:txBody>
      </p:sp>
    </p:spTree>
    <p:extLst>
      <p:ext uri="{BB962C8B-B14F-4D97-AF65-F5344CB8AC3E}">
        <p14:creationId xmlns:p14="http://schemas.microsoft.com/office/powerpoint/2010/main" val="1520262124"/>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63084" y="4406901"/>
            <a:ext cx="103632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p>
            <a:fld id="{725C68B6-61C2-468F-89AB-4B9F7531AA68}"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1015303505"/>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endParaRPr lang="ru-RU">
              <a:solidFill>
                <a:prstClr val="black">
                  <a:tint val="75000"/>
                </a:prstClr>
              </a:solidFill>
            </a:endParaRPr>
          </a:p>
        </p:txBody>
      </p:sp>
      <p:sp>
        <p:nvSpPr>
          <p:cNvPr id="6" name="Нижний колонтитул 5"/>
          <p:cNvSpPr>
            <a:spLocks noGrp="1"/>
          </p:cNvSpPr>
          <p:nvPr>
            <p:ph type="ftr" sz="quarter" idx="11"/>
          </p:nvPr>
        </p:nvSpPr>
        <p:spPr/>
        <p:txBody>
          <a:bodyPr/>
          <a:lstStyle/>
          <a:p>
            <a:endParaRPr lang="ru-RU">
              <a:solidFill>
                <a:prstClr val="black">
                  <a:tint val="75000"/>
                </a:prstClr>
              </a:solidFill>
            </a:endParaRPr>
          </a:p>
        </p:txBody>
      </p:sp>
      <p:sp>
        <p:nvSpPr>
          <p:cNvPr id="7" name="Номер слайда 6"/>
          <p:cNvSpPr>
            <a:spLocks noGrp="1"/>
          </p:cNvSpPr>
          <p:nvPr>
            <p:ph type="sldNum" sz="quarter" idx="12"/>
          </p:nvPr>
        </p:nvSpPr>
        <p:spPr/>
        <p:txBody>
          <a:bodyPr/>
          <a:lstStyle/>
          <a:p>
            <a:fld id="{725C68B6-61C2-468F-89AB-4B9F7531AA68}"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36690102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endParaRPr lang="ru-RU">
              <a:solidFill>
                <a:prstClr val="black">
                  <a:tint val="75000"/>
                </a:prstClr>
              </a:solidFill>
            </a:endParaRPr>
          </a:p>
        </p:txBody>
      </p:sp>
      <p:sp>
        <p:nvSpPr>
          <p:cNvPr id="8" name="Нижний колонтитул 7"/>
          <p:cNvSpPr>
            <a:spLocks noGrp="1"/>
          </p:cNvSpPr>
          <p:nvPr>
            <p:ph type="ftr" sz="quarter" idx="11"/>
          </p:nvPr>
        </p:nvSpPr>
        <p:spPr/>
        <p:txBody>
          <a:bodyPr/>
          <a:lstStyle/>
          <a:p>
            <a:endParaRPr lang="ru-RU">
              <a:solidFill>
                <a:prstClr val="black">
                  <a:tint val="75000"/>
                </a:prstClr>
              </a:solidFill>
            </a:endParaRPr>
          </a:p>
        </p:txBody>
      </p:sp>
      <p:sp>
        <p:nvSpPr>
          <p:cNvPr id="9" name="Номер слайда 8"/>
          <p:cNvSpPr>
            <a:spLocks noGrp="1"/>
          </p:cNvSpPr>
          <p:nvPr>
            <p:ph type="sldNum" sz="quarter" idx="12"/>
          </p:nvPr>
        </p:nvSpPr>
        <p:spPr/>
        <p:txBody>
          <a:bodyPr/>
          <a:lstStyle/>
          <a:p>
            <a:fld id="{725C68B6-61C2-468F-89AB-4B9F7531AA68}"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2643976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endParaRPr lang="ru-RU">
              <a:solidFill>
                <a:prstClr val="black">
                  <a:tint val="75000"/>
                </a:prstClr>
              </a:solidFill>
            </a:endParaRPr>
          </a:p>
        </p:txBody>
      </p:sp>
      <p:sp>
        <p:nvSpPr>
          <p:cNvPr id="4" name="Нижний колонтитул 3"/>
          <p:cNvSpPr>
            <a:spLocks noGrp="1"/>
          </p:cNvSpPr>
          <p:nvPr>
            <p:ph type="ftr" sz="quarter" idx="11"/>
          </p:nvPr>
        </p:nvSpPr>
        <p:spPr/>
        <p:txBody>
          <a:bodyPr/>
          <a:lstStyle/>
          <a:p>
            <a:endParaRPr lang="ru-RU">
              <a:solidFill>
                <a:prstClr val="black">
                  <a:tint val="75000"/>
                </a:prstClr>
              </a:solidFill>
            </a:endParaRPr>
          </a:p>
        </p:txBody>
      </p:sp>
      <p:sp>
        <p:nvSpPr>
          <p:cNvPr id="5" name="Номер слайда 4"/>
          <p:cNvSpPr>
            <a:spLocks noGrp="1"/>
          </p:cNvSpPr>
          <p:nvPr>
            <p:ph type="sldNum" sz="quarter" idx="12"/>
          </p:nvPr>
        </p:nvSpPr>
        <p:spPr/>
        <p:txBody>
          <a:bodyPr/>
          <a:lstStyle/>
          <a:p>
            <a:fld id="{725C68B6-61C2-468F-89AB-4B9F7531AA68}"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37073819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endParaRPr lang="ru-RU">
              <a:solidFill>
                <a:prstClr val="black">
                  <a:tint val="75000"/>
                </a:prstClr>
              </a:solidFill>
            </a:endParaRPr>
          </a:p>
        </p:txBody>
      </p:sp>
      <p:sp>
        <p:nvSpPr>
          <p:cNvPr id="3" name="Нижний колонтитул 2"/>
          <p:cNvSpPr>
            <a:spLocks noGrp="1"/>
          </p:cNvSpPr>
          <p:nvPr>
            <p:ph type="ftr" sz="quarter" idx="11"/>
          </p:nvPr>
        </p:nvSpPr>
        <p:spPr/>
        <p:txBody>
          <a:bodyPr/>
          <a:lstStyle/>
          <a:p>
            <a:endParaRPr lang="ru-RU">
              <a:solidFill>
                <a:prstClr val="black">
                  <a:tint val="75000"/>
                </a:prstClr>
              </a:solidFill>
            </a:endParaRPr>
          </a:p>
        </p:txBody>
      </p:sp>
      <p:sp>
        <p:nvSpPr>
          <p:cNvPr id="4" name="Номер слайда 3"/>
          <p:cNvSpPr>
            <a:spLocks noGrp="1"/>
          </p:cNvSpPr>
          <p:nvPr>
            <p:ph type="sldNum" sz="quarter" idx="12"/>
          </p:nvPr>
        </p:nvSpPr>
        <p:spPr/>
        <p:txBody>
          <a:bodyPr/>
          <a:lstStyle/>
          <a:p>
            <a:fld id="{725C68B6-61C2-468F-89AB-4B9F7531AA68}"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30460099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1" y="273050"/>
            <a:ext cx="4011084"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endParaRPr lang="ru-RU">
              <a:solidFill>
                <a:prstClr val="black">
                  <a:tint val="75000"/>
                </a:prstClr>
              </a:solidFill>
            </a:endParaRPr>
          </a:p>
        </p:txBody>
      </p:sp>
      <p:sp>
        <p:nvSpPr>
          <p:cNvPr id="6" name="Нижний колонтитул 5"/>
          <p:cNvSpPr>
            <a:spLocks noGrp="1"/>
          </p:cNvSpPr>
          <p:nvPr>
            <p:ph type="ftr" sz="quarter" idx="11"/>
          </p:nvPr>
        </p:nvSpPr>
        <p:spPr/>
        <p:txBody>
          <a:bodyPr/>
          <a:lstStyle/>
          <a:p>
            <a:endParaRPr lang="ru-RU">
              <a:solidFill>
                <a:prstClr val="black">
                  <a:tint val="75000"/>
                </a:prstClr>
              </a:solidFill>
            </a:endParaRPr>
          </a:p>
        </p:txBody>
      </p:sp>
      <p:sp>
        <p:nvSpPr>
          <p:cNvPr id="7" name="Номер слайда 6"/>
          <p:cNvSpPr>
            <a:spLocks noGrp="1"/>
          </p:cNvSpPr>
          <p:nvPr>
            <p:ph type="sldNum" sz="quarter" idx="12"/>
          </p:nvPr>
        </p:nvSpPr>
        <p:spPr/>
        <p:txBody>
          <a:bodyPr/>
          <a:lstStyle/>
          <a:p>
            <a:fld id="{725C68B6-61C2-468F-89AB-4B9F7531AA68}"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42899783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389717" y="4800600"/>
            <a:ext cx="73152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endParaRPr lang="ru-RU">
              <a:solidFill>
                <a:prstClr val="black">
                  <a:tint val="75000"/>
                </a:prstClr>
              </a:solidFill>
            </a:endParaRPr>
          </a:p>
        </p:txBody>
      </p:sp>
      <p:sp>
        <p:nvSpPr>
          <p:cNvPr id="6" name="Нижний колонтитул 5"/>
          <p:cNvSpPr>
            <a:spLocks noGrp="1"/>
          </p:cNvSpPr>
          <p:nvPr>
            <p:ph type="ftr" sz="quarter" idx="11"/>
          </p:nvPr>
        </p:nvSpPr>
        <p:spPr/>
        <p:txBody>
          <a:bodyPr/>
          <a:lstStyle/>
          <a:p>
            <a:endParaRPr lang="ru-RU">
              <a:solidFill>
                <a:prstClr val="black">
                  <a:tint val="75000"/>
                </a:prstClr>
              </a:solidFill>
            </a:endParaRPr>
          </a:p>
        </p:txBody>
      </p:sp>
      <p:sp>
        <p:nvSpPr>
          <p:cNvPr id="7" name="Номер слайда 6"/>
          <p:cNvSpPr>
            <a:spLocks noGrp="1"/>
          </p:cNvSpPr>
          <p:nvPr>
            <p:ph type="sldNum" sz="quarter" idx="12"/>
          </p:nvPr>
        </p:nvSpPr>
        <p:spPr/>
        <p:txBody>
          <a:bodyPr/>
          <a:lstStyle/>
          <a:p>
            <a:fld id="{725C68B6-61C2-468F-89AB-4B9F7531AA68}"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13618701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p>
            <a:fld id="{725C68B6-61C2-468F-89AB-4B9F7531AA68}"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29145181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839200" y="274639"/>
            <a:ext cx="27432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609600" y="274639"/>
            <a:ext cx="80264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p>
            <a:fld id="{725C68B6-61C2-468F-89AB-4B9F7531AA68}"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1965978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5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5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56"/>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56"/>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5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buClrTx/>
              <a:buFontTx/>
              <a:buNone/>
            </a:pPr>
            <a:endParaRPr lang="ru-RU" kern="1200">
              <a:solidFill>
                <a:prstClr val="black">
                  <a:tint val="75000"/>
                </a:prstClr>
              </a:solidFill>
              <a:latin typeface="Calibri"/>
              <a:ea typeface="+mn-ea"/>
              <a:cs typeface="+mn-cs"/>
            </a:endParaRPr>
          </a:p>
        </p:txBody>
      </p:sp>
      <p:sp>
        <p:nvSpPr>
          <p:cNvPr id="5" name="Нижний колонтитул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buClrTx/>
              <a:buFontTx/>
              <a:buNone/>
            </a:pPr>
            <a:endParaRPr lang="ru-RU" kern="1200">
              <a:solidFill>
                <a:prstClr val="black">
                  <a:tint val="75000"/>
                </a:prstClr>
              </a:solidFill>
              <a:latin typeface="Calibri"/>
              <a:ea typeface="+mn-ea"/>
              <a:cs typeface="+mn-cs"/>
            </a:endParaRPr>
          </a:p>
        </p:txBody>
      </p:sp>
      <p:sp>
        <p:nvSpPr>
          <p:cNvPr id="6" name="Номер слайда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buClrTx/>
              <a:buFontTx/>
              <a:buNone/>
            </a:pPr>
            <a:fld id="{725C68B6-61C2-468F-89AB-4B9F7531AA68}" type="slidenum">
              <a:rPr lang="ru-RU" kern="1200" smtClean="0">
                <a:solidFill>
                  <a:prstClr val="black">
                    <a:tint val="75000"/>
                  </a:prstClr>
                </a:solidFill>
                <a:latin typeface="Calibri"/>
                <a:ea typeface="+mn-ea"/>
                <a:cs typeface="+mn-cs"/>
              </a:rPr>
              <a:pPr>
                <a:buClrTx/>
                <a:buFontTx/>
                <a:buNone/>
              </a:pPr>
              <a:t>‹#›</a:t>
            </a:fld>
            <a:endParaRPr lang="ru-RU"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2862587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kernel.org/" TargetMode="External"/><Relationship Id="rId7" Type="http://schemas.openxmlformats.org/officeDocument/2006/relationships/hyperlink" Target="https://upload.wikimedia.org/wikipedia/commons/1/1b/Linux_Distribution_Timeline.sv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linuxfromscratch.org/" TargetMode="External"/><Relationship Id="rId5" Type="http://schemas.openxmlformats.org/officeDocument/2006/relationships/hyperlink" Target="https://www.linux.org/pages/download/" TargetMode="External"/><Relationship Id="rId4" Type="http://schemas.openxmlformats.org/officeDocument/2006/relationships/hyperlink" Target="https://www.gnu.or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refspecs.linuxfoundation.org/FHS_3.0/fhs/index.htm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s://whimsical.com/fhs-L6iL5t8kBtCFzAQywZyP4X"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ru-RU" dirty="0" err="1" smtClean="0"/>
              <a:t>Элтекс</a:t>
            </a:r>
            <a:endParaRPr dirty="0"/>
          </a:p>
        </p:txBody>
      </p:sp>
      <p:sp>
        <p:nvSpPr>
          <p:cNvPr id="85" name="Google Shape;85;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ru-RU" dirty="0"/>
              <a:t>Модуль 1 </a:t>
            </a:r>
            <a:endParaRPr lang="ru-RU" dirty="0" smtClean="0"/>
          </a:p>
          <a:p>
            <a:pPr marL="0" lvl="0" indent="0" algn="ctr" rtl="0">
              <a:lnSpc>
                <a:spcPct val="90000"/>
              </a:lnSpc>
              <a:spcBef>
                <a:spcPts val="0"/>
              </a:spcBef>
              <a:spcAft>
                <a:spcPts val="0"/>
              </a:spcAft>
              <a:buClr>
                <a:schemeClr val="dk1"/>
              </a:buClr>
              <a:buSzPts val="2400"/>
              <a:buNone/>
            </a:pPr>
            <a:r>
              <a:rPr lang="ru-RU" dirty="0" smtClean="0"/>
              <a:t>Лекция </a:t>
            </a:r>
            <a:r>
              <a:rPr lang="ru-RU" dirty="0"/>
              <a:t>1</a:t>
            </a: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365127"/>
            <a:ext cx="10515600" cy="7596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ru-RU" b="1" dirty="0" err="1">
                <a:latin typeface="Arial"/>
                <a:ea typeface="Arial"/>
                <a:cs typeface="Arial"/>
                <a:sym typeface="Arial"/>
              </a:rPr>
              <a:t>Linux</a:t>
            </a:r>
            <a:endParaRPr b="1" dirty="0"/>
          </a:p>
        </p:txBody>
      </p:sp>
      <p:sp>
        <p:nvSpPr>
          <p:cNvPr id="91" name="Google Shape;91;p2"/>
          <p:cNvSpPr txBox="1">
            <a:spLocks noGrp="1"/>
          </p:cNvSpPr>
          <p:nvPr>
            <p:ph type="body" idx="1"/>
          </p:nvPr>
        </p:nvSpPr>
        <p:spPr>
          <a:xfrm>
            <a:off x="839416" y="1268760"/>
            <a:ext cx="10515600" cy="504056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90000"/>
              </a:lnSpc>
              <a:spcBef>
                <a:spcPts val="0"/>
              </a:spcBef>
              <a:spcAft>
                <a:spcPts val="0"/>
              </a:spcAft>
              <a:buClr>
                <a:schemeClr val="dk1"/>
              </a:buClr>
              <a:buSzPts val="2800"/>
              <a:buNone/>
            </a:pPr>
            <a:r>
              <a:rPr lang="ru-RU" sz="2400" b="0" dirty="0" smtClean="0">
                <a:latin typeface="Arial"/>
                <a:ea typeface="Arial"/>
                <a:cs typeface="Arial"/>
                <a:sym typeface="Arial"/>
              </a:rPr>
              <a:t>Семейство </a:t>
            </a:r>
            <a:r>
              <a:rPr lang="ru-RU" sz="2400" b="0" dirty="0">
                <a:latin typeface="Arial"/>
                <a:ea typeface="Arial"/>
                <a:cs typeface="Arial"/>
                <a:sym typeface="Arial"/>
              </a:rPr>
              <a:t>операционных систем </a:t>
            </a:r>
            <a:r>
              <a:rPr lang="ru-RU" sz="2400" dirty="0" smtClean="0">
                <a:latin typeface="Arial"/>
                <a:ea typeface="Arial"/>
                <a:cs typeface="Arial"/>
                <a:sym typeface="Arial"/>
              </a:rPr>
              <a:t>семейства </a:t>
            </a:r>
            <a:r>
              <a:rPr lang="ru-RU" sz="2400" b="0" dirty="0" err="1" smtClean="0">
                <a:latin typeface="Arial"/>
                <a:ea typeface="Arial"/>
                <a:cs typeface="Arial"/>
                <a:sym typeface="Arial"/>
              </a:rPr>
              <a:t>Unix</a:t>
            </a:r>
            <a:r>
              <a:rPr lang="ru-RU" sz="2400" b="0" dirty="0" smtClean="0">
                <a:latin typeface="Arial"/>
                <a:ea typeface="Arial"/>
                <a:cs typeface="Arial"/>
                <a:sym typeface="Arial"/>
              </a:rPr>
              <a:t> </a:t>
            </a:r>
            <a:r>
              <a:rPr lang="ru-RU" sz="2400" b="0" dirty="0">
                <a:latin typeface="Arial"/>
                <a:ea typeface="Arial"/>
                <a:cs typeface="Arial"/>
                <a:sym typeface="Arial"/>
              </a:rPr>
              <a:t>с открытым исходным кодом, основанных на ядре </a:t>
            </a:r>
            <a:r>
              <a:rPr lang="ru-RU" sz="2400" b="0" dirty="0" err="1" smtClean="0">
                <a:latin typeface="Arial"/>
                <a:ea typeface="Arial"/>
                <a:cs typeface="Arial"/>
                <a:sym typeface="Arial"/>
              </a:rPr>
              <a:t>Linux</a:t>
            </a:r>
            <a:r>
              <a:rPr lang="ru-RU" sz="2400" b="0" dirty="0" smtClean="0">
                <a:latin typeface="Arial"/>
                <a:ea typeface="Arial"/>
                <a:cs typeface="Arial"/>
                <a:sym typeface="Arial"/>
              </a:rPr>
              <a:t> </a:t>
            </a:r>
          </a:p>
          <a:p>
            <a:pPr marL="0" indent="0">
              <a:spcBef>
                <a:spcPts val="0"/>
              </a:spcBef>
              <a:buSzPts val="2800"/>
              <a:buNone/>
            </a:pPr>
            <a:r>
              <a:rPr lang="ru-RU" sz="2400" dirty="0">
                <a:latin typeface="Arial"/>
                <a:ea typeface="Arial"/>
                <a:cs typeface="Arial"/>
                <a:sym typeface="Arial"/>
              </a:rPr>
              <a:t>	</a:t>
            </a:r>
            <a:r>
              <a:rPr lang="ru-RU" sz="2400" dirty="0" smtClean="0">
                <a:latin typeface="Arial"/>
                <a:ea typeface="Arial"/>
                <a:cs typeface="Arial"/>
                <a:sym typeface="Arial"/>
              </a:rPr>
              <a:t>- начало разработки 1991 </a:t>
            </a:r>
            <a:r>
              <a:rPr lang="ru-RU" sz="2400" dirty="0" smtClean="0">
                <a:latin typeface="+mj-lt"/>
                <a:ea typeface="Arial"/>
                <a:cs typeface="Arial"/>
                <a:sym typeface="Arial"/>
              </a:rPr>
              <a:t>(</a:t>
            </a:r>
            <a:r>
              <a:rPr lang="ru-RU" sz="2400" dirty="0" err="1">
                <a:latin typeface="+mj-lt"/>
              </a:rPr>
              <a:t>Линус</a:t>
            </a:r>
            <a:r>
              <a:rPr lang="ru-RU" sz="2400" dirty="0">
                <a:latin typeface="+mj-lt"/>
              </a:rPr>
              <a:t> </a:t>
            </a:r>
            <a:r>
              <a:rPr lang="ru-RU" sz="2400" dirty="0" err="1" smtClean="0">
                <a:latin typeface="+mj-lt"/>
              </a:rPr>
              <a:t>Торвальдс</a:t>
            </a:r>
            <a:r>
              <a:rPr lang="ru-RU" sz="2400" dirty="0" smtClean="0">
                <a:latin typeface="+mj-lt"/>
              </a:rPr>
              <a:t>)</a:t>
            </a:r>
            <a:endParaRPr lang="ru-RU" sz="2400" dirty="0" smtClean="0">
              <a:latin typeface="+mj-lt"/>
              <a:ea typeface="Arial"/>
              <a:cs typeface="Arial"/>
              <a:sym typeface="Arial"/>
            </a:endParaRPr>
          </a:p>
          <a:p>
            <a:pPr marL="0" lvl="0" indent="0" algn="l" rtl="0">
              <a:lnSpc>
                <a:spcPct val="90000"/>
              </a:lnSpc>
              <a:spcBef>
                <a:spcPts val="0"/>
              </a:spcBef>
              <a:spcAft>
                <a:spcPts val="0"/>
              </a:spcAft>
              <a:buClr>
                <a:schemeClr val="dk1"/>
              </a:buClr>
              <a:buSzPts val="2800"/>
              <a:buNone/>
            </a:pPr>
            <a:r>
              <a:rPr lang="ru-RU" sz="2400" b="0" dirty="0">
                <a:latin typeface="Arial"/>
                <a:ea typeface="Arial"/>
                <a:cs typeface="Arial"/>
                <a:sym typeface="Arial"/>
              </a:rPr>
              <a:t>	</a:t>
            </a:r>
            <a:r>
              <a:rPr lang="ru-RU" sz="2400" b="0" dirty="0" smtClean="0">
                <a:latin typeface="Arial"/>
                <a:ea typeface="Arial"/>
                <a:cs typeface="Arial"/>
                <a:sym typeface="Arial"/>
              </a:rPr>
              <a:t>- релиз 1994</a:t>
            </a:r>
          </a:p>
          <a:p>
            <a:pPr marL="0" lvl="0" indent="0">
              <a:spcBef>
                <a:spcPts val="0"/>
              </a:spcBef>
              <a:buSzPts val="2800"/>
              <a:buNone/>
            </a:pPr>
            <a:endParaRPr lang="en-US" sz="2400" dirty="0" smtClean="0">
              <a:latin typeface="Arial"/>
              <a:ea typeface="Arial"/>
              <a:cs typeface="Arial"/>
              <a:sym typeface="Arial"/>
            </a:endParaRPr>
          </a:p>
          <a:p>
            <a:pPr marL="0" lvl="0" indent="0">
              <a:spcBef>
                <a:spcPts val="0"/>
              </a:spcBef>
              <a:buSzPts val="2800"/>
              <a:buNone/>
            </a:pPr>
            <a:r>
              <a:rPr lang="en-US" sz="2400" dirty="0" smtClean="0">
                <a:latin typeface="Arial"/>
                <a:ea typeface="Arial"/>
                <a:cs typeface="Arial"/>
                <a:sym typeface="Arial"/>
                <a:hlinkClick r:id="rId3"/>
              </a:rPr>
              <a:t>https</a:t>
            </a:r>
            <a:r>
              <a:rPr lang="en-US" sz="2400" dirty="0">
                <a:latin typeface="Arial"/>
                <a:ea typeface="Arial"/>
                <a:cs typeface="Arial"/>
                <a:sym typeface="Arial"/>
                <a:hlinkClick r:id="rId3"/>
              </a:rPr>
              <a:t>://www.kernel.org</a:t>
            </a:r>
            <a:r>
              <a:rPr lang="en-US" sz="2400" dirty="0" smtClean="0">
                <a:latin typeface="Arial"/>
                <a:ea typeface="Arial"/>
                <a:cs typeface="Arial"/>
                <a:sym typeface="Arial"/>
                <a:hlinkClick r:id="rId3"/>
              </a:rPr>
              <a:t>/</a:t>
            </a:r>
            <a:endParaRPr lang="en-US" sz="2400" dirty="0" smtClean="0">
              <a:latin typeface="Arial"/>
              <a:ea typeface="Arial"/>
              <a:cs typeface="Arial"/>
              <a:sym typeface="Arial"/>
            </a:endParaRPr>
          </a:p>
          <a:p>
            <a:pPr marL="0" lvl="0" indent="0">
              <a:spcBef>
                <a:spcPts val="0"/>
              </a:spcBef>
              <a:buSzPts val="2800"/>
              <a:buNone/>
            </a:pPr>
            <a:endParaRPr lang="en-US" sz="2400" dirty="0" smtClean="0">
              <a:latin typeface="Arial"/>
              <a:ea typeface="Arial"/>
              <a:cs typeface="Arial"/>
              <a:sym typeface="Arial"/>
            </a:endParaRPr>
          </a:p>
          <a:p>
            <a:pPr marL="0" lvl="0" indent="0" algn="l" rtl="0">
              <a:lnSpc>
                <a:spcPct val="90000"/>
              </a:lnSpc>
              <a:spcBef>
                <a:spcPts val="0"/>
              </a:spcBef>
              <a:spcAft>
                <a:spcPts val="0"/>
              </a:spcAft>
              <a:buClr>
                <a:schemeClr val="dk1"/>
              </a:buClr>
              <a:buSzPts val="2800"/>
              <a:buNone/>
            </a:pPr>
            <a:endParaRPr lang="en-US" sz="2400" dirty="0" smtClean="0"/>
          </a:p>
          <a:p>
            <a:pPr marL="0" lvl="0" indent="0">
              <a:spcBef>
                <a:spcPts val="0"/>
              </a:spcBef>
              <a:buSzPts val="2800"/>
              <a:buNone/>
            </a:pPr>
            <a:r>
              <a:rPr lang="ru-RU" sz="2400" dirty="0" smtClean="0">
                <a:latin typeface="+mj-lt"/>
              </a:rPr>
              <a:t>Ричард </a:t>
            </a:r>
            <a:r>
              <a:rPr lang="ru-RU" sz="2400" dirty="0" err="1" smtClean="0">
                <a:latin typeface="+mj-lt"/>
              </a:rPr>
              <a:t>Столлман</a:t>
            </a:r>
            <a:r>
              <a:rPr lang="ru-RU" sz="2400" dirty="0" smtClean="0">
                <a:latin typeface="+mj-lt"/>
              </a:rPr>
              <a:t> – </a:t>
            </a:r>
            <a:r>
              <a:rPr lang="en-US" sz="2400" dirty="0" smtClean="0">
                <a:latin typeface="+mj-lt"/>
              </a:rPr>
              <a:t>GNU (GNU NOT UNIX, </a:t>
            </a:r>
            <a:r>
              <a:rPr lang="ru-RU" sz="2400" dirty="0" smtClean="0">
                <a:latin typeface="+mj-lt"/>
              </a:rPr>
              <a:t>рекурсивно</a:t>
            </a:r>
            <a:r>
              <a:rPr lang="en-US" sz="2400" dirty="0" smtClean="0">
                <a:latin typeface="+mj-lt"/>
              </a:rPr>
              <a:t>)</a:t>
            </a:r>
          </a:p>
          <a:p>
            <a:pPr marL="0" lvl="0" indent="0">
              <a:spcBef>
                <a:spcPts val="0"/>
              </a:spcBef>
              <a:buSzPts val="2800"/>
              <a:buNone/>
            </a:pPr>
            <a:r>
              <a:rPr lang="en-US" sz="2400" dirty="0">
                <a:latin typeface="+mj-lt"/>
                <a:hlinkClick r:id="rId4"/>
              </a:rPr>
              <a:t>https://www.gnu.org</a:t>
            </a:r>
            <a:r>
              <a:rPr lang="en-US" sz="2400" dirty="0" smtClean="0">
                <a:latin typeface="+mj-lt"/>
                <a:hlinkClick r:id="rId4"/>
              </a:rPr>
              <a:t>/</a:t>
            </a:r>
            <a:endParaRPr lang="en-US" sz="2400" dirty="0" smtClean="0">
              <a:latin typeface="+mj-lt"/>
            </a:endParaRPr>
          </a:p>
          <a:p>
            <a:pPr marL="0" lvl="0" indent="0">
              <a:spcBef>
                <a:spcPts val="0"/>
              </a:spcBef>
              <a:buSzPts val="2800"/>
              <a:buNone/>
            </a:pPr>
            <a:endParaRPr lang="en-US" sz="2400" dirty="0" smtClean="0">
              <a:latin typeface="+mj-lt"/>
            </a:endParaRPr>
          </a:p>
          <a:p>
            <a:pPr marL="0" lvl="0" indent="0" algn="l" rtl="0">
              <a:lnSpc>
                <a:spcPct val="90000"/>
              </a:lnSpc>
              <a:spcBef>
                <a:spcPts val="1000"/>
              </a:spcBef>
              <a:spcAft>
                <a:spcPts val="0"/>
              </a:spcAft>
              <a:buClr>
                <a:schemeClr val="dk1"/>
              </a:buClr>
              <a:buSzPts val="2800"/>
              <a:buNone/>
            </a:pPr>
            <a:r>
              <a:rPr lang="en-US" sz="2400" dirty="0" smtClean="0">
                <a:latin typeface="Arial"/>
                <a:ea typeface="Arial"/>
                <a:cs typeface="Arial"/>
                <a:sym typeface="Arial"/>
              </a:rPr>
              <a:t>GNU/Linux</a:t>
            </a:r>
            <a:r>
              <a:rPr lang="ru-RU" sz="2400" dirty="0" smtClean="0">
                <a:latin typeface="Arial"/>
                <a:ea typeface="Arial"/>
                <a:cs typeface="Arial"/>
                <a:sym typeface="Arial"/>
              </a:rPr>
              <a:t> </a:t>
            </a:r>
            <a:r>
              <a:rPr lang="en-US" sz="2400" dirty="0" smtClean="0">
                <a:latin typeface="Arial"/>
                <a:ea typeface="Arial"/>
                <a:cs typeface="Arial"/>
                <a:sym typeface="Arial"/>
              </a:rPr>
              <a:t>= Linux OS</a:t>
            </a:r>
            <a:endParaRPr lang="ru-RU" sz="2400" dirty="0" smtClean="0">
              <a:latin typeface="Arial"/>
              <a:ea typeface="Arial"/>
              <a:cs typeface="Arial"/>
              <a:sym typeface="Arial"/>
            </a:endParaRPr>
          </a:p>
          <a:p>
            <a:pPr marL="0" lvl="0" indent="0">
              <a:buSzPts val="2800"/>
              <a:buNone/>
            </a:pPr>
            <a:endParaRPr lang="ru-RU" sz="2400" dirty="0" smtClean="0">
              <a:latin typeface="Arial"/>
              <a:ea typeface="Arial"/>
              <a:cs typeface="Arial"/>
              <a:sym typeface="Arial"/>
            </a:endParaRPr>
          </a:p>
          <a:p>
            <a:pPr marL="0" lvl="0" indent="0">
              <a:buSzPts val="2800"/>
              <a:buNone/>
            </a:pPr>
            <a:r>
              <a:rPr lang="en-US" sz="2400" dirty="0">
                <a:latin typeface="Arial"/>
                <a:ea typeface="Arial"/>
                <a:cs typeface="Arial"/>
                <a:sym typeface="Arial"/>
              </a:rPr>
              <a:t>Linux </a:t>
            </a:r>
            <a:r>
              <a:rPr lang="en-US" sz="2400" dirty="0" smtClean="0">
                <a:latin typeface="Arial"/>
                <a:ea typeface="Arial"/>
                <a:cs typeface="Arial"/>
                <a:sym typeface="Arial"/>
              </a:rPr>
              <a:t>OS</a:t>
            </a:r>
            <a:r>
              <a:rPr lang="ru-RU" sz="2400" dirty="0" smtClean="0">
                <a:latin typeface="Arial"/>
                <a:ea typeface="Arial"/>
                <a:cs typeface="Arial"/>
                <a:sym typeface="Arial"/>
              </a:rPr>
              <a:t> + система </a:t>
            </a:r>
            <a:r>
              <a:rPr lang="ru-RU" sz="2400" dirty="0">
                <a:latin typeface="Arial"/>
                <a:ea typeface="Arial"/>
                <a:cs typeface="Arial"/>
                <a:sym typeface="Arial"/>
              </a:rPr>
              <a:t>управления </a:t>
            </a:r>
            <a:r>
              <a:rPr lang="ru-RU" sz="2400" dirty="0" smtClean="0">
                <a:latin typeface="Arial"/>
                <a:ea typeface="Arial"/>
                <a:cs typeface="Arial"/>
                <a:sym typeface="Arial"/>
              </a:rPr>
              <a:t>пакетами (</a:t>
            </a:r>
            <a:r>
              <a:rPr lang="en-US" sz="2400" dirty="0" smtClean="0">
                <a:latin typeface="Arial"/>
                <a:ea typeface="Arial"/>
                <a:cs typeface="Arial"/>
                <a:sym typeface="Arial"/>
              </a:rPr>
              <a:t>deb/rpm/packman/nix/portage </a:t>
            </a:r>
            <a:r>
              <a:rPr lang="ru-RU" sz="2400" dirty="0" smtClean="0">
                <a:latin typeface="Arial"/>
                <a:ea typeface="Arial"/>
                <a:cs typeface="Arial"/>
                <a:sym typeface="Arial"/>
              </a:rPr>
              <a:t>и др.</a:t>
            </a:r>
            <a:r>
              <a:rPr lang="en-US" sz="2400" dirty="0" smtClean="0">
                <a:latin typeface="Arial"/>
                <a:ea typeface="Arial"/>
                <a:cs typeface="Arial"/>
                <a:sym typeface="Arial"/>
              </a:rPr>
              <a:t>)</a:t>
            </a:r>
            <a:r>
              <a:rPr lang="ru-RU" sz="2400" dirty="0" smtClean="0">
                <a:latin typeface="Arial"/>
                <a:ea typeface="Arial"/>
                <a:cs typeface="Arial"/>
                <a:sym typeface="Arial"/>
              </a:rPr>
              <a:t> + </a:t>
            </a:r>
            <a:r>
              <a:rPr lang="ru-RU" sz="2400" dirty="0" err="1" smtClean="0">
                <a:latin typeface="Arial"/>
                <a:ea typeface="Arial"/>
                <a:cs typeface="Arial"/>
                <a:sym typeface="Arial"/>
              </a:rPr>
              <a:t>репозитории</a:t>
            </a:r>
            <a:r>
              <a:rPr lang="ru-RU" sz="2400" dirty="0" smtClean="0">
                <a:latin typeface="Arial"/>
                <a:ea typeface="Arial"/>
                <a:cs typeface="Arial"/>
                <a:sym typeface="Arial"/>
              </a:rPr>
              <a:t> </a:t>
            </a:r>
            <a:r>
              <a:rPr lang="en-US" sz="2400" dirty="0" smtClean="0">
                <a:latin typeface="Arial"/>
                <a:ea typeface="Arial"/>
                <a:cs typeface="Arial"/>
                <a:sym typeface="Arial"/>
              </a:rPr>
              <a:t>+ </a:t>
            </a:r>
            <a:r>
              <a:rPr lang="ru-RU" sz="2400" dirty="0" smtClean="0">
                <a:latin typeface="Arial"/>
                <a:ea typeface="Arial"/>
                <a:cs typeface="Arial"/>
                <a:sym typeface="Arial"/>
              </a:rPr>
              <a:t>философия + владелец = Дистрибутив </a:t>
            </a:r>
            <a:r>
              <a:rPr lang="en-US" sz="2400" dirty="0">
                <a:latin typeface="Arial"/>
                <a:ea typeface="Arial"/>
                <a:cs typeface="Arial"/>
                <a:sym typeface="Arial"/>
              </a:rPr>
              <a:t>Linux OS</a:t>
            </a:r>
            <a:endParaRPr lang="ru-RU" sz="2400" dirty="0">
              <a:latin typeface="Arial"/>
              <a:ea typeface="Arial"/>
              <a:cs typeface="Arial"/>
              <a:sym typeface="Arial"/>
            </a:endParaRPr>
          </a:p>
          <a:p>
            <a:pPr marL="0" lvl="0" indent="0">
              <a:buSzPts val="2800"/>
              <a:buNone/>
            </a:pPr>
            <a:endParaRPr lang="en-US" sz="2400" b="0" dirty="0" smtClean="0">
              <a:latin typeface="Arial"/>
              <a:ea typeface="Arial"/>
              <a:cs typeface="Arial"/>
              <a:sym typeface="Arial"/>
            </a:endParaRPr>
          </a:p>
          <a:p>
            <a:pPr marL="0" lvl="0" indent="0">
              <a:buSzPts val="2800"/>
              <a:buNone/>
            </a:pPr>
            <a:r>
              <a:rPr lang="ru-RU" sz="2400" b="0" dirty="0" smtClean="0">
                <a:latin typeface="Arial"/>
                <a:ea typeface="Arial"/>
                <a:cs typeface="Arial"/>
                <a:sym typeface="Arial"/>
              </a:rPr>
              <a:t>Сюда </a:t>
            </a:r>
            <a:r>
              <a:rPr lang="ru-RU" sz="2400" b="0" dirty="0">
                <a:latin typeface="Arial"/>
                <a:ea typeface="Arial"/>
                <a:cs typeface="Arial"/>
                <a:sym typeface="Arial"/>
              </a:rPr>
              <a:t>входят все популярные системы: </a:t>
            </a:r>
            <a:r>
              <a:rPr lang="en-US" sz="2400" dirty="0" err="1" smtClean="0">
                <a:latin typeface="Arial"/>
                <a:ea typeface="Arial"/>
                <a:cs typeface="Arial"/>
                <a:sym typeface="Arial"/>
              </a:rPr>
              <a:t>Debian</a:t>
            </a:r>
            <a:r>
              <a:rPr lang="en-US" sz="2400" dirty="0" smtClean="0">
                <a:latin typeface="Arial"/>
                <a:ea typeface="Arial"/>
                <a:cs typeface="Arial"/>
                <a:sym typeface="Arial"/>
              </a:rPr>
              <a:t>, Centos, </a:t>
            </a:r>
            <a:r>
              <a:rPr lang="ru-RU" sz="2400" b="0" dirty="0" err="1" smtClean="0">
                <a:latin typeface="Arial"/>
                <a:ea typeface="Arial"/>
                <a:cs typeface="Arial"/>
                <a:sym typeface="Arial"/>
              </a:rPr>
              <a:t>Ubuntu</a:t>
            </a:r>
            <a:r>
              <a:rPr lang="ru-RU" sz="2400" b="0" dirty="0">
                <a:latin typeface="Arial"/>
                <a:ea typeface="Arial"/>
                <a:cs typeface="Arial"/>
                <a:sym typeface="Arial"/>
              </a:rPr>
              <a:t>, </a:t>
            </a:r>
            <a:r>
              <a:rPr lang="ru-RU" sz="2400" b="0" dirty="0" err="1">
                <a:latin typeface="Arial"/>
                <a:ea typeface="Arial"/>
                <a:cs typeface="Arial"/>
                <a:sym typeface="Arial"/>
              </a:rPr>
              <a:t>Fedora</a:t>
            </a:r>
            <a:r>
              <a:rPr lang="ru-RU" sz="2400" b="0" dirty="0">
                <a:latin typeface="Arial"/>
                <a:ea typeface="Arial"/>
                <a:cs typeface="Arial"/>
                <a:sym typeface="Arial"/>
              </a:rPr>
              <a:t>, </a:t>
            </a:r>
            <a:r>
              <a:rPr lang="ru-RU" sz="2400" b="0" dirty="0" err="1">
                <a:latin typeface="Arial"/>
                <a:ea typeface="Arial"/>
                <a:cs typeface="Arial"/>
                <a:sym typeface="Arial"/>
              </a:rPr>
              <a:t>Mint</a:t>
            </a:r>
            <a:r>
              <a:rPr lang="ru-RU" sz="2400" b="0" dirty="0">
                <a:latin typeface="Arial"/>
                <a:ea typeface="Arial"/>
                <a:cs typeface="Arial"/>
                <a:sym typeface="Arial"/>
              </a:rPr>
              <a:t>, </a:t>
            </a:r>
            <a:r>
              <a:rPr lang="en-US" sz="2400" dirty="0" err="1" smtClean="0">
                <a:latin typeface="Arial"/>
                <a:ea typeface="Arial"/>
                <a:cs typeface="Arial"/>
                <a:sym typeface="Arial"/>
              </a:rPr>
              <a:t>ArchLinux</a:t>
            </a:r>
            <a:r>
              <a:rPr lang="en-US" sz="2400" dirty="0" smtClean="0">
                <a:latin typeface="Arial"/>
                <a:ea typeface="Arial"/>
                <a:cs typeface="Arial"/>
                <a:sym typeface="Arial"/>
              </a:rPr>
              <a:t>, Gentoo</a:t>
            </a:r>
            <a:r>
              <a:rPr lang="ru-RU" sz="2400" b="0" dirty="0" smtClean="0">
                <a:latin typeface="Arial"/>
                <a:ea typeface="Arial"/>
                <a:cs typeface="Arial"/>
                <a:sym typeface="Arial"/>
              </a:rPr>
              <a:t> </a:t>
            </a:r>
            <a:r>
              <a:rPr lang="ru-RU" sz="2400" b="0" dirty="0">
                <a:latin typeface="Arial"/>
                <a:ea typeface="Arial"/>
                <a:cs typeface="Arial"/>
                <a:sym typeface="Arial"/>
              </a:rPr>
              <a:t>и </a:t>
            </a:r>
            <a:endParaRPr lang="en-US" sz="2400" b="0" dirty="0" smtClean="0">
              <a:latin typeface="Arial"/>
              <a:ea typeface="Arial"/>
              <a:cs typeface="Arial"/>
              <a:sym typeface="Arial"/>
            </a:endParaRPr>
          </a:p>
          <a:p>
            <a:pPr marL="0" lvl="0" indent="0">
              <a:buSzPts val="2800"/>
              <a:buNone/>
            </a:pPr>
            <a:r>
              <a:rPr lang="ru-RU" sz="2400" b="0" dirty="0" smtClean="0">
                <a:latin typeface="Arial"/>
                <a:ea typeface="Arial"/>
                <a:cs typeface="Arial"/>
                <a:sym typeface="Arial"/>
              </a:rPr>
              <a:t>другие</a:t>
            </a:r>
            <a:r>
              <a:rPr lang="en-US" sz="2400" dirty="0">
                <a:latin typeface="Arial"/>
                <a:ea typeface="Arial"/>
                <a:cs typeface="Arial"/>
                <a:sym typeface="Arial"/>
              </a:rPr>
              <a:t>: </a:t>
            </a:r>
            <a:r>
              <a:rPr lang="en-US" sz="2400" dirty="0">
                <a:latin typeface="Arial"/>
                <a:ea typeface="Arial"/>
                <a:cs typeface="Arial"/>
                <a:sym typeface="Arial"/>
                <a:hlinkClick r:id="rId5"/>
              </a:rPr>
              <a:t>https://www.linux.org/pages/download</a:t>
            </a:r>
            <a:r>
              <a:rPr lang="en-US" sz="2400" dirty="0" smtClean="0">
                <a:latin typeface="Arial"/>
                <a:ea typeface="Arial"/>
                <a:cs typeface="Arial"/>
                <a:sym typeface="Arial"/>
                <a:hlinkClick r:id="rId5"/>
              </a:rPr>
              <a:t>/</a:t>
            </a:r>
            <a:r>
              <a:rPr lang="en-US" sz="2400" dirty="0" smtClean="0">
                <a:latin typeface="Arial"/>
                <a:ea typeface="Arial"/>
                <a:cs typeface="Arial"/>
                <a:sym typeface="Arial"/>
              </a:rPr>
              <a:t> </a:t>
            </a:r>
            <a:r>
              <a:rPr lang="ru-RU" sz="2400" dirty="0" smtClean="0">
                <a:latin typeface="Arial"/>
                <a:ea typeface="Arial"/>
                <a:cs typeface="Arial"/>
                <a:sym typeface="Arial"/>
              </a:rPr>
              <a:t>или свой дистрибутив с нуля: </a:t>
            </a:r>
            <a:r>
              <a:rPr lang="en-US" sz="2400" dirty="0" smtClean="0">
                <a:latin typeface="Arial"/>
                <a:ea typeface="Arial"/>
                <a:cs typeface="Arial"/>
                <a:sym typeface="Arial"/>
                <a:hlinkClick r:id="rId6"/>
              </a:rPr>
              <a:t>https</a:t>
            </a:r>
            <a:r>
              <a:rPr lang="en-US" sz="2400" dirty="0">
                <a:latin typeface="Arial"/>
                <a:ea typeface="Arial"/>
                <a:cs typeface="Arial"/>
                <a:sym typeface="Arial"/>
                <a:hlinkClick r:id="rId6"/>
              </a:rPr>
              <a:t>://</a:t>
            </a:r>
            <a:r>
              <a:rPr lang="en-US" sz="2400" dirty="0" smtClean="0">
                <a:latin typeface="Arial"/>
                <a:ea typeface="Arial"/>
                <a:cs typeface="Arial"/>
                <a:sym typeface="Arial"/>
                <a:hlinkClick r:id="rId6"/>
              </a:rPr>
              <a:t>linuxfromscratch.org</a:t>
            </a:r>
            <a:endParaRPr lang="ru-RU" sz="2400" dirty="0" smtClean="0">
              <a:latin typeface="Arial"/>
              <a:ea typeface="Arial"/>
              <a:cs typeface="Arial"/>
              <a:sym typeface="Arial"/>
            </a:endParaRPr>
          </a:p>
          <a:p>
            <a:pPr marL="0" lvl="0" indent="0">
              <a:buSzPts val="2800"/>
              <a:buNone/>
            </a:pPr>
            <a:r>
              <a:rPr lang="en-US" sz="2400" dirty="0" smtClean="0">
                <a:latin typeface="Arial"/>
                <a:ea typeface="Arial"/>
                <a:cs typeface="Arial"/>
                <a:sym typeface="Arial"/>
              </a:rPr>
              <a:t> </a:t>
            </a:r>
            <a:endParaRPr lang="en-US" sz="2400" dirty="0" smtClean="0">
              <a:latin typeface="Arial"/>
              <a:ea typeface="Arial"/>
              <a:cs typeface="Arial"/>
              <a:sym typeface="Arial"/>
            </a:endParaRPr>
          </a:p>
          <a:p>
            <a:pPr marL="0" lvl="0" indent="0">
              <a:buSzPts val="2800"/>
              <a:buNone/>
            </a:pPr>
            <a:r>
              <a:rPr lang="en-US" sz="2400" dirty="0" smtClean="0">
                <a:hlinkClick r:id="rId7"/>
              </a:rPr>
              <a:t>https</a:t>
            </a:r>
            <a:r>
              <a:rPr lang="en-US" sz="2400" dirty="0">
                <a:hlinkClick r:id="rId7"/>
              </a:rPr>
              <a:t>://</a:t>
            </a:r>
            <a:r>
              <a:rPr lang="en-US" sz="2400" dirty="0" smtClean="0">
                <a:hlinkClick r:id="rId7"/>
              </a:rPr>
              <a:t>upload.wikimedia.org/wikipedia/commons/1/1b/Linux_Distribution_Timeline.svg</a:t>
            </a:r>
            <a:endParaRPr sz="2400"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2</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7"/>
            <a:ext cx="10515600" cy="975643"/>
          </a:xfrm>
        </p:spPr>
        <p:txBody>
          <a:bodyPr/>
          <a:lstStyle/>
          <a:p>
            <a:pPr algn="ctr"/>
            <a:r>
              <a:rPr lang="en-US" dirty="0" smtClean="0">
                <a:latin typeface="+mj-lt"/>
              </a:rPr>
              <a:t>POSIX </a:t>
            </a:r>
            <a:r>
              <a:rPr lang="ru-RU" dirty="0" smtClean="0">
                <a:latin typeface="+mj-lt"/>
              </a:rPr>
              <a:t>(по-русски: ПОЗИКС)</a:t>
            </a:r>
            <a:endParaRPr lang="ru-RU" dirty="0">
              <a:latin typeface="+mj-lt"/>
            </a:endParaRPr>
          </a:p>
        </p:txBody>
      </p:sp>
      <p:sp>
        <p:nvSpPr>
          <p:cNvPr id="5" name="Прямоугольник 4"/>
          <p:cNvSpPr/>
          <p:nvPr/>
        </p:nvSpPr>
        <p:spPr>
          <a:xfrm>
            <a:off x="839416" y="1484785"/>
            <a:ext cx="10585176" cy="5078313"/>
          </a:xfrm>
          <a:prstGeom prst="rect">
            <a:avLst/>
          </a:prstGeom>
        </p:spPr>
        <p:txBody>
          <a:bodyPr wrap="square">
            <a:spAutoFit/>
          </a:bodyPr>
          <a:lstStyle/>
          <a:p>
            <a:r>
              <a:rPr lang="ru-RU" sz="1800" b="1" dirty="0"/>
              <a:t>POSIX</a:t>
            </a:r>
            <a:r>
              <a:rPr lang="ru-RU" sz="1800" dirty="0"/>
              <a:t> </a:t>
            </a:r>
            <a:r>
              <a:rPr lang="ru-RU" sz="1800" dirty="0" smtClean="0"/>
              <a:t>(</a:t>
            </a:r>
            <a:r>
              <a:rPr lang="ru-RU" sz="1800" dirty="0" err="1" smtClean="0"/>
              <a:t>Portable</a:t>
            </a:r>
            <a:r>
              <a:rPr lang="ru-RU" sz="1800" dirty="0" smtClean="0"/>
              <a:t> </a:t>
            </a:r>
            <a:r>
              <a:rPr lang="ru-RU" sz="1800" dirty="0" err="1"/>
              <a:t>Operating</a:t>
            </a:r>
            <a:r>
              <a:rPr lang="ru-RU" sz="1800" dirty="0"/>
              <a:t> </a:t>
            </a:r>
            <a:r>
              <a:rPr lang="ru-RU" sz="1800" dirty="0" err="1"/>
              <a:t>System</a:t>
            </a:r>
            <a:r>
              <a:rPr lang="ru-RU" sz="1800" dirty="0"/>
              <a:t> </a:t>
            </a:r>
            <a:r>
              <a:rPr lang="ru-RU" sz="1800" dirty="0" err="1"/>
              <a:t>Interface</a:t>
            </a:r>
            <a:r>
              <a:rPr lang="ru-RU" sz="1800" dirty="0"/>
              <a:t> — переносимый интерфейс операционных систем) — набор стандартов, описывающих интерфейсы между операционной системой и прикладной программой (системный API), библиотеку языка C и набор приложений и их интерфейсов. Стандарт создан для обеспечения совместимости различных UNIX-подобных операционных систем и переносимости прикладных программ на уровне исходного кода, но может быть использован и для не-</a:t>
            </a:r>
            <a:r>
              <a:rPr lang="ru-RU" sz="1800" dirty="0" err="1"/>
              <a:t>Unix</a:t>
            </a:r>
            <a:r>
              <a:rPr lang="ru-RU" sz="1800" dirty="0"/>
              <a:t> систем</a:t>
            </a:r>
            <a:r>
              <a:rPr lang="ru-RU" sz="1800" dirty="0" smtClean="0"/>
              <a:t>.</a:t>
            </a:r>
            <a:endParaRPr lang="ru-RU" sz="1800" dirty="0"/>
          </a:p>
          <a:p>
            <a:endParaRPr lang="ru-RU" sz="1800" dirty="0" smtClean="0"/>
          </a:p>
          <a:p>
            <a:r>
              <a:rPr lang="ru-RU" sz="1800" dirty="0" smtClean="0"/>
              <a:t>Актуальная версия: </a:t>
            </a:r>
            <a:r>
              <a:rPr lang="en-US" sz="1800" b="1" dirty="0" smtClean="0"/>
              <a:t>POSIX.1-2024</a:t>
            </a:r>
            <a:r>
              <a:rPr lang="ru-RU" sz="1800" b="1" dirty="0" smtClean="0"/>
              <a:t>. </a:t>
            </a:r>
          </a:p>
          <a:p>
            <a:r>
              <a:rPr lang="en-US" sz="1800" dirty="0" smtClean="0"/>
              <a:t>Linux </a:t>
            </a:r>
            <a:r>
              <a:rPr lang="ru-RU" sz="1800" dirty="0" smtClean="0"/>
              <a:t>– </a:t>
            </a:r>
            <a:r>
              <a:rPr lang="en-US" sz="1800" dirty="0" smtClean="0"/>
              <a:t>POSIX-</a:t>
            </a:r>
            <a:r>
              <a:rPr lang="ru-RU" sz="1800" dirty="0" smtClean="0"/>
              <a:t>совместимый</a:t>
            </a:r>
          </a:p>
          <a:p>
            <a:endParaRPr lang="en-US" sz="1800" dirty="0"/>
          </a:p>
          <a:p>
            <a:r>
              <a:rPr lang="ru-RU" sz="1800" dirty="0"/>
              <a:t>Стандарт состоит из четырёх основных </a:t>
            </a:r>
            <a:r>
              <a:rPr lang="ru-RU" sz="1800" dirty="0" smtClean="0"/>
              <a:t>разделов</a:t>
            </a:r>
            <a:r>
              <a:rPr lang="en-US" sz="1800" dirty="0" smtClean="0"/>
              <a:t>:</a:t>
            </a:r>
            <a:endParaRPr lang="ru-RU" sz="1800" dirty="0"/>
          </a:p>
          <a:p>
            <a:pPr marL="285750" indent="-285750">
              <a:buFont typeface="Arial" panose="020B0604020202020204" pitchFamily="34" charset="0"/>
              <a:buChar char="•"/>
            </a:pPr>
            <a:r>
              <a:rPr lang="ru-RU" sz="1800" dirty="0" smtClean="0"/>
              <a:t>Основные </a:t>
            </a:r>
            <a:r>
              <a:rPr lang="ru-RU" sz="1800" dirty="0"/>
              <a:t>определения </a:t>
            </a:r>
            <a:r>
              <a:rPr lang="ru-RU" sz="1800" dirty="0" smtClean="0"/>
              <a:t>(</a:t>
            </a:r>
            <a:r>
              <a:rPr lang="ru-RU" sz="1800" dirty="0" err="1" smtClean="0"/>
              <a:t>Base</a:t>
            </a:r>
            <a:r>
              <a:rPr lang="ru-RU" sz="1800" dirty="0" smtClean="0"/>
              <a:t> </a:t>
            </a:r>
            <a:r>
              <a:rPr lang="ru-RU" sz="1800" dirty="0" err="1"/>
              <a:t>definitions</a:t>
            </a:r>
            <a:r>
              <a:rPr lang="ru-RU" sz="1800" dirty="0"/>
              <a:t>) — список основных определений и соглашений, используемых в спецификациях, и список заголовочных файлов языка Си, которые должны быть предоставлены соответствующей стандарту системой.</a:t>
            </a:r>
          </a:p>
          <a:p>
            <a:pPr marL="285750" indent="-285750">
              <a:buFont typeface="Arial" panose="020B0604020202020204" pitchFamily="34" charset="0"/>
              <a:buChar char="•"/>
            </a:pPr>
            <a:r>
              <a:rPr lang="ru-RU" sz="1800" dirty="0" smtClean="0"/>
              <a:t>Оболочка </a:t>
            </a:r>
            <a:r>
              <a:rPr lang="ru-RU" sz="1800" dirty="0"/>
              <a:t>и утилиты </a:t>
            </a:r>
            <a:r>
              <a:rPr lang="ru-RU" sz="1800" dirty="0" smtClean="0"/>
              <a:t>(</a:t>
            </a:r>
            <a:r>
              <a:rPr lang="ru-RU" sz="1800" dirty="0" err="1" smtClean="0"/>
              <a:t>Shell</a:t>
            </a:r>
            <a:r>
              <a:rPr lang="ru-RU" sz="1800" dirty="0" smtClean="0"/>
              <a:t> </a:t>
            </a:r>
            <a:r>
              <a:rPr lang="ru-RU" sz="1800" dirty="0" err="1"/>
              <a:t>and</a:t>
            </a:r>
            <a:r>
              <a:rPr lang="ru-RU" sz="1800" dirty="0"/>
              <a:t> </a:t>
            </a:r>
            <a:r>
              <a:rPr lang="ru-RU" sz="1800" dirty="0" err="1"/>
              <a:t>utilities</a:t>
            </a:r>
            <a:r>
              <a:rPr lang="ru-RU" sz="1800" dirty="0"/>
              <a:t>) — описание утилит и командной оболочки </a:t>
            </a:r>
            <a:r>
              <a:rPr lang="ru-RU" sz="1800" dirty="0" err="1"/>
              <a:t>sh</a:t>
            </a:r>
            <a:r>
              <a:rPr lang="ru-RU" sz="1800" dirty="0"/>
              <a:t>, стандарты регулярных выражений.</a:t>
            </a:r>
          </a:p>
          <a:p>
            <a:pPr marL="285750" indent="-285750">
              <a:buFont typeface="Arial" panose="020B0604020202020204" pitchFamily="34" charset="0"/>
              <a:buChar char="•"/>
            </a:pPr>
            <a:r>
              <a:rPr lang="ru-RU" sz="1800" dirty="0" smtClean="0"/>
              <a:t>Системные </a:t>
            </a:r>
            <a:r>
              <a:rPr lang="ru-RU" sz="1800" dirty="0"/>
              <a:t>интерфейсы </a:t>
            </a:r>
            <a:r>
              <a:rPr lang="ru-RU" sz="1800" dirty="0" smtClean="0"/>
              <a:t>(</a:t>
            </a:r>
            <a:r>
              <a:rPr lang="ru-RU" sz="1800" dirty="0" err="1" smtClean="0"/>
              <a:t>System</a:t>
            </a:r>
            <a:r>
              <a:rPr lang="ru-RU" sz="1800" dirty="0" smtClean="0"/>
              <a:t> </a:t>
            </a:r>
            <a:r>
              <a:rPr lang="ru-RU" sz="1800" dirty="0" err="1"/>
              <a:t>interfaces</a:t>
            </a:r>
            <a:r>
              <a:rPr lang="ru-RU" sz="1800" dirty="0"/>
              <a:t>) — список системных вызовов языка Си.</a:t>
            </a:r>
          </a:p>
          <a:p>
            <a:pPr marL="285750" indent="-285750">
              <a:buFont typeface="Arial" panose="020B0604020202020204" pitchFamily="34" charset="0"/>
              <a:buChar char="•"/>
            </a:pPr>
            <a:r>
              <a:rPr lang="ru-RU" sz="1800" dirty="0" smtClean="0"/>
              <a:t>Обоснование (</a:t>
            </a:r>
            <a:r>
              <a:rPr lang="ru-RU" sz="1800" dirty="0" err="1" smtClean="0"/>
              <a:t>Rationale</a:t>
            </a:r>
            <a:r>
              <a:rPr lang="ru-RU" sz="1800" dirty="0"/>
              <a:t>) — объяснение принципов, используемых в стандарте. </a:t>
            </a:r>
            <a:endParaRPr lang="en-US" sz="1800" dirty="0" smtClean="0"/>
          </a:p>
        </p:txBody>
      </p:sp>
      <p:sp>
        <p:nvSpPr>
          <p:cNvPr id="7" name="Номер слайда 6"/>
          <p:cNvSpPr>
            <a:spLocks noGrp="1"/>
          </p:cNvSpPr>
          <p:nvPr>
            <p:ph type="sldNum" idx="12"/>
          </p:nvPr>
        </p:nvSpPr>
        <p:spPr/>
        <p:txBody>
          <a:bodyPr/>
          <a:lstStyle/>
          <a:p>
            <a:fld id="{725C68B6-61C2-468F-89AB-4B9F7531AA68}" type="slidenum">
              <a:rPr lang="ru-RU" smtClean="0">
                <a:latin typeface="Arial"/>
                <a:cs typeface="Arial"/>
                <a:sym typeface="Arial"/>
              </a:rPr>
              <a:pPr/>
              <a:t>3</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22310821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7"/>
            <a:ext cx="10515600" cy="831627"/>
          </a:xfrm>
        </p:spPr>
        <p:txBody>
          <a:bodyPr/>
          <a:lstStyle/>
          <a:p>
            <a:pPr algn="ctr"/>
            <a:r>
              <a:rPr lang="ru-RU" dirty="0" smtClean="0">
                <a:latin typeface="+mj-lt"/>
              </a:rPr>
              <a:t>Стандартизация </a:t>
            </a:r>
            <a:r>
              <a:rPr lang="en-US" dirty="0" smtClean="0">
                <a:latin typeface="+mj-lt"/>
              </a:rPr>
              <a:t>Linux</a:t>
            </a:r>
            <a:endParaRPr lang="ru-RU" dirty="0">
              <a:latin typeface="+mj-lt"/>
            </a:endParaRPr>
          </a:p>
        </p:txBody>
      </p:sp>
      <p:sp>
        <p:nvSpPr>
          <p:cNvPr id="5" name="Прямоугольник 4"/>
          <p:cNvSpPr/>
          <p:nvPr/>
        </p:nvSpPr>
        <p:spPr>
          <a:xfrm>
            <a:off x="839416" y="1340768"/>
            <a:ext cx="10801200" cy="5355312"/>
          </a:xfrm>
          <a:prstGeom prst="rect">
            <a:avLst/>
          </a:prstGeom>
        </p:spPr>
        <p:txBody>
          <a:bodyPr wrap="square">
            <a:spAutoFit/>
          </a:bodyPr>
          <a:lstStyle/>
          <a:p>
            <a:r>
              <a:rPr lang="ru-RU" sz="1800" dirty="0" err="1"/>
              <a:t>Linux</a:t>
            </a:r>
            <a:r>
              <a:rPr lang="ru-RU" sz="1800" dirty="0"/>
              <a:t> </a:t>
            </a:r>
            <a:r>
              <a:rPr lang="ru-RU" sz="1800" dirty="0" err="1"/>
              <a:t>Standard</a:t>
            </a:r>
            <a:r>
              <a:rPr lang="ru-RU" sz="1800" dirty="0"/>
              <a:t> </a:t>
            </a:r>
            <a:r>
              <a:rPr lang="ru-RU" sz="1800" dirty="0" err="1"/>
              <a:t>Base</a:t>
            </a:r>
            <a:r>
              <a:rPr lang="ru-RU" sz="1800" dirty="0"/>
              <a:t> (LSB) — стандарт, определяющий базовый состав компонентов и внутреннюю структуру, которым должен удовлетворять дистрибутивов </a:t>
            </a:r>
            <a:r>
              <a:rPr lang="ru-RU" sz="1800" dirty="0" err="1"/>
              <a:t>Linux</a:t>
            </a:r>
            <a:r>
              <a:rPr lang="ru-RU" sz="1800" dirty="0"/>
              <a:t>; разработан и </a:t>
            </a:r>
            <a:r>
              <a:rPr lang="ru-RU" sz="1800" dirty="0" smtClean="0"/>
              <a:t>развива</a:t>
            </a:r>
            <a:r>
              <a:rPr lang="ru-RU" sz="1800" dirty="0" smtClean="0"/>
              <a:t>лся</a:t>
            </a:r>
            <a:r>
              <a:rPr lang="ru-RU" sz="1800" dirty="0" smtClean="0"/>
              <a:t> </a:t>
            </a:r>
            <a:r>
              <a:rPr lang="ru-RU" sz="1800" dirty="0"/>
              <a:t>под патронажем </a:t>
            </a:r>
            <a:r>
              <a:rPr lang="ru-RU" sz="1800" dirty="0" err="1"/>
              <a:t>Linux</a:t>
            </a:r>
            <a:r>
              <a:rPr lang="ru-RU" sz="1800" dirty="0"/>
              <a:t> </a:t>
            </a:r>
            <a:r>
              <a:rPr lang="ru-RU" sz="1800" dirty="0" err="1"/>
              <a:t>Foundation</a:t>
            </a:r>
            <a:r>
              <a:rPr lang="ru-RU" sz="1800" dirty="0"/>
              <a:t>. Опирается на существующие спецификации, такие как POSIX, </a:t>
            </a:r>
            <a:r>
              <a:rPr lang="ru-RU" sz="1800" dirty="0" err="1"/>
              <a:t>Single</a:t>
            </a:r>
            <a:r>
              <a:rPr lang="ru-RU" sz="1800" dirty="0"/>
              <a:t> UNIX </a:t>
            </a:r>
            <a:r>
              <a:rPr lang="ru-RU" sz="1800" dirty="0" err="1" smtClean="0"/>
              <a:t>Specification</a:t>
            </a:r>
            <a:r>
              <a:rPr lang="ru-RU" sz="1800" dirty="0" smtClean="0"/>
              <a:t> (</a:t>
            </a:r>
            <a:r>
              <a:rPr lang="en-US" sz="1800" dirty="0" smtClean="0"/>
              <a:t>SUS)</a:t>
            </a:r>
            <a:r>
              <a:rPr lang="ru-RU" sz="1800" dirty="0" smtClean="0"/>
              <a:t> </a:t>
            </a:r>
            <a:r>
              <a:rPr lang="ru-RU" sz="1800" dirty="0"/>
              <a:t>и другие открытые стандарты, при этом расширяя и дополняя их.</a:t>
            </a:r>
          </a:p>
          <a:p>
            <a:endParaRPr lang="ru-RU" sz="1800" dirty="0" smtClean="0"/>
          </a:p>
          <a:p>
            <a:r>
              <a:rPr lang="ru-RU" sz="1800" dirty="0" smtClean="0"/>
              <a:t>Актуальная версия: </a:t>
            </a:r>
            <a:r>
              <a:rPr lang="en-US" sz="1800" dirty="0" smtClean="0"/>
              <a:t>5.0</a:t>
            </a:r>
            <a:r>
              <a:rPr lang="ru-RU" sz="1800" dirty="0" smtClean="0"/>
              <a:t> от</a:t>
            </a:r>
            <a:r>
              <a:rPr lang="en-US" sz="1800" dirty="0" smtClean="0"/>
              <a:t> 2</a:t>
            </a:r>
            <a:r>
              <a:rPr lang="ru-RU" sz="1800" dirty="0" smtClean="0"/>
              <a:t> июня</a:t>
            </a:r>
            <a:r>
              <a:rPr lang="en-US" sz="1800" dirty="0" smtClean="0"/>
              <a:t> 2015</a:t>
            </a:r>
            <a:r>
              <a:rPr lang="ru-RU" sz="1800" dirty="0" smtClean="0"/>
              <a:t>, выпущена как стандарт </a:t>
            </a:r>
            <a:r>
              <a:rPr lang="en-US" sz="1800" dirty="0" smtClean="0"/>
              <a:t>ISO/IEC 23360:2021 (</a:t>
            </a:r>
            <a:r>
              <a:rPr lang="ru-RU" sz="1800" dirty="0" smtClean="0"/>
              <a:t>не развивается)</a:t>
            </a:r>
            <a:endParaRPr lang="en-US" sz="1800" dirty="0"/>
          </a:p>
          <a:p>
            <a:endParaRPr lang="en-US" sz="1800" dirty="0" smtClean="0"/>
          </a:p>
          <a:p>
            <a:r>
              <a:rPr lang="ru-RU" sz="1800" dirty="0" smtClean="0"/>
              <a:t>LSB специфицирует:</a:t>
            </a:r>
            <a:endParaRPr lang="en-US" sz="1800" dirty="0" smtClean="0"/>
          </a:p>
          <a:p>
            <a:pPr marL="285750" lvl="5" indent="-285750">
              <a:buFont typeface="Arial" panose="020B0604020202020204" pitchFamily="34" charset="0"/>
              <a:buChar char="•"/>
            </a:pPr>
            <a:r>
              <a:rPr lang="ru-RU" sz="1800" dirty="0" smtClean="0"/>
              <a:t>стандартные библиотеки;</a:t>
            </a:r>
            <a:endParaRPr lang="en-US" sz="1800" dirty="0" smtClean="0"/>
          </a:p>
          <a:p>
            <a:pPr marL="285750" lvl="1" indent="-285750">
              <a:buFont typeface="Arial" panose="020B0604020202020204" pitchFamily="34" charset="0"/>
              <a:buChar char="•"/>
            </a:pPr>
            <a:r>
              <a:rPr lang="ru-RU" sz="1800" dirty="0" smtClean="0"/>
              <a:t>несколько </a:t>
            </a:r>
            <a:r>
              <a:rPr lang="ru-RU" sz="1800" dirty="0"/>
              <a:t>команд и утилит в дополнение к стандарту </a:t>
            </a:r>
            <a:r>
              <a:rPr lang="ru-RU" sz="1800" dirty="0" smtClean="0"/>
              <a:t>POSIX;</a:t>
            </a:r>
            <a:endParaRPr lang="en-US" sz="1800" dirty="0" smtClean="0"/>
          </a:p>
          <a:p>
            <a:pPr marL="285750" lvl="1" indent="-285750">
              <a:buFont typeface="Arial" panose="020B0604020202020204" pitchFamily="34" charset="0"/>
              <a:buChar char="•"/>
            </a:pPr>
            <a:r>
              <a:rPr lang="ru-RU" sz="1800" dirty="0" smtClean="0"/>
              <a:t>структуру </a:t>
            </a:r>
            <a:r>
              <a:rPr lang="ru-RU" sz="1800" dirty="0"/>
              <a:t>иерархии файловой </a:t>
            </a:r>
            <a:r>
              <a:rPr lang="ru-RU" sz="1800" dirty="0" smtClean="0"/>
              <a:t>системы;</a:t>
            </a:r>
            <a:endParaRPr lang="en-US" sz="1800" dirty="0" smtClean="0"/>
          </a:p>
          <a:p>
            <a:pPr marL="285750" lvl="1" indent="-285750">
              <a:buFont typeface="Arial" panose="020B0604020202020204" pitchFamily="34" charset="0"/>
              <a:buChar char="•"/>
            </a:pPr>
            <a:r>
              <a:rPr lang="ru-RU" sz="1800" dirty="0" smtClean="0"/>
              <a:t>уровни запуска;</a:t>
            </a:r>
            <a:endParaRPr lang="en-US" sz="1800" dirty="0" smtClean="0"/>
          </a:p>
          <a:p>
            <a:pPr marL="285750" lvl="1" indent="-285750">
              <a:buFont typeface="Arial" panose="020B0604020202020204" pitchFamily="34" charset="0"/>
              <a:buChar char="•"/>
            </a:pPr>
            <a:r>
              <a:rPr lang="ru-RU" sz="1800" dirty="0" smtClean="0"/>
              <a:t>различные </a:t>
            </a:r>
            <a:r>
              <a:rPr lang="ru-RU" sz="1800" dirty="0"/>
              <a:t>расширения системы X </a:t>
            </a:r>
            <a:r>
              <a:rPr lang="ru-RU" sz="1800" dirty="0" err="1"/>
              <a:t>Window</a:t>
            </a:r>
            <a:r>
              <a:rPr lang="ru-RU" sz="1800" dirty="0"/>
              <a:t> </a:t>
            </a:r>
            <a:r>
              <a:rPr lang="ru-RU" sz="1800" dirty="0" err="1"/>
              <a:t>System</a:t>
            </a:r>
            <a:r>
              <a:rPr lang="ru-RU" sz="1800" dirty="0"/>
              <a:t>.</a:t>
            </a:r>
            <a:endParaRPr lang="en-US" sz="1800" dirty="0" smtClean="0"/>
          </a:p>
          <a:p>
            <a:endParaRPr lang="ru-RU" sz="1800" dirty="0"/>
          </a:p>
          <a:p>
            <a:r>
              <a:rPr lang="ru-RU" sz="1800" dirty="0"/>
              <a:t>Цель — достичь возможности запускать приложения на любой LSB-совместимой системе и скоординировать усилия по </a:t>
            </a:r>
            <a:r>
              <a:rPr lang="ru-RU" sz="1800" dirty="0" err="1"/>
              <a:t>портированию</a:t>
            </a:r>
            <a:r>
              <a:rPr lang="ru-RU" sz="1800" dirty="0"/>
              <a:t> приложений под </a:t>
            </a:r>
            <a:r>
              <a:rPr lang="ru-RU" sz="1800" dirty="0" err="1"/>
              <a:t>Linux</a:t>
            </a:r>
            <a:r>
              <a:rPr lang="ru-RU" sz="1800" dirty="0"/>
              <a:t>. Чтобы сертифицировать программный продукт на совместимость со стандартом LSB, нужно пройти сертификационную процедуру, которая проводится </a:t>
            </a:r>
            <a:r>
              <a:rPr lang="ru-RU" sz="1800" dirty="0" err="1"/>
              <a:t>The</a:t>
            </a:r>
            <a:r>
              <a:rPr lang="ru-RU" sz="1800" dirty="0"/>
              <a:t> </a:t>
            </a:r>
            <a:r>
              <a:rPr lang="ru-RU" sz="1800" dirty="0" err="1"/>
              <a:t>Open</a:t>
            </a:r>
            <a:r>
              <a:rPr lang="ru-RU" sz="1800" dirty="0"/>
              <a:t> </a:t>
            </a:r>
            <a:r>
              <a:rPr lang="ru-RU" sz="1800" dirty="0" err="1"/>
              <a:t>Group</a:t>
            </a:r>
            <a:r>
              <a:rPr lang="ru-RU" sz="1800" dirty="0"/>
              <a:t>, сотрудничающей с </a:t>
            </a:r>
            <a:r>
              <a:rPr lang="ru-RU" sz="1800" dirty="0" err="1"/>
              <a:t>Free</a:t>
            </a:r>
            <a:r>
              <a:rPr lang="ru-RU" sz="1800" dirty="0"/>
              <a:t> </a:t>
            </a:r>
            <a:r>
              <a:rPr lang="ru-RU" sz="1800" dirty="0" err="1"/>
              <a:t>Standards</a:t>
            </a:r>
            <a:r>
              <a:rPr lang="ru-RU" sz="1800" dirty="0"/>
              <a:t> </a:t>
            </a:r>
            <a:r>
              <a:rPr lang="ru-RU" sz="1800" dirty="0" err="1"/>
              <a:t>Group</a:t>
            </a:r>
            <a:r>
              <a:rPr lang="ru-RU" sz="1800" dirty="0"/>
              <a:t>. </a:t>
            </a:r>
          </a:p>
        </p:txBody>
      </p:sp>
      <p:sp>
        <p:nvSpPr>
          <p:cNvPr id="7" name="Номер слайда 6"/>
          <p:cNvSpPr>
            <a:spLocks noGrp="1"/>
          </p:cNvSpPr>
          <p:nvPr>
            <p:ph type="sldNum" idx="12"/>
          </p:nvPr>
        </p:nvSpPr>
        <p:spPr/>
        <p:txBody>
          <a:bodyPr/>
          <a:lstStyle/>
          <a:p>
            <a:fld id="{725C68B6-61C2-468F-89AB-4B9F7531AA68}" type="slidenum">
              <a:rPr lang="ru-RU" smtClean="0">
                <a:latin typeface="Arial"/>
                <a:cs typeface="Arial"/>
                <a:sym typeface="Arial"/>
              </a:rPr>
              <a:pPr/>
              <a:t>4</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4077551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838200" y="365127"/>
            <a:ext cx="3241576"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ru-RU" b="1" i="1" dirty="0">
                <a:latin typeface="Arial"/>
                <a:ea typeface="Arial"/>
                <a:cs typeface="Arial"/>
                <a:sym typeface="Arial"/>
              </a:rPr>
              <a:t>Терминал</a:t>
            </a:r>
            <a:r>
              <a:rPr lang="ru-RU" b="1" i="1" dirty="0">
                <a:solidFill>
                  <a:srgbClr val="364364"/>
                </a:solidFill>
                <a:latin typeface="Arial"/>
                <a:ea typeface="Arial"/>
                <a:cs typeface="Arial"/>
                <a:sym typeface="Arial"/>
              </a:rPr>
              <a:t> </a:t>
            </a:r>
            <a:endParaRPr dirty="0"/>
          </a:p>
        </p:txBody>
      </p:sp>
      <p:sp>
        <p:nvSpPr>
          <p:cNvPr id="97" name="Google Shape;97;p3"/>
          <p:cNvSpPr txBox="1">
            <a:spLocks noGrp="1"/>
          </p:cNvSpPr>
          <p:nvPr>
            <p:ph type="body" idx="1"/>
          </p:nvPr>
        </p:nvSpPr>
        <p:spPr>
          <a:xfrm>
            <a:off x="839416" y="1484784"/>
            <a:ext cx="10515600" cy="4351338"/>
          </a:xfrm>
          <a:prstGeom prst="rect">
            <a:avLst/>
          </a:prstGeom>
          <a:noFill/>
          <a:ln>
            <a:noFill/>
          </a:ln>
        </p:spPr>
        <p:txBody>
          <a:bodyPr spcFirstLastPara="1" wrap="square" lIns="91425" tIns="45700" rIns="91425" bIns="45700" anchor="t" anchorCtr="0">
            <a:normAutofit/>
          </a:bodyPr>
          <a:lstStyle/>
          <a:p>
            <a:pPr marL="228600" indent="-228600">
              <a:buSzPts val="2800"/>
            </a:pPr>
            <a:r>
              <a:rPr lang="ru-RU" dirty="0" smtClean="0">
                <a:latin typeface="Calibri" panose="020F0502020204030204" pitchFamily="34" charset="0"/>
                <a:ea typeface="Arial"/>
                <a:cs typeface="Calibri" panose="020F0502020204030204" pitchFamily="34" charset="0"/>
                <a:sym typeface="Arial"/>
              </a:rPr>
              <a:t>Терминал - </a:t>
            </a:r>
            <a:r>
              <a:rPr lang="ru-RU" dirty="0"/>
              <a:t>интерфейс, предоставляющий пользователю возможность взаимодействовать с локальной или удалённой операционной </a:t>
            </a:r>
            <a:r>
              <a:rPr lang="ru-RU" dirty="0" smtClean="0"/>
              <a:t>системой</a:t>
            </a:r>
            <a:r>
              <a:rPr lang="ru-RU" b="0" dirty="0" smtClean="0">
                <a:latin typeface="Calibri" panose="020F0502020204030204" pitchFamily="34" charset="0"/>
                <a:ea typeface="Arial"/>
                <a:cs typeface="Calibri" panose="020F0502020204030204" pitchFamily="34" charset="0"/>
                <a:sym typeface="Arial"/>
              </a:rPr>
              <a:t>. </a:t>
            </a:r>
            <a:endParaRPr lang="en-US" b="0" dirty="0" smtClean="0">
              <a:latin typeface="Calibri" panose="020F0502020204030204" pitchFamily="34" charset="0"/>
              <a:ea typeface="Arial"/>
              <a:cs typeface="Calibri" panose="020F0502020204030204" pitchFamily="34" charset="0"/>
              <a:sym typeface="Arial"/>
            </a:endParaRPr>
          </a:p>
          <a:p>
            <a:pPr marL="228600" indent="-228600">
              <a:buSzPts val="2800"/>
            </a:pPr>
            <a:r>
              <a:rPr lang="ru-RU" dirty="0" smtClean="0"/>
              <a:t>Предполагается, что к терминал</a:t>
            </a:r>
            <a:r>
              <a:rPr lang="ru-RU" dirty="0"/>
              <a:t>у</a:t>
            </a:r>
            <a:r>
              <a:rPr lang="ru-RU" dirty="0" smtClean="0"/>
              <a:t> подключен интерпретатор команд (</a:t>
            </a:r>
            <a:r>
              <a:rPr lang="ru-RU" dirty="0" err="1" smtClean="0"/>
              <a:t>командая</a:t>
            </a:r>
            <a:r>
              <a:rPr lang="ru-RU" dirty="0" smtClean="0"/>
              <a:t> оболочка, </a:t>
            </a:r>
            <a:r>
              <a:rPr lang="en-US" dirty="0" smtClean="0"/>
              <a:t>shell): </a:t>
            </a:r>
            <a:r>
              <a:rPr lang="en-US" dirty="0" err="1" smtClean="0"/>
              <a:t>sh</a:t>
            </a:r>
            <a:r>
              <a:rPr lang="en-US" dirty="0" smtClean="0"/>
              <a:t>, bash, </a:t>
            </a:r>
            <a:r>
              <a:rPr lang="en-US" dirty="0" err="1" smtClean="0"/>
              <a:t>zsh</a:t>
            </a:r>
            <a:r>
              <a:rPr lang="en-US" dirty="0" smtClean="0"/>
              <a:t>, </a:t>
            </a:r>
            <a:r>
              <a:rPr lang="en-US" dirty="0" err="1" smtClean="0"/>
              <a:t>ksh</a:t>
            </a:r>
            <a:r>
              <a:rPr lang="en-US" dirty="0" smtClean="0"/>
              <a:t>, </a:t>
            </a:r>
            <a:r>
              <a:rPr lang="ru-RU" dirty="0" smtClean="0"/>
              <a:t>и др.</a:t>
            </a:r>
            <a:endParaRPr lang="en-US" dirty="0" smtClean="0"/>
          </a:p>
          <a:p>
            <a:pPr marL="228600" lvl="0" indent="-228600">
              <a:spcBef>
                <a:spcPts val="0"/>
              </a:spcBef>
              <a:buSzPts val="2800"/>
            </a:pPr>
            <a:endParaRPr lang="ru-RU" dirty="0" smtClean="0">
              <a:latin typeface="Arial"/>
              <a:ea typeface="Arial"/>
              <a:cs typeface="Arial"/>
              <a:sym typeface="Arial"/>
            </a:endParaRPr>
          </a:p>
          <a:p>
            <a:pPr marL="228600" lvl="0" indent="-228600">
              <a:spcBef>
                <a:spcPts val="0"/>
              </a:spcBef>
              <a:buSzPts val="2800"/>
            </a:pPr>
            <a:r>
              <a:rPr lang="ru-RU" dirty="0" smtClean="0">
                <a:latin typeface="Calibri" panose="020F0502020204030204" pitchFamily="34" charset="0"/>
                <a:ea typeface="Arial"/>
                <a:cs typeface="Calibri" panose="020F0502020204030204" pitchFamily="34" charset="0"/>
                <a:sym typeface="Arial"/>
              </a:rPr>
              <a:t>Команда - это </a:t>
            </a:r>
            <a:r>
              <a:rPr lang="ru-RU" dirty="0">
                <a:latin typeface="Calibri" panose="020F0502020204030204" pitchFamily="34" charset="0"/>
                <a:ea typeface="Arial"/>
                <a:cs typeface="Calibri" panose="020F0502020204030204" pitchFamily="34" charset="0"/>
                <a:sym typeface="Arial"/>
              </a:rPr>
              <a:t>название </a:t>
            </a:r>
            <a:r>
              <a:rPr lang="ru-RU" dirty="0" smtClean="0">
                <a:latin typeface="Calibri" panose="020F0502020204030204" pitchFamily="34" charset="0"/>
                <a:ea typeface="Arial"/>
                <a:cs typeface="Calibri" panose="020F0502020204030204" pitchFamily="34" charset="0"/>
                <a:sym typeface="Arial"/>
              </a:rPr>
              <a:t>программы</a:t>
            </a:r>
            <a:r>
              <a:rPr lang="en-US" dirty="0" smtClean="0">
                <a:latin typeface="Calibri" panose="020F0502020204030204" pitchFamily="34" charset="0"/>
                <a:ea typeface="Arial"/>
                <a:cs typeface="Calibri" panose="020F0502020204030204" pitchFamily="34" charset="0"/>
                <a:sym typeface="Arial"/>
              </a:rPr>
              <a:t> </a:t>
            </a:r>
            <a:r>
              <a:rPr lang="ru-RU" dirty="0" smtClean="0">
                <a:latin typeface="Calibri" panose="020F0502020204030204" pitchFamily="34" charset="0"/>
                <a:ea typeface="Arial"/>
                <a:cs typeface="Calibri" panose="020F0502020204030204" pitchFamily="34" charset="0"/>
                <a:sym typeface="Arial"/>
              </a:rPr>
              <a:t>или встроенной функции интерпретатора команд, </a:t>
            </a:r>
            <a:r>
              <a:rPr lang="ru-RU" dirty="0">
                <a:latin typeface="Calibri" panose="020F0502020204030204" pitchFamily="34" charset="0"/>
                <a:ea typeface="Arial"/>
                <a:cs typeface="Calibri" panose="020F0502020204030204" pitchFamily="34" charset="0"/>
                <a:sym typeface="Arial"/>
              </a:rPr>
              <a:t>которое пользователь вводит в терминале для выполнения определённой задачи </a:t>
            </a:r>
          </a:p>
          <a:p>
            <a:pPr marL="0" lvl="0" indent="0">
              <a:buSzPts val="2800"/>
              <a:buNone/>
            </a:pPr>
            <a:r>
              <a:rPr lang="ru-RU" dirty="0" smtClean="0">
                <a:latin typeface="Calibri" panose="020F0502020204030204" pitchFamily="34" charset="0"/>
                <a:ea typeface="Arial"/>
                <a:cs typeface="Calibri" panose="020F0502020204030204" pitchFamily="34" charset="0"/>
                <a:sym typeface="Arial"/>
              </a:rPr>
              <a:t>	!Команды </a:t>
            </a:r>
            <a:r>
              <a:rPr lang="ru-RU" dirty="0">
                <a:latin typeface="Calibri" panose="020F0502020204030204" pitchFamily="34" charset="0"/>
                <a:ea typeface="Arial"/>
                <a:cs typeface="Calibri" panose="020F0502020204030204" pitchFamily="34" charset="0"/>
                <a:sym typeface="Arial"/>
              </a:rPr>
              <a:t>могут иметь дополнительные параметры</a:t>
            </a:r>
            <a:endParaRPr lang="ru-RU" dirty="0">
              <a:latin typeface="Calibri" panose="020F0502020204030204" pitchFamily="34" charset="0"/>
              <a:cs typeface="Calibri" panose="020F0502020204030204" pitchFamily="34" charset="0"/>
            </a:endParaRPr>
          </a:p>
          <a:p>
            <a:pPr marL="228600" lvl="0" indent="-228600" algn="l" rtl="0">
              <a:lnSpc>
                <a:spcPct val="90000"/>
              </a:lnSpc>
              <a:spcBef>
                <a:spcPts val="1000"/>
              </a:spcBef>
              <a:spcAft>
                <a:spcPts val="0"/>
              </a:spcAft>
              <a:buClr>
                <a:schemeClr val="dk1"/>
              </a:buClr>
              <a:buSzPts val="2800"/>
              <a:buChar char="•"/>
            </a:pPr>
            <a:endParaRPr lang="en-US" dirty="0" smtClean="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5</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838200" y="365127"/>
            <a:ext cx="3241576"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ru-RU" b="1" i="1" dirty="0">
                <a:latin typeface="Arial"/>
                <a:ea typeface="Arial"/>
                <a:cs typeface="Arial"/>
                <a:sym typeface="Arial"/>
              </a:rPr>
              <a:t>Терминал</a:t>
            </a:r>
            <a:r>
              <a:rPr lang="ru-RU" b="1" i="1" dirty="0">
                <a:solidFill>
                  <a:srgbClr val="364364"/>
                </a:solidFill>
                <a:latin typeface="Arial"/>
                <a:ea typeface="Arial"/>
                <a:cs typeface="Arial"/>
                <a:sym typeface="Arial"/>
              </a:rPr>
              <a:t> </a:t>
            </a: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6</a:t>
            </a:fld>
            <a:r>
              <a:rPr lang="ru-RU" smtClean="0">
                <a:latin typeface="Arial"/>
                <a:cs typeface="Arial"/>
                <a:sym typeface="Arial"/>
              </a:rPr>
              <a:t> / 54</a:t>
            </a:r>
            <a:endParaRPr lang="ru-RU" dirty="0" smtClean="0">
              <a:latin typeface="Arial"/>
              <a:cs typeface="Arial"/>
              <a:sym typeface="Aria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314" y="1917849"/>
            <a:ext cx="10547623" cy="2520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Прямоугольник 2"/>
          <p:cNvSpPr/>
          <p:nvPr/>
        </p:nvSpPr>
        <p:spPr>
          <a:xfrm>
            <a:off x="839416" y="4581128"/>
            <a:ext cx="2274982" cy="1600438"/>
          </a:xfrm>
          <a:prstGeom prst="rect">
            <a:avLst/>
          </a:prstGeom>
        </p:spPr>
        <p:txBody>
          <a:bodyPr wrap="none">
            <a:spAutoFit/>
          </a:bodyPr>
          <a:lstStyle/>
          <a:p>
            <a:r>
              <a:rPr lang="es-ES" b="1" dirty="0" smtClean="0"/>
              <a:t>tty </a:t>
            </a:r>
            <a:endParaRPr lang="es-ES" b="1" dirty="0"/>
          </a:p>
          <a:p>
            <a:r>
              <a:rPr lang="es-ES" dirty="0"/>
              <a:t>/dev/pts/0</a:t>
            </a:r>
          </a:p>
          <a:p>
            <a:r>
              <a:rPr lang="es-ES" b="1" dirty="0" smtClean="0"/>
              <a:t>echo </a:t>
            </a:r>
            <a:r>
              <a:rPr lang="es-ES" b="1" dirty="0"/>
              <a:t>"hello!" &gt;/dev/null </a:t>
            </a:r>
            <a:endParaRPr lang="es-ES" dirty="0" smtClean="0"/>
          </a:p>
          <a:p>
            <a:r>
              <a:rPr lang="es-ES" b="1" dirty="0" smtClean="0"/>
              <a:t>echo </a:t>
            </a:r>
            <a:r>
              <a:rPr lang="es-ES" b="1" dirty="0"/>
              <a:t>"hello!" &gt;/dev/pts/0</a:t>
            </a:r>
          </a:p>
          <a:p>
            <a:r>
              <a:rPr lang="es-ES" dirty="0"/>
              <a:t>hello!</a:t>
            </a:r>
          </a:p>
          <a:p>
            <a:r>
              <a:rPr lang="es-ES" b="1" dirty="0" smtClean="0"/>
              <a:t>echo </a:t>
            </a:r>
            <a:r>
              <a:rPr lang="es-ES" b="1" dirty="0"/>
              <a:t>$SHELL</a:t>
            </a:r>
          </a:p>
          <a:p>
            <a:r>
              <a:rPr lang="es-ES" dirty="0"/>
              <a:t>/bin/bash</a:t>
            </a:r>
            <a:endParaRPr lang="ru-RU" dirty="0"/>
          </a:p>
        </p:txBody>
      </p:sp>
      <p:sp>
        <p:nvSpPr>
          <p:cNvPr id="4" name="Прямоугольник 3"/>
          <p:cNvSpPr/>
          <p:nvPr/>
        </p:nvSpPr>
        <p:spPr>
          <a:xfrm>
            <a:off x="6312024" y="1412776"/>
            <a:ext cx="2331087" cy="338554"/>
          </a:xfrm>
          <a:prstGeom prst="rect">
            <a:avLst/>
          </a:prstGeom>
        </p:spPr>
        <p:txBody>
          <a:bodyPr wrap="none">
            <a:spAutoFit/>
          </a:bodyPr>
          <a:lstStyle/>
          <a:p>
            <a:r>
              <a:rPr lang="ru-RU" sz="1600" dirty="0" smtClean="0">
                <a:latin typeface="Calibri" panose="020F0502020204030204" pitchFamily="34" charset="0"/>
                <a:cs typeface="Calibri" panose="020F0502020204030204" pitchFamily="34" charset="0"/>
              </a:rPr>
              <a:t>эмулятор терминала, </a:t>
            </a:r>
            <a:r>
              <a:rPr lang="en-US" sz="1600" dirty="0" err="1" smtClean="0">
                <a:latin typeface="Calibri" panose="020F0502020204030204" pitchFamily="34" charset="0"/>
                <a:cs typeface="Calibri" panose="020F0502020204030204" pitchFamily="34" charset="0"/>
              </a:rPr>
              <a:t>tty</a:t>
            </a:r>
            <a:endParaRPr lang="ru-RU" sz="1600" dirty="0"/>
          </a:p>
        </p:txBody>
      </p:sp>
      <p:cxnSp>
        <p:nvCxnSpPr>
          <p:cNvPr id="7" name="Прямая со стрелкой 6"/>
          <p:cNvCxnSpPr/>
          <p:nvPr/>
        </p:nvCxnSpPr>
        <p:spPr>
          <a:xfrm>
            <a:off x="7248128" y="1772816"/>
            <a:ext cx="0" cy="43204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6923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title"/>
          </p:nvPr>
        </p:nvSpPr>
        <p:spPr>
          <a:xfrm>
            <a:off x="570914" y="322924"/>
            <a:ext cx="10349623"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ru-RU" dirty="0" smtClean="0"/>
              <a:t>Загрузка</a:t>
            </a:r>
            <a:r>
              <a:rPr lang="en-US" dirty="0" smtClean="0"/>
              <a:t> Linux</a:t>
            </a:r>
            <a:endParaRPr dirty="0"/>
          </a:p>
        </p:txBody>
      </p:sp>
      <p:pic>
        <p:nvPicPr>
          <p:cNvPr id="2052" name="Picture 4" descr="C:\Users\Sergei\YandexDisk\Интернет\Eltex linux весна 2025\bios-vs-uef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513" y="1772816"/>
            <a:ext cx="8722303" cy="4464496"/>
          </a:xfrm>
          <a:prstGeom prst="rect">
            <a:avLst/>
          </a:prstGeom>
          <a:noFill/>
          <a:extLst>
            <a:ext uri="{909E8E84-426E-40DD-AFC4-6F175D3DCCD1}">
              <a14:hiddenFill xmlns:a14="http://schemas.microsoft.com/office/drawing/2010/main">
                <a:solidFill>
                  <a:srgbClr val="FFFFFF"/>
                </a:solidFill>
              </a14:hiddenFill>
            </a:ext>
          </a:extLst>
        </p:spPr>
      </p:pic>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7</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title"/>
          </p:nvPr>
        </p:nvSpPr>
        <p:spPr>
          <a:xfrm>
            <a:off x="570914" y="322924"/>
            <a:ext cx="10349623"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ru-RU" dirty="0" smtClean="0"/>
              <a:t>Загрузка</a:t>
            </a:r>
            <a:r>
              <a:rPr lang="en-US" dirty="0" smtClean="0"/>
              <a:t> Linux: (BIOS/Legacy)</a:t>
            </a:r>
            <a:endParaRPr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9737" y="1700808"/>
            <a:ext cx="5092700" cy="4603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8</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1778565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ru-RU"/>
              <a:t>BIOS</a:t>
            </a:r>
            <a:endParaRPr/>
          </a:p>
        </p:txBody>
      </p:sp>
      <p:sp>
        <p:nvSpPr>
          <p:cNvPr id="115" name="Google Shape;115;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BIOS отвечает за базовый ввод/вывод данных с устройств/на устройства.</a:t>
            </a:r>
            <a:endParaRPr dirty="0"/>
          </a:p>
          <a:p>
            <a:pPr marL="228600" lvl="0" indent="-228600" algn="l" rtl="0">
              <a:lnSpc>
                <a:spcPct val="90000"/>
              </a:lnSpc>
              <a:spcBef>
                <a:spcPts val="10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Делает некоторые проверки целостности устройств. К тому же, за тестирование работоспособности электроники отвечает POST (</a:t>
            </a:r>
            <a:r>
              <a:rPr lang="ru-RU" b="0" i="0" dirty="0" err="1">
                <a:solidFill>
                  <a:srgbClr val="111111"/>
                </a:solidFill>
                <a:latin typeface="Arial"/>
                <a:ea typeface="Arial"/>
                <a:cs typeface="Arial"/>
                <a:sym typeface="Arial"/>
              </a:rPr>
              <a:t>Power-on</a:t>
            </a:r>
            <a:r>
              <a:rPr lang="ru-RU" b="0" i="0" dirty="0">
                <a:solidFill>
                  <a:srgbClr val="111111"/>
                </a:solidFill>
                <a:latin typeface="Arial"/>
                <a:ea typeface="Arial"/>
                <a:cs typeface="Arial"/>
                <a:sym typeface="Arial"/>
              </a:rPr>
              <a:t> </a:t>
            </a:r>
            <a:r>
              <a:rPr lang="ru-RU" b="0" i="0" dirty="0" err="1">
                <a:solidFill>
                  <a:srgbClr val="111111"/>
                </a:solidFill>
                <a:latin typeface="Arial"/>
                <a:ea typeface="Arial"/>
                <a:cs typeface="Arial"/>
                <a:sym typeface="Arial"/>
              </a:rPr>
              <a:t>self-test</a:t>
            </a:r>
            <a:r>
              <a:rPr lang="ru-RU" b="0" i="0" dirty="0">
                <a:solidFill>
                  <a:srgbClr val="111111"/>
                </a:solidFill>
                <a:latin typeface="Arial"/>
                <a:ea typeface="Arial"/>
                <a:cs typeface="Arial"/>
                <a:sym typeface="Arial"/>
              </a:rPr>
              <a:t>, он же «тест на адекватность себя самого», выполняющийся как этап пре-загрузки), который управляется BIOS</a:t>
            </a:r>
            <a:endParaRPr dirty="0"/>
          </a:p>
          <a:p>
            <a:pPr marL="228600" lvl="0" indent="-228600" algn="l" rtl="0">
              <a:lnSpc>
                <a:spcPct val="90000"/>
              </a:lnSpc>
              <a:spcBef>
                <a:spcPts val="1000"/>
              </a:spcBef>
              <a:spcAft>
                <a:spcPts val="0"/>
              </a:spcAft>
              <a:buClr>
                <a:srgbClr val="111111"/>
              </a:buClr>
              <a:buSzPct val="100000"/>
              <a:buFont typeface="Arial"/>
              <a:buChar char="•"/>
            </a:pPr>
            <a:r>
              <a:rPr lang="ru-RU" b="0" i="0" smtClean="0">
                <a:solidFill>
                  <a:srgbClr val="111111"/>
                </a:solidFill>
                <a:latin typeface="Arial"/>
                <a:ea typeface="Arial"/>
                <a:cs typeface="Arial"/>
                <a:sym typeface="Arial"/>
              </a:rPr>
              <a:t>Берет </a:t>
            </a:r>
            <a:r>
              <a:rPr lang="ru-RU" b="0" i="0" dirty="0">
                <a:solidFill>
                  <a:srgbClr val="111111"/>
                </a:solidFill>
                <a:latin typeface="Arial"/>
                <a:ea typeface="Arial"/>
                <a:cs typeface="Arial"/>
                <a:sym typeface="Arial"/>
              </a:rPr>
              <a:t>загрузчик из FDD, CD, HDD, SSD. Во время загрузки </a:t>
            </a:r>
            <a:r>
              <a:rPr lang="ru-RU" b="0" i="0" dirty="0" err="1">
                <a:solidFill>
                  <a:srgbClr val="111111"/>
                </a:solidFill>
                <a:latin typeface="Arial"/>
                <a:ea typeface="Arial"/>
                <a:cs typeface="Arial"/>
                <a:sym typeface="Arial"/>
              </a:rPr>
              <a:t>BIOS'а</a:t>
            </a:r>
            <a:r>
              <a:rPr lang="ru-RU" b="0" i="0" dirty="0">
                <a:solidFill>
                  <a:srgbClr val="111111"/>
                </a:solidFill>
                <a:latin typeface="Arial"/>
                <a:ea typeface="Arial"/>
                <a:cs typeface="Arial"/>
                <a:sym typeface="Arial"/>
              </a:rPr>
              <a:t> вы можете нажать на кнопку (обычно это F12 или F2 или </a:t>
            </a:r>
            <a:r>
              <a:rPr lang="ru-RU" b="0" i="0" dirty="0" err="1">
                <a:solidFill>
                  <a:srgbClr val="111111"/>
                </a:solidFill>
                <a:latin typeface="Arial"/>
                <a:ea typeface="Arial"/>
                <a:cs typeface="Arial"/>
                <a:sym typeface="Arial"/>
              </a:rPr>
              <a:t>Del</a:t>
            </a:r>
            <a:r>
              <a:rPr lang="ru-RU" b="0" i="0" dirty="0">
                <a:solidFill>
                  <a:srgbClr val="111111"/>
                </a:solidFill>
                <a:latin typeface="Arial"/>
                <a:ea typeface="Arial"/>
                <a:cs typeface="Arial"/>
                <a:sym typeface="Arial"/>
              </a:rPr>
              <a:t>, зависит от платформы), если вам требуется внести некоторые изменения касательно настройки железа.</a:t>
            </a:r>
            <a:endParaRPr dirty="0"/>
          </a:p>
          <a:p>
            <a:pPr marL="228600" lvl="0" indent="-228600" algn="l" rtl="0">
              <a:lnSpc>
                <a:spcPct val="90000"/>
              </a:lnSpc>
              <a:spcBef>
                <a:spcPts val="1000"/>
              </a:spcBef>
              <a:spcAft>
                <a:spcPts val="0"/>
              </a:spcAft>
              <a:buClr>
                <a:srgbClr val="111111"/>
              </a:buClr>
              <a:buSzPct val="100000"/>
              <a:buFont typeface="Arial"/>
              <a:buChar char="•"/>
            </a:pPr>
            <a:r>
              <a:rPr lang="ru-RU" dirty="0">
                <a:solidFill>
                  <a:srgbClr val="111111"/>
                </a:solidFill>
                <a:latin typeface="Arial"/>
                <a:ea typeface="Arial"/>
                <a:cs typeface="Arial"/>
                <a:sym typeface="Arial"/>
              </a:rPr>
              <a:t>Когда </a:t>
            </a:r>
            <a:r>
              <a:rPr lang="ru-RU" b="0" i="0" dirty="0">
                <a:solidFill>
                  <a:srgbClr val="111111"/>
                </a:solidFill>
                <a:latin typeface="Arial"/>
                <a:ea typeface="Arial"/>
                <a:cs typeface="Arial"/>
                <a:sym typeface="Arial"/>
              </a:rPr>
              <a:t>загрузчик был обнаружен и загружен в память, BIOS передает управление </a:t>
            </a:r>
            <a:r>
              <a:rPr lang="ru-RU" b="0" i="0" dirty="0" smtClean="0">
                <a:solidFill>
                  <a:srgbClr val="111111"/>
                </a:solidFill>
                <a:latin typeface="Arial"/>
                <a:ea typeface="Arial"/>
                <a:cs typeface="Arial"/>
                <a:sym typeface="Arial"/>
              </a:rPr>
              <a:t>ему (</a:t>
            </a:r>
            <a:r>
              <a:rPr lang="en-US" b="0" i="0" dirty="0" smtClean="0">
                <a:solidFill>
                  <a:srgbClr val="111111"/>
                </a:solidFill>
                <a:latin typeface="Arial"/>
                <a:ea typeface="Arial"/>
                <a:cs typeface="Arial"/>
                <a:sym typeface="Arial"/>
              </a:rPr>
              <a:t>MBR)</a:t>
            </a:r>
            <a:r>
              <a:rPr lang="ru-RU" b="0" i="0" dirty="0" smtClean="0">
                <a:solidFill>
                  <a:srgbClr val="111111"/>
                </a:solidFill>
                <a:latin typeface="Arial"/>
                <a:ea typeface="Arial"/>
                <a:cs typeface="Arial"/>
                <a:sym typeface="Arial"/>
              </a:rPr>
              <a:t>.</a:t>
            </a:r>
            <a:endParaRPr dirty="0"/>
          </a:p>
          <a:p>
            <a:pPr marL="228600" lvl="0" indent="-77470" algn="l" rtl="0">
              <a:lnSpc>
                <a:spcPct val="90000"/>
              </a:lnSpc>
              <a:spcBef>
                <a:spcPts val="1000"/>
              </a:spcBef>
              <a:spcAft>
                <a:spcPts val="0"/>
              </a:spcAft>
              <a:buClr>
                <a:schemeClr val="dk1"/>
              </a:buClr>
              <a:buSzPct val="100000"/>
              <a:buNone/>
            </a:pP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9</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7"/>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ru-RU"/>
              <a:t>MBR</a:t>
            </a:r>
            <a:endParaRPr/>
          </a:p>
        </p:txBody>
      </p:sp>
      <p:sp>
        <p:nvSpPr>
          <p:cNvPr id="121" name="Google Shape;121;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111111"/>
              </a:buClr>
              <a:buSzPts val="2800"/>
              <a:buFont typeface="Arial"/>
              <a:buChar char="•"/>
            </a:pPr>
            <a:r>
              <a:rPr lang="ru-RU" b="0" i="0" dirty="0">
                <a:solidFill>
                  <a:srgbClr val="111111"/>
                </a:solidFill>
                <a:latin typeface="Arial"/>
                <a:ea typeface="Arial"/>
                <a:cs typeface="Arial"/>
                <a:sym typeface="Arial"/>
              </a:rPr>
              <a:t>MBR — это главная загрузочная запись, хранящаяся на жестком диске</a:t>
            </a:r>
            <a:endParaRPr dirty="0"/>
          </a:p>
          <a:p>
            <a:pPr marL="228600" lvl="0" indent="-228600" algn="l" rtl="0">
              <a:lnSpc>
                <a:spcPct val="90000"/>
              </a:lnSpc>
              <a:spcBef>
                <a:spcPts val="1000"/>
              </a:spcBef>
              <a:spcAft>
                <a:spcPts val="0"/>
              </a:spcAft>
              <a:buClr>
                <a:srgbClr val="111111"/>
              </a:buClr>
              <a:buSzPts val="2800"/>
              <a:buFont typeface="Arial"/>
              <a:buChar char="•"/>
            </a:pPr>
            <a:r>
              <a:rPr lang="ru-RU" b="0" i="0" dirty="0">
                <a:solidFill>
                  <a:srgbClr val="111111"/>
                </a:solidFill>
                <a:latin typeface="Arial"/>
                <a:ea typeface="Arial"/>
                <a:cs typeface="Arial"/>
                <a:sym typeface="Arial"/>
              </a:rPr>
              <a:t>Она размещена в 1-м секторе загрузочного диска, например /</a:t>
            </a:r>
            <a:r>
              <a:rPr lang="ru-RU" b="0" i="0" dirty="0" err="1">
                <a:solidFill>
                  <a:srgbClr val="111111"/>
                </a:solidFill>
                <a:latin typeface="Arial"/>
                <a:ea typeface="Arial"/>
                <a:cs typeface="Arial"/>
                <a:sym typeface="Arial"/>
              </a:rPr>
              <a:t>dev</a:t>
            </a:r>
            <a:r>
              <a:rPr lang="ru-RU" b="0" i="0" dirty="0">
                <a:solidFill>
                  <a:srgbClr val="111111"/>
                </a:solidFill>
                <a:latin typeface="Arial"/>
                <a:ea typeface="Arial"/>
                <a:cs typeface="Arial"/>
                <a:sym typeface="Arial"/>
              </a:rPr>
              <a:t>/</a:t>
            </a:r>
            <a:r>
              <a:rPr lang="ru-RU" b="0" i="0" dirty="0" err="1">
                <a:solidFill>
                  <a:srgbClr val="111111"/>
                </a:solidFill>
                <a:latin typeface="Arial"/>
                <a:ea typeface="Arial"/>
                <a:cs typeface="Arial"/>
                <a:sym typeface="Arial"/>
              </a:rPr>
              <a:t>hda</a:t>
            </a:r>
            <a:r>
              <a:rPr lang="ru-RU" b="0" i="0" dirty="0">
                <a:solidFill>
                  <a:srgbClr val="111111"/>
                </a:solidFill>
                <a:latin typeface="Arial"/>
                <a:ea typeface="Arial"/>
                <a:cs typeface="Arial"/>
                <a:sym typeface="Arial"/>
              </a:rPr>
              <a:t> или /</a:t>
            </a:r>
            <a:r>
              <a:rPr lang="ru-RU" b="0" i="0" dirty="0" err="1">
                <a:solidFill>
                  <a:srgbClr val="111111"/>
                </a:solidFill>
                <a:latin typeface="Arial"/>
                <a:ea typeface="Arial"/>
                <a:cs typeface="Arial"/>
                <a:sym typeface="Arial"/>
              </a:rPr>
              <a:t>dev</a:t>
            </a:r>
            <a:r>
              <a:rPr lang="ru-RU" b="0" i="0" dirty="0">
                <a:solidFill>
                  <a:srgbClr val="111111"/>
                </a:solidFill>
                <a:latin typeface="Arial"/>
                <a:ea typeface="Arial"/>
                <a:cs typeface="Arial"/>
                <a:sym typeface="Arial"/>
              </a:rPr>
              <a:t>/</a:t>
            </a:r>
            <a:r>
              <a:rPr lang="ru-RU" b="0" i="0" dirty="0" err="1">
                <a:solidFill>
                  <a:srgbClr val="111111"/>
                </a:solidFill>
                <a:latin typeface="Arial"/>
                <a:ea typeface="Arial"/>
                <a:cs typeface="Arial"/>
                <a:sym typeface="Arial"/>
              </a:rPr>
              <a:t>sda</a:t>
            </a:r>
            <a:endParaRPr b="0" i="0" dirty="0">
              <a:solidFill>
                <a:srgbClr val="111111"/>
              </a:solidFill>
              <a:latin typeface="Arial"/>
              <a:ea typeface="Arial"/>
              <a:cs typeface="Arial"/>
              <a:sym typeface="Arial"/>
            </a:endParaRPr>
          </a:p>
          <a:p>
            <a:pPr marL="228600" lvl="0" indent="-228600" algn="l" rtl="0">
              <a:lnSpc>
                <a:spcPct val="90000"/>
              </a:lnSpc>
              <a:spcBef>
                <a:spcPts val="1000"/>
              </a:spcBef>
              <a:spcAft>
                <a:spcPts val="0"/>
              </a:spcAft>
              <a:buClr>
                <a:srgbClr val="111111"/>
              </a:buClr>
              <a:buSzPts val="2800"/>
              <a:buFont typeface="Arial"/>
              <a:buChar char="•"/>
            </a:pPr>
            <a:r>
              <a:rPr lang="ru-RU" b="0" i="0" dirty="0">
                <a:solidFill>
                  <a:srgbClr val="111111"/>
                </a:solidFill>
                <a:latin typeface="Arial"/>
                <a:ea typeface="Arial"/>
                <a:cs typeface="Arial"/>
                <a:sym typeface="Arial"/>
              </a:rPr>
              <a:t>MBR занимает меньше, чем 512 байтов. Она состоит из трех компонентов: 1) главная загрузочная информация, «живущая» в первых 446 байтах; 2) информация о таблице разделов — в следующих 64 байтах; 3) и последние 2 байта нужны для проверки корректности </a:t>
            </a:r>
            <a:r>
              <a:rPr lang="ru-RU" b="0" i="0" dirty="0" err="1">
                <a:solidFill>
                  <a:srgbClr val="111111"/>
                </a:solidFill>
                <a:latin typeface="Arial"/>
                <a:ea typeface="Arial"/>
                <a:cs typeface="Arial"/>
                <a:sym typeface="Arial"/>
              </a:rPr>
              <a:t>mbr</a:t>
            </a:r>
            <a:r>
              <a:rPr lang="ru-RU" b="0" i="0" dirty="0">
                <a:solidFill>
                  <a:srgbClr val="111111"/>
                </a:solidFill>
                <a:latin typeface="Arial"/>
                <a:ea typeface="Arial"/>
                <a:cs typeface="Arial"/>
                <a:sym typeface="Arial"/>
              </a:rPr>
              <a:t>.</a:t>
            </a:r>
            <a:endParaRPr dirty="0"/>
          </a:p>
          <a:p>
            <a:pPr marL="228600" lvl="0" indent="-228600" algn="l" rtl="0">
              <a:lnSpc>
                <a:spcPct val="90000"/>
              </a:lnSpc>
              <a:spcBef>
                <a:spcPts val="1000"/>
              </a:spcBef>
              <a:spcAft>
                <a:spcPts val="0"/>
              </a:spcAft>
              <a:buClr>
                <a:srgbClr val="111111"/>
              </a:buClr>
              <a:buSzPts val="2800"/>
              <a:buFont typeface="Arial"/>
              <a:buChar char="•"/>
            </a:pPr>
            <a:r>
              <a:rPr lang="ru-RU" b="0" i="0" dirty="0">
                <a:solidFill>
                  <a:srgbClr val="111111"/>
                </a:solidFill>
                <a:latin typeface="Arial"/>
                <a:ea typeface="Arial"/>
                <a:cs typeface="Arial"/>
                <a:sym typeface="Arial"/>
              </a:rPr>
              <a:t>Она содержит информацию о GRUB (или LILO).</a:t>
            </a:r>
            <a:endParaRPr dirty="0"/>
          </a:p>
          <a:p>
            <a:pPr marL="228600" lvl="0" indent="-50800" algn="l" rtl="0">
              <a:lnSpc>
                <a:spcPct val="90000"/>
              </a:lnSpc>
              <a:spcBef>
                <a:spcPts val="1000"/>
              </a:spcBef>
              <a:spcAft>
                <a:spcPts val="0"/>
              </a:spcAft>
              <a:buClr>
                <a:schemeClr val="dk1"/>
              </a:buClr>
              <a:buSzPts val="2800"/>
              <a:buNone/>
            </a:pP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10</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8"/>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ru-RU"/>
              <a:t>GRUB</a:t>
            </a:r>
            <a:endParaRPr/>
          </a:p>
        </p:txBody>
      </p:sp>
      <p:sp>
        <p:nvSpPr>
          <p:cNvPr id="127" name="Google Shape;127;p8"/>
          <p:cNvSpPr txBox="1">
            <a:spLocks noGrp="1"/>
          </p:cNvSpPr>
          <p:nvPr>
            <p:ph type="body" idx="1"/>
          </p:nvPr>
        </p:nvSpPr>
        <p:spPr>
          <a:xfrm>
            <a:off x="838200" y="984740"/>
            <a:ext cx="10515600" cy="5192225"/>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GRUB — </a:t>
            </a:r>
            <a:r>
              <a:rPr lang="ru-RU" b="1" i="0" dirty="0" smtClean="0">
                <a:solidFill>
                  <a:srgbClr val="111111"/>
                </a:solidFill>
                <a:latin typeface="Arial"/>
                <a:ea typeface="Arial"/>
                <a:cs typeface="Arial"/>
                <a:sym typeface="Arial"/>
              </a:rPr>
              <a:t>G</a:t>
            </a:r>
            <a:r>
              <a:rPr lang="en-US" b="1" i="0" dirty="0" smtClean="0">
                <a:solidFill>
                  <a:srgbClr val="111111"/>
                </a:solidFill>
                <a:latin typeface="Arial"/>
                <a:ea typeface="Arial"/>
                <a:cs typeface="Arial"/>
                <a:sym typeface="Arial"/>
              </a:rPr>
              <a:t>R</a:t>
            </a:r>
            <a:r>
              <a:rPr lang="ru-RU" b="0" i="0" dirty="0" err="1" smtClean="0">
                <a:solidFill>
                  <a:srgbClr val="111111"/>
                </a:solidFill>
                <a:latin typeface="Arial"/>
                <a:ea typeface="Arial"/>
                <a:cs typeface="Arial"/>
                <a:sym typeface="Arial"/>
              </a:rPr>
              <a:t>and</a:t>
            </a:r>
            <a:r>
              <a:rPr lang="ru-RU" b="0" i="0" dirty="0" smtClean="0">
                <a:solidFill>
                  <a:srgbClr val="111111"/>
                </a:solidFill>
                <a:latin typeface="Arial"/>
                <a:ea typeface="Arial"/>
                <a:cs typeface="Arial"/>
                <a:sym typeface="Arial"/>
              </a:rPr>
              <a:t> </a:t>
            </a:r>
            <a:r>
              <a:rPr lang="ru-RU" b="1" i="0" dirty="0" err="1">
                <a:solidFill>
                  <a:srgbClr val="111111"/>
                </a:solidFill>
                <a:latin typeface="Arial"/>
                <a:ea typeface="Arial"/>
                <a:cs typeface="Arial"/>
                <a:sym typeface="Arial"/>
              </a:rPr>
              <a:t>U</a:t>
            </a:r>
            <a:r>
              <a:rPr lang="ru-RU" b="0" i="0" dirty="0" err="1">
                <a:solidFill>
                  <a:srgbClr val="111111"/>
                </a:solidFill>
                <a:latin typeface="Arial"/>
                <a:ea typeface="Arial"/>
                <a:cs typeface="Arial"/>
                <a:sym typeface="Arial"/>
              </a:rPr>
              <a:t>nified</a:t>
            </a:r>
            <a:r>
              <a:rPr lang="ru-RU" b="0" i="0" dirty="0">
                <a:solidFill>
                  <a:srgbClr val="111111"/>
                </a:solidFill>
                <a:latin typeface="Arial"/>
                <a:ea typeface="Arial"/>
                <a:cs typeface="Arial"/>
                <a:sym typeface="Arial"/>
              </a:rPr>
              <a:t> </a:t>
            </a:r>
            <a:r>
              <a:rPr lang="ru-RU" b="1" i="0" dirty="0" err="1">
                <a:solidFill>
                  <a:srgbClr val="111111"/>
                </a:solidFill>
                <a:latin typeface="Arial"/>
                <a:ea typeface="Arial"/>
                <a:cs typeface="Arial"/>
                <a:sym typeface="Arial"/>
              </a:rPr>
              <a:t>B</a:t>
            </a:r>
            <a:r>
              <a:rPr lang="ru-RU" b="0" i="0" dirty="0" err="1">
                <a:solidFill>
                  <a:srgbClr val="111111"/>
                </a:solidFill>
                <a:latin typeface="Arial"/>
                <a:ea typeface="Arial"/>
                <a:cs typeface="Arial"/>
                <a:sym typeface="Arial"/>
              </a:rPr>
              <a:t>ootloader</a:t>
            </a:r>
            <a:r>
              <a:rPr lang="ru-RU" b="0" i="0" dirty="0">
                <a:solidFill>
                  <a:srgbClr val="111111"/>
                </a:solidFill>
                <a:latin typeface="Arial"/>
                <a:ea typeface="Arial"/>
                <a:cs typeface="Arial"/>
                <a:sym typeface="Arial"/>
              </a:rPr>
              <a:t>.</a:t>
            </a:r>
            <a:endParaRPr dirty="0"/>
          </a:p>
          <a:p>
            <a:pPr marL="228600" lvl="0" indent="-228600" algn="l" rtl="0">
              <a:lnSpc>
                <a:spcPct val="90000"/>
              </a:lnSpc>
              <a:spcBef>
                <a:spcPts val="10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Если в вашей системе установлено более, чем одно ядро, у вас есть возможность выбирать, которое из них </a:t>
            </a:r>
            <a:r>
              <a:rPr lang="ru-RU" b="0" i="0" dirty="0" smtClean="0">
                <a:solidFill>
                  <a:srgbClr val="111111"/>
                </a:solidFill>
                <a:latin typeface="Arial"/>
                <a:ea typeface="Arial"/>
                <a:cs typeface="Arial"/>
                <a:sym typeface="Arial"/>
              </a:rPr>
              <a:t>должн</a:t>
            </a:r>
            <a:r>
              <a:rPr lang="ru-RU" dirty="0" smtClean="0">
                <a:solidFill>
                  <a:srgbClr val="111111"/>
                </a:solidFill>
                <a:latin typeface="Arial"/>
                <a:ea typeface="Arial"/>
                <a:cs typeface="Arial"/>
                <a:sym typeface="Arial"/>
              </a:rPr>
              <a:t>о</a:t>
            </a:r>
            <a:r>
              <a:rPr lang="ru-RU" b="0" i="0" dirty="0" smtClean="0">
                <a:solidFill>
                  <a:srgbClr val="111111"/>
                </a:solidFill>
                <a:latin typeface="Arial"/>
                <a:ea typeface="Arial"/>
                <a:cs typeface="Arial"/>
                <a:sym typeface="Arial"/>
              </a:rPr>
              <a:t> загружаться и выполняться</a:t>
            </a:r>
            <a:endParaRPr dirty="0"/>
          </a:p>
          <a:p>
            <a:pPr marL="228600" lvl="0" indent="-228600" algn="l" rtl="0">
              <a:lnSpc>
                <a:spcPct val="90000"/>
              </a:lnSpc>
              <a:spcBef>
                <a:spcPts val="10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GRUB отображает заставку, и, подождав несколько секунд интерактивного воздействия пользователя, если он не нажал ни одной клавиши, он загружает ядро, установленное по умолчанию в файле конфигурации </a:t>
            </a:r>
            <a:r>
              <a:rPr lang="ru-RU" b="0" i="0" dirty="0" err="1">
                <a:solidFill>
                  <a:srgbClr val="111111"/>
                </a:solidFill>
                <a:latin typeface="Arial"/>
                <a:ea typeface="Arial"/>
                <a:cs typeface="Arial"/>
                <a:sym typeface="Arial"/>
              </a:rPr>
              <a:t>grub</a:t>
            </a:r>
            <a:r>
              <a:rPr lang="ru-RU" b="0" i="0" dirty="0">
                <a:solidFill>
                  <a:srgbClr val="111111"/>
                </a:solidFill>
                <a:latin typeface="Arial"/>
                <a:ea typeface="Arial"/>
                <a:cs typeface="Arial"/>
                <a:sym typeface="Arial"/>
              </a:rPr>
              <a:t>.</a:t>
            </a:r>
            <a:endParaRPr dirty="0"/>
          </a:p>
          <a:p>
            <a:pPr marL="228600" lvl="0" indent="-228600" algn="l" rtl="0">
              <a:lnSpc>
                <a:spcPct val="90000"/>
              </a:lnSpc>
              <a:spcBef>
                <a:spcPts val="10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GRUB понимает, что такое файловая система (древние загрузчики </a:t>
            </a:r>
            <a:r>
              <a:rPr lang="ru-RU" b="0" i="0" dirty="0" err="1">
                <a:solidFill>
                  <a:srgbClr val="111111"/>
                </a:solidFill>
                <a:latin typeface="Arial"/>
                <a:ea typeface="Arial"/>
                <a:cs typeface="Arial"/>
                <a:sym typeface="Arial"/>
              </a:rPr>
              <a:t>Linux'а</a:t>
            </a:r>
            <a:r>
              <a:rPr lang="ru-RU" b="0" i="0" dirty="0">
                <a:solidFill>
                  <a:srgbClr val="111111"/>
                </a:solidFill>
                <a:latin typeface="Arial"/>
                <a:ea typeface="Arial"/>
                <a:cs typeface="Arial"/>
                <a:sym typeface="Arial"/>
              </a:rPr>
              <a:t>, например, LILO этого не понимают).</a:t>
            </a:r>
            <a:endParaRPr dirty="0"/>
          </a:p>
          <a:p>
            <a:pPr marL="228600" lvl="0" indent="-228600" algn="l" rtl="0">
              <a:lnSpc>
                <a:spcPct val="90000"/>
              </a:lnSpc>
              <a:spcBef>
                <a:spcPts val="10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Конфигурационный файл </a:t>
            </a:r>
            <a:r>
              <a:rPr lang="ru-RU" b="0" i="0" dirty="0" err="1">
                <a:solidFill>
                  <a:srgbClr val="111111"/>
                </a:solidFill>
                <a:latin typeface="Arial"/>
                <a:ea typeface="Arial"/>
                <a:cs typeface="Arial"/>
                <a:sym typeface="Arial"/>
              </a:rPr>
              <a:t>Grub</a:t>
            </a:r>
            <a:r>
              <a:rPr lang="ru-RU" b="0" i="0" dirty="0">
                <a:solidFill>
                  <a:srgbClr val="111111"/>
                </a:solidFill>
                <a:latin typeface="Arial"/>
                <a:ea typeface="Arial"/>
                <a:cs typeface="Arial"/>
                <a:sym typeface="Arial"/>
              </a:rPr>
              <a:t> обычно лежит по пути /</a:t>
            </a:r>
            <a:r>
              <a:rPr lang="ru-RU" b="0" i="0" dirty="0" err="1">
                <a:solidFill>
                  <a:srgbClr val="111111"/>
                </a:solidFill>
                <a:latin typeface="Arial"/>
                <a:ea typeface="Arial"/>
                <a:cs typeface="Arial"/>
                <a:sym typeface="Arial"/>
              </a:rPr>
              <a:t>boot</a:t>
            </a:r>
            <a:r>
              <a:rPr lang="ru-RU" b="0" i="0" dirty="0">
                <a:solidFill>
                  <a:srgbClr val="111111"/>
                </a:solidFill>
                <a:latin typeface="Arial"/>
                <a:ea typeface="Arial"/>
                <a:cs typeface="Arial"/>
                <a:sym typeface="Arial"/>
              </a:rPr>
              <a:t>/</a:t>
            </a:r>
            <a:r>
              <a:rPr lang="ru-RU" b="0" i="0" dirty="0" err="1">
                <a:solidFill>
                  <a:srgbClr val="111111"/>
                </a:solidFill>
                <a:latin typeface="Arial"/>
                <a:ea typeface="Arial"/>
                <a:cs typeface="Arial"/>
                <a:sym typeface="Arial"/>
              </a:rPr>
              <a:t>grub</a:t>
            </a:r>
            <a:r>
              <a:rPr lang="ru-RU" b="0" i="0" dirty="0">
                <a:solidFill>
                  <a:srgbClr val="111111"/>
                </a:solidFill>
                <a:latin typeface="Arial"/>
                <a:ea typeface="Arial"/>
                <a:cs typeface="Arial"/>
                <a:sym typeface="Arial"/>
              </a:rPr>
              <a:t>/</a:t>
            </a:r>
            <a:r>
              <a:rPr lang="ru-RU" b="0" i="0" dirty="0" err="1">
                <a:solidFill>
                  <a:srgbClr val="111111"/>
                </a:solidFill>
                <a:latin typeface="Arial"/>
                <a:ea typeface="Arial"/>
                <a:cs typeface="Arial"/>
                <a:sym typeface="Arial"/>
              </a:rPr>
              <a:t>grub.conf</a:t>
            </a:r>
            <a:endParaRPr b="0" i="0" dirty="0">
              <a:solidFill>
                <a:srgbClr val="111111"/>
              </a:solidFill>
              <a:latin typeface="Arial"/>
              <a:ea typeface="Arial"/>
              <a:cs typeface="Arial"/>
              <a:sym typeface="Arial"/>
            </a:endParaRPr>
          </a:p>
          <a:p>
            <a:pPr marL="228600" lvl="0" indent="-228600" algn="l" rtl="0">
              <a:lnSpc>
                <a:spcPct val="90000"/>
              </a:lnSpc>
              <a:spcBef>
                <a:spcPts val="10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В качестве примечания к информации выше, конфигурационный файл содержит путь к ядру и образу </a:t>
            </a:r>
            <a:r>
              <a:rPr lang="ru-RU" b="0" i="0" dirty="0" err="1">
                <a:solidFill>
                  <a:srgbClr val="111111"/>
                </a:solidFill>
                <a:latin typeface="Arial"/>
                <a:ea typeface="Arial"/>
                <a:cs typeface="Arial"/>
                <a:sym typeface="Arial"/>
              </a:rPr>
              <a:t>initrd</a:t>
            </a:r>
            <a:endParaRPr b="0" i="0" dirty="0">
              <a:solidFill>
                <a:srgbClr val="111111"/>
              </a:solidFill>
              <a:latin typeface="Arial"/>
              <a:ea typeface="Arial"/>
              <a:cs typeface="Arial"/>
              <a:sym typeface="Arial"/>
            </a:endParaRPr>
          </a:p>
          <a:p>
            <a:pPr marL="228600" lvl="0" indent="-228600" algn="l" rtl="0">
              <a:lnSpc>
                <a:spcPct val="90000"/>
              </a:lnSpc>
              <a:spcBef>
                <a:spcPts val="10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GRUB загружает и выполняет образы ядра и </a:t>
            </a:r>
            <a:r>
              <a:rPr lang="ru-RU" b="0" i="0" dirty="0" err="1">
                <a:solidFill>
                  <a:srgbClr val="111111"/>
                </a:solidFill>
                <a:latin typeface="Arial"/>
                <a:ea typeface="Arial"/>
                <a:cs typeface="Arial"/>
                <a:sym typeface="Arial"/>
              </a:rPr>
              <a:t>initrd</a:t>
            </a:r>
            <a:r>
              <a:rPr lang="ru-RU" b="0" i="0" dirty="0">
                <a:solidFill>
                  <a:srgbClr val="111111"/>
                </a:solidFill>
                <a:latin typeface="Arial"/>
                <a:ea typeface="Arial"/>
                <a:cs typeface="Arial"/>
                <a:sym typeface="Arial"/>
              </a:rPr>
              <a:t>.</a:t>
            </a:r>
            <a:endParaRPr dirty="0"/>
          </a:p>
          <a:p>
            <a:pPr marL="228600" lvl="0" indent="-64135" algn="l" rtl="0">
              <a:lnSpc>
                <a:spcPct val="90000"/>
              </a:lnSpc>
              <a:spcBef>
                <a:spcPts val="1000"/>
              </a:spcBef>
              <a:spcAft>
                <a:spcPts val="0"/>
              </a:spcAft>
              <a:buClr>
                <a:schemeClr val="dk1"/>
              </a:buClr>
              <a:buSzPct val="100000"/>
              <a:buNone/>
            </a:pP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11</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Загрузочный раздел</a:t>
            </a:r>
            <a:endParaRPr lang="ru-RU" dirty="0"/>
          </a:p>
        </p:txBody>
      </p:sp>
      <p:sp>
        <p:nvSpPr>
          <p:cNvPr id="5" name="Прямоугольник 4"/>
          <p:cNvSpPr/>
          <p:nvPr/>
        </p:nvSpPr>
        <p:spPr>
          <a:xfrm>
            <a:off x="695400" y="1700809"/>
            <a:ext cx="6096000" cy="3785652"/>
          </a:xfrm>
          <a:prstGeom prst="rect">
            <a:avLst/>
          </a:prstGeom>
        </p:spPr>
        <p:txBody>
          <a:bodyPr>
            <a:spAutoFit/>
          </a:bodyPr>
          <a:lstStyle/>
          <a:p>
            <a:r>
              <a:rPr lang="en-US" sz="1600" dirty="0"/>
              <a:t>root@avhost1:/# ls /boot -</a:t>
            </a:r>
            <a:r>
              <a:rPr lang="en-US" sz="1600" dirty="0" err="1"/>
              <a:t>lhR</a:t>
            </a:r>
            <a:endParaRPr lang="en-US" sz="1600" dirty="0"/>
          </a:p>
          <a:p>
            <a:r>
              <a:rPr lang="en-US" sz="1600" dirty="0"/>
              <a:t>/boot:</a:t>
            </a:r>
          </a:p>
          <a:p>
            <a:r>
              <a:rPr lang="en-US" sz="1600" dirty="0"/>
              <a:t>total 239M</a:t>
            </a:r>
          </a:p>
          <a:p>
            <a:r>
              <a:rPr lang="en-US" sz="1600" dirty="0" smtClean="0"/>
              <a:t>-</a:t>
            </a:r>
            <a:r>
              <a:rPr lang="en-US" sz="1600" dirty="0" err="1"/>
              <a:t>rw</a:t>
            </a:r>
            <a:r>
              <a:rPr lang="en-US" sz="1600" dirty="0"/>
              <a:t>-r--r-- 1 root </a:t>
            </a:r>
            <a:r>
              <a:rPr lang="en-US" sz="1600" dirty="0" err="1"/>
              <a:t>root</a:t>
            </a:r>
            <a:r>
              <a:rPr lang="en-US" sz="1600" dirty="0"/>
              <a:t> 281K Jan 24 19:32 config-6.8.12-8-pve</a:t>
            </a:r>
          </a:p>
          <a:p>
            <a:r>
              <a:rPr lang="en-US" sz="1600" dirty="0" err="1" smtClean="0"/>
              <a:t>drwxr</a:t>
            </a:r>
            <a:r>
              <a:rPr lang="en-US" sz="1600" dirty="0" smtClean="0"/>
              <a:t>-</a:t>
            </a:r>
            <a:r>
              <a:rPr lang="en-US" sz="1600" dirty="0" err="1" smtClean="0"/>
              <a:t>xr</a:t>
            </a:r>
            <a:r>
              <a:rPr lang="en-US" sz="1600" dirty="0" smtClean="0"/>
              <a:t>-x </a:t>
            </a:r>
            <a:r>
              <a:rPr lang="en-US" sz="1600" dirty="0"/>
              <a:t>2 root </a:t>
            </a:r>
            <a:r>
              <a:rPr lang="en-US" sz="1600" dirty="0" err="1"/>
              <a:t>root</a:t>
            </a:r>
            <a:r>
              <a:rPr lang="en-US" sz="1600" dirty="0"/>
              <a:t>    4 Feb 28 15:08 grub</a:t>
            </a:r>
          </a:p>
          <a:p>
            <a:r>
              <a:rPr lang="en-US" sz="1600" dirty="0" smtClean="0"/>
              <a:t>-</a:t>
            </a:r>
            <a:r>
              <a:rPr lang="en-US" sz="1600" dirty="0" err="1"/>
              <a:t>rw</a:t>
            </a:r>
            <a:r>
              <a:rPr lang="en-US" sz="1600" dirty="0"/>
              <a:t>-r--r-- 1 root </a:t>
            </a:r>
            <a:r>
              <a:rPr lang="en-US" sz="1600" dirty="0" err="1"/>
              <a:t>root</a:t>
            </a:r>
            <a:r>
              <a:rPr lang="en-US" sz="1600" dirty="0"/>
              <a:t>  66M Jan 30 17:04 initrd.img-6.8.12-8-pve</a:t>
            </a:r>
          </a:p>
          <a:p>
            <a:r>
              <a:rPr lang="en-US" sz="1600" dirty="0" smtClean="0"/>
              <a:t>-</a:t>
            </a:r>
            <a:r>
              <a:rPr lang="en-US" sz="1600" dirty="0" err="1"/>
              <a:t>rw</a:t>
            </a:r>
            <a:r>
              <a:rPr lang="en-US" sz="1600" dirty="0"/>
              <a:t>-r--r-- 1 root </a:t>
            </a:r>
            <a:r>
              <a:rPr lang="en-US" sz="1600" dirty="0" err="1"/>
              <a:t>root</a:t>
            </a:r>
            <a:r>
              <a:rPr lang="en-US" sz="1600" dirty="0"/>
              <a:t> 142K Feb 11  2023 memtest86+x64.efi</a:t>
            </a:r>
          </a:p>
          <a:p>
            <a:r>
              <a:rPr lang="en-US" sz="1600" dirty="0" smtClean="0"/>
              <a:t>-</a:t>
            </a:r>
            <a:r>
              <a:rPr lang="en-US" sz="1600" dirty="0" err="1"/>
              <a:t>rw</a:t>
            </a:r>
            <a:r>
              <a:rPr lang="en-US" sz="1600" dirty="0"/>
              <a:t>-r--r-- 1 root </a:t>
            </a:r>
            <a:r>
              <a:rPr lang="en-US" sz="1600" dirty="0" err="1"/>
              <a:t>root</a:t>
            </a:r>
            <a:r>
              <a:rPr lang="en-US" sz="1600" dirty="0"/>
              <a:t> 8.0M Jan 24 19:32 System.map-6.8.12-8-pve</a:t>
            </a:r>
          </a:p>
          <a:p>
            <a:r>
              <a:rPr lang="en-US" sz="1600" dirty="0" smtClean="0"/>
              <a:t>-</a:t>
            </a:r>
            <a:r>
              <a:rPr lang="en-US" sz="1600" dirty="0" err="1"/>
              <a:t>rw</a:t>
            </a:r>
            <a:r>
              <a:rPr lang="en-US" sz="1600" dirty="0"/>
              <a:t>-r--r-- 1 root </a:t>
            </a:r>
            <a:r>
              <a:rPr lang="en-US" sz="1600" dirty="0" err="1"/>
              <a:t>root</a:t>
            </a:r>
            <a:r>
              <a:rPr lang="en-US" sz="1600" dirty="0"/>
              <a:t>  14M Jan 24 19:32 vmlinuz-6.8.12-8-pve</a:t>
            </a:r>
          </a:p>
          <a:p>
            <a:endParaRPr lang="en-US" sz="1600" dirty="0"/>
          </a:p>
          <a:p>
            <a:r>
              <a:rPr lang="en-US" sz="1600" dirty="0"/>
              <a:t>/boot/grub:</a:t>
            </a:r>
          </a:p>
          <a:p>
            <a:r>
              <a:rPr lang="en-US" sz="1600" dirty="0"/>
              <a:t>total 1.6M</a:t>
            </a:r>
          </a:p>
          <a:p>
            <a:r>
              <a:rPr lang="en-US" sz="1600" dirty="0"/>
              <a:t>-</a:t>
            </a:r>
            <a:r>
              <a:rPr lang="en-US" sz="1600" dirty="0" err="1"/>
              <a:t>rw</a:t>
            </a:r>
            <a:r>
              <a:rPr lang="en-US" sz="1600" dirty="0"/>
              <a:t>------- 1 root </a:t>
            </a:r>
            <a:r>
              <a:rPr lang="en-US" sz="1600" dirty="0" err="1"/>
              <a:t>root</a:t>
            </a:r>
            <a:r>
              <a:rPr lang="en-US" sz="1600" dirty="0"/>
              <a:t> 7.2K Feb 28 15:08 </a:t>
            </a:r>
            <a:r>
              <a:rPr lang="en-US" sz="1600" dirty="0" err="1"/>
              <a:t>grub.cfg</a:t>
            </a:r>
            <a:endParaRPr lang="en-US" sz="1600" dirty="0"/>
          </a:p>
          <a:p>
            <a:r>
              <a:rPr lang="en-US" sz="1600" dirty="0"/>
              <a:t>-</a:t>
            </a:r>
            <a:r>
              <a:rPr lang="en-US" sz="1600" dirty="0" err="1"/>
              <a:t>rw</a:t>
            </a:r>
            <a:r>
              <a:rPr lang="en-US" sz="1600" dirty="0"/>
              <a:t>-r--r-- 1 root </a:t>
            </a:r>
            <a:r>
              <a:rPr lang="en-US" sz="1600" dirty="0" err="1"/>
              <a:t>root</a:t>
            </a:r>
            <a:r>
              <a:rPr lang="en-US" sz="1600" dirty="0"/>
              <a:t> 2.3M Feb 28 15:08 unicode.pf2</a:t>
            </a:r>
          </a:p>
          <a:p>
            <a:endParaRPr lang="en-US" sz="1600" dirty="0"/>
          </a:p>
        </p:txBody>
      </p:sp>
      <p:sp>
        <p:nvSpPr>
          <p:cNvPr id="7" name="Номер слайда 6"/>
          <p:cNvSpPr>
            <a:spLocks noGrp="1"/>
          </p:cNvSpPr>
          <p:nvPr>
            <p:ph type="sldNum" idx="12"/>
          </p:nvPr>
        </p:nvSpPr>
        <p:spPr/>
        <p:txBody>
          <a:bodyPr/>
          <a:lstStyle/>
          <a:p>
            <a:fld id="{725C68B6-61C2-468F-89AB-4B9F7531AA68}" type="slidenum">
              <a:rPr lang="ru-RU" smtClean="0">
                <a:latin typeface="Arial"/>
                <a:cs typeface="Arial"/>
                <a:sym typeface="Arial"/>
              </a:rPr>
              <a:pPr/>
              <a:t>12</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37180248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9"/>
          <p:cNvSpPr txBox="1">
            <a:spLocks noGrp="1"/>
          </p:cNvSpPr>
          <p:nvPr>
            <p:ph type="title"/>
          </p:nvPr>
        </p:nvSpPr>
        <p:spPr>
          <a:xfrm>
            <a:off x="838200" y="365127"/>
            <a:ext cx="10515600" cy="90363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ru-RU" dirty="0" err="1"/>
              <a:t>Kernel</a:t>
            </a:r>
            <a:endParaRPr dirty="0"/>
          </a:p>
        </p:txBody>
      </p:sp>
      <p:sp>
        <p:nvSpPr>
          <p:cNvPr id="133" name="Google Shape;133;p9"/>
          <p:cNvSpPr txBox="1">
            <a:spLocks noGrp="1"/>
          </p:cNvSpPr>
          <p:nvPr>
            <p:ph type="body" idx="1"/>
          </p:nvPr>
        </p:nvSpPr>
        <p:spPr>
          <a:xfrm>
            <a:off x="839416" y="1268760"/>
            <a:ext cx="10515600" cy="5112568"/>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Ядро монтирует файловую систему в соответствии с настройкой «</a:t>
            </a:r>
            <a:r>
              <a:rPr lang="ru-RU" b="0" i="0" dirty="0" err="1">
                <a:solidFill>
                  <a:srgbClr val="111111"/>
                </a:solidFill>
                <a:latin typeface="Arial"/>
                <a:ea typeface="Arial"/>
                <a:cs typeface="Arial"/>
                <a:sym typeface="Arial"/>
              </a:rPr>
              <a:t>root</a:t>
            </a:r>
            <a:r>
              <a:rPr lang="ru-RU" b="0" i="0" dirty="0">
                <a:solidFill>
                  <a:srgbClr val="111111"/>
                </a:solidFill>
                <a:latin typeface="Arial"/>
                <a:ea typeface="Arial"/>
                <a:cs typeface="Arial"/>
                <a:sym typeface="Arial"/>
              </a:rPr>
              <a:t>=» в фале </a:t>
            </a:r>
            <a:r>
              <a:rPr lang="ru-RU" b="0" i="0" dirty="0" err="1">
                <a:solidFill>
                  <a:srgbClr val="111111"/>
                </a:solidFill>
                <a:latin typeface="Arial"/>
                <a:ea typeface="Arial"/>
                <a:cs typeface="Arial"/>
                <a:sym typeface="Arial"/>
              </a:rPr>
              <a:t>grub.conf</a:t>
            </a:r>
            <a:endParaRPr b="0" i="0" dirty="0">
              <a:solidFill>
                <a:srgbClr val="111111"/>
              </a:solidFill>
              <a:latin typeface="Arial"/>
              <a:ea typeface="Arial"/>
              <a:cs typeface="Arial"/>
              <a:sym typeface="Arial"/>
            </a:endParaRPr>
          </a:p>
          <a:p>
            <a:pPr marL="228600" lvl="0" indent="-228600" algn="l" rtl="0">
              <a:lnSpc>
                <a:spcPct val="90000"/>
              </a:lnSpc>
              <a:spcBef>
                <a:spcPts val="10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Выполняет программу /</a:t>
            </a:r>
            <a:r>
              <a:rPr lang="ru-RU" b="0" i="0" dirty="0" err="1">
                <a:solidFill>
                  <a:srgbClr val="111111"/>
                </a:solidFill>
                <a:latin typeface="Arial"/>
                <a:ea typeface="Arial"/>
                <a:cs typeface="Arial"/>
                <a:sym typeface="Arial"/>
              </a:rPr>
              <a:t>sbin</a:t>
            </a:r>
            <a:r>
              <a:rPr lang="ru-RU" b="0" i="0" dirty="0">
                <a:solidFill>
                  <a:srgbClr val="111111"/>
                </a:solidFill>
                <a:latin typeface="Arial"/>
                <a:ea typeface="Arial"/>
                <a:cs typeface="Arial"/>
                <a:sym typeface="Arial"/>
              </a:rPr>
              <a:t>/</a:t>
            </a:r>
            <a:r>
              <a:rPr lang="ru-RU" b="0" i="0" dirty="0" err="1">
                <a:solidFill>
                  <a:srgbClr val="111111"/>
                </a:solidFill>
                <a:latin typeface="Arial"/>
                <a:ea typeface="Arial"/>
                <a:cs typeface="Arial"/>
                <a:sym typeface="Arial"/>
              </a:rPr>
              <a:t>init</a:t>
            </a:r>
            <a:endParaRPr b="0" i="0" dirty="0">
              <a:solidFill>
                <a:srgbClr val="111111"/>
              </a:solidFill>
              <a:latin typeface="Arial"/>
              <a:ea typeface="Arial"/>
              <a:cs typeface="Arial"/>
              <a:sym typeface="Arial"/>
            </a:endParaRPr>
          </a:p>
          <a:p>
            <a:pPr marL="228600" lvl="0" indent="-228600" algn="l" rtl="0">
              <a:lnSpc>
                <a:spcPct val="90000"/>
              </a:lnSpc>
              <a:spcBef>
                <a:spcPts val="10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Поскольку </a:t>
            </a:r>
            <a:r>
              <a:rPr lang="ru-RU" b="0" i="0" dirty="0" err="1">
                <a:solidFill>
                  <a:srgbClr val="111111"/>
                </a:solidFill>
                <a:latin typeface="Arial"/>
                <a:ea typeface="Arial"/>
                <a:cs typeface="Arial"/>
                <a:sym typeface="Arial"/>
              </a:rPr>
              <a:t>init</a:t>
            </a:r>
            <a:r>
              <a:rPr lang="ru-RU" b="0" i="0" dirty="0">
                <a:solidFill>
                  <a:srgbClr val="111111"/>
                </a:solidFill>
                <a:latin typeface="Arial"/>
                <a:ea typeface="Arial"/>
                <a:cs typeface="Arial"/>
                <a:sym typeface="Arial"/>
              </a:rPr>
              <a:t> — это первый процесс, запущенный ядром </a:t>
            </a:r>
            <a:r>
              <a:rPr lang="ru-RU" b="0" i="0" dirty="0" err="1">
                <a:solidFill>
                  <a:srgbClr val="111111"/>
                </a:solidFill>
                <a:latin typeface="Arial"/>
                <a:ea typeface="Arial"/>
                <a:cs typeface="Arial"/>
                <a:sym typeface="Arial"/>
              </a:rPr>
              <a:t>Linux</a:t>
            </a:r>
            <a:r>
              <a:rPr lang="ru-RU" b="0" i="0" dirty="0">
                <a:solidFill>
                  <a:srgbClr val="111111"/>
                </a:solidFill>
                <a:latin typeface="Arial"/>
                <a:ea typeface="Arial"/>
                <a:cs typeface="Arial"/>
                <a:sym typeface="Arial"/>
              </a:rPr>
              <a:t>, поэтому она имеет идентификатор процесса (PID) №1. Можете выполнить «</a:t>
            </a:r>
            <a:r>
              <a:rPr lang="ru-RU" b="0" i="0" dirty="0" err="1">
                <a:solidFill>
                  <a:srgbClr val="111111"/>
                </a:solidFill>
                <a:latin typeface="Arial"/>
                <a:ea typeface="Arial"/>
                <a:cs typeface="Arial"/>
                <a:sym typeface="Arial"/>
              </a:rPr>
              <a:t>ps</a:t>
            </a:r>
            <a:r>
              <a:rPr lang="ru-RU" b="0" i="0" dirty="0">
                <a:solidFill>
                  <a:srgbClr val="111111"/>
                </a:solidFill>
                <a:latin typeface="Arial"/>
                <a:ea typeface="Arial"/>
                <a:cs typeface="Arial"/>
                <a:sym typeface="Arial"/>
              </a:rPr>
              <a:t> -</a:t>
            </a:r>
            <a:r>
              <a:rPr lang="ru-RU" b="0" i="0" dirty="0" err="1">
                <a:solidFill>
                  <a:srgbClr val="111111"/>
                </a:solidFill>
                <a:latin typeface="Arial"/>
                <a:ea typeface="Arial"/>
                <a:cs typeface="Arial"/>
                <a:sym typeface="Arial"/>
              </a:rPr>
              <a:t>ef</a:t>
            </a:r>
            <a:r>
              <a:rPr lang="ru-RU" b="0" i="0" dirty="0">
                <a:solidFill>
                  <a:srgbClr val="111111"/>
                </a:solidFill>
                <a:latin typeface="Arial"/>
                <a:ea typeface="Arial"/>
                <a:cs typeface="Arial"/>
                <a:sym typeface="Arial"/>
              </a:rPr>
              <a:t> | </a:t>
            </a:r>
            <a:r>
              <a:rPr lang="ru-RU" b="0" i="0" dirty="0" err="1">
                <a:solidFill>
                  <a:srgbClr val="111111"/>
                </a:solidFill>
                <a:latin typeface="Arial"/>
                <a:ea typeface="Arial"/>
                <a:cs typeface="Arial"/>
                <a:sym typeface="Arial"/>
              </a:rPr>
              <a:t>grep</a:t>
            </a:r>
            <a:r>
              <a:rPr lang="ru-RU" b="0" i="0" dirty="0">
                <a:solidFill>
                  <a:srgbClr val="111111"/>
                </a:solidFill>
                <a:latin typeface="Arial"/>
                <a:ea typeface="Arial"/>
                <a:cs typeface="Arial"/>
                <a:sym typeface="Arial"/>
              </a:rPr>
              <a:t> </a:t>
            </a:r>
            <a:r>
              <a:rPr lang="ru-RU" b="0" i="0" dirty="0" err="1">
                <a:solidFill>
                  <a:srgbClr val="111111"/>
                </a:solidFill>
                <a:latin typeface="Arial"/>
                <a:ea typeface="Arial"/>
                <a:cs typeface="Arial"/>
                <a:sym typeface="Arial"/>
              </a:rPr>
              <a:t>init</a:t>
            </a:r>
            <a:r>
              <a:rPr lang="ru-RU" b="0" i="0" dirty="0">
                <a:solidFill>
                  <a:srgbClr val="111111"/>
                </a:solidFill>
                <a:latin typeface="Arial"/>
                <a:ea typeface="Arial"/>
                <a:cs typeface="Arial"/>
                <a:sym typeface="Arial"/>
              </a:rPr>
              <a:t>» и убедиться в </a:t>
            </a:r>
            <a:r>
              <a:rPr lang="ru-RU" b="0" i="0" dirty="0" smtClean="0">
                <a:solidFill>
                  <a:srgbClr val="111111"/>
                </a:solidFill>
                <a:latin typeface="Arial"/>
                <a:ea typeface="Arial"/>
                <a:cs typeface="Arial"/>
                <a:sym typeface="Arial"/>
              </a:rPr>
              <a:t>этом</a:t>
            </a:r>
            <a:r>
              <a:rPr lang="en-US" dirty="0" smtClean="0">
                <a:solidFill>
                  <a:srgbClr val="111111"/>
                </a:solidFill>
                <a:latin typeface="Arial"/>
                <a:ea typeface="Arial"/>
                <a:cs typeface="Arial"/>
                <a:sym typeface="Arial"/>
              </a:rPr>
              <a:t>:</a:t>
            </a:r>
            <a:endParaRPr lang="en-US" b="0" i="0" dirty="0" smtClean="0">
              <a:solidFill>
                <a:srgbClr val="111111"/>
              </a:solidFill>
              <a:latin typeface="Arial"/>
              <a:ea typeface="Arial"/>
              <a:cs typeface="Arial"/>
              <a:sym typeface="Arial"/>
            </a:endParaRPr>
          </a:p>
          <a:p>
            <a:pPr marL="0" lvl="0" indent="0">
              <a:buClr>
                <a:srgbClr val="111111"/>
              </a:buClr>
              <a:buSzPct val="100000"/>
              <a:buNone/>
            </a:pPr>
            <a:r>
              <a:rPr lang="en-US" sz="2100" b="1" i="1" dirty="0">
                <a:latin typeface="Lucida Console" panose="020B0609040504020204" pitchFamily="49" charset="0"/>
              </a:rPr>
              <a:t>UID          PID    PPID  </a:t>
            </a:r>
            <a:r>
              <a:rPr lang="en-US" sz="2100" b="1" i="1" dirty="0" smtClean="0">
                <a:latin typeface="Lucida Console" panose="020B0609040504020204" pitchFamily="49" charset="0"/>
              </a:rPr>
              <a:t>STIME </a:t>
            </a:r>
            <a:r>
              <a:rPr lang="en-US" sz="2100" b="1" i="1" dirty="0">
                <a:latin typeface="Lucida Console" panose="020B0609040504020204" pitchFamily="49" charset="0"/>
              </a:rPr>
              <a:t>TTY          TIME CMD   </a:t>
            </a:r>
          </a:p>
          <a:p>
            <a:pPr marL="0" lvl="0" indent="0">
              <a:buClr>
                <a:srgbClr val="111111"/>
              </a:buClr>
              <a:buSzPct val="100000"/>
              <a:buNone/>
            </a:pPr>
            <a:r>
              <a:rPr lang="en-US" sz="2100" b="1" i="1" dirty="0" smtClean="0">
                <a:latin typeface="Lucida Console" panose="020B0609040504020204" pitchFamily="49" charset="0"/>
              </a:rPr>
              <a:t>root           </a:t>
            </a:r>
            <a:r>
              <a:rPr lang="en-US" sz="2100" b="1" i="1" dirty="0">
                <a:latin typeface="Lucida Console" panose="020B0609040504020204" pitchFamily="49" charset="0"/>
              </a:rPr>
              <a:t>1       0  </a:t>
            </a:r>
            <a:r>
              <a:rPr lang="en-US" sz="2100" b="1" i="1" dirty="0" smtClean="0">
                <a:latin typeface="Lucida Console" panose="020B0609040504020204" pitchFamily="49" charset="0"/>
              </a:rPr>
              <a:t>Feb17 </a:t>
            </a:r>
            <a:r>
              <a:rPr lang="en-US" sz="2100" b="1" i="1" dirty="0">
                <a:latin typeface="Lucida Console" panose="020B0609040504020204" pitchFamily="49" charset="0"/>
              </a:rPr>
              <a:t>?        00:00:16 /</a:t>
            </a:r>
            <a:r>
              <a:rPr lang="en-US" sz="2100" b="1" i="1" dirty="0" err="1" smtClean="0">
                <a:latin typeface="Lucida Console" panose="020B0609040504020204" pitchFamily="49" charset="0"/>
              </a:rPr>
              <a:t>sbin</a:t>
            </a:r>
            <a:r>
              <a:rPr lang="en-US" sz="2100" b="1" i="1" dirty="0" smtClean="0">
                <a:latin typeface="Lucida Console" panose="020B0609040504020204" pitchFamily="49" charset="0"/>
              </a:rPr>
              <a:t>/</a:t>
            </a:r>
            <a:r>
              <a:rPr lang="en-US" sz="2100" b="1" i="1" dirty="0" err="1" smtClean="0">
                <a:latin typeface="Lucida Console" panose="020B0609040504020204" pitchFamily="49" charset="0"/>
              </a:rPr>
              <a:t>init</a:t>
            </a:r>
            <a:endParaRPr lang="en-US" sz="2100" b="1" i="1" dirty="0" smtClean="0">
              <a:latin typeface="Lucida Console" panose="020B0609040504020204" pitchFamily="49" charset="0"/>
            </a:endParaRPr>
          </a:p>
          <a:p>
            <a:pPr marL="0" lvl="0" indent="0">
              <a:buClr>
                <a:srgbClr val="111111"/>
              </a:buClr>
              <a:buSzPct val="100000"/>
              <a:buNone/>
            </a:pPr>
            <a:endParaRPr sz="2100" b="1" i="1" dirty="0">
              <a:latin typeface="Lucida Console" panose="020B0609040504020204" pitchFamily="49" charset="0"/>
            </a:endParaRPr>
          </a:p>
          <a:p>
            <a:pPr marL="228600" lvl="0" indent="-228600" algn="l" rtl="0">
              <a:lnSpc>
                <a:spcPct val="90000"/>
              </a:lnSpc>
              <a:spcBef>
                <a:spcPts val="1000"/>
              </a:spcBef>
              <a:spcAft>
                <a:spcPts val="0"/>
              </a:spcAft>
              <a:buClr>
                <a:srgbClr val="111111"/>
              </a:buClr>
              <a:buSzPct val="100000"/>
              <a:buFont typeface="Arial"/>
              <a:buChar char="•"/>
            </a:pPr>
            <a:r>
              <a:rPr lang="ru-RU" b="0" i="0" dirty="0" err="1">
                <a:solidFill>
                  <a:srgbClr val="111111"/>
                </a:solidFill>
                <a:latin typeface="Arial"/>
                <a:ea typeface="Arial"/>
                <a:cs typeface="Arial"/>
                <a:sym typeface="Arial"/>
              </a:rPr>
              <a:t>initrd</a:t>
            </a:r>
            <a:r>
              <a:rPr lang="ru-RU" b="0" i="0" dirty="0">
                <a:solidFill>
                  <a:srgbClr val="111111"/>
                </a:solidFill>
                <a:latin typeface="Arial"/>
                <a:ea typeface="Arial"/>
                <a:cs typeface="Arial"/>
                <a:sym typeface="Arial"/>
              </a:rPr>
              <a:t> — это </a:t>
            </a:r>
            <a:r>
              <a:rPr lang="ru-RU" b="0" i="0" dirty="0" err="1">
                <a:solidFill>
                  <a:srgbClr val="111111"/>
                </a:solidFill>
                <a:latin typeface="Arial"/>
                <a:ea typeface="Arial"/>
                <a:cs typeface="Arial"/>
                <a:sym typeface="Arial"/>
              </a:rPr>
              <a:t>Initial</a:t>
            </a:r>
            <a:r>
              <a:rPr lang="ru-RU" b="0" i="0" dirty="0">
                <a:solidFill>
                  <a:srgbClr val="111111"/>
                </a:solidFill>
                <a:latin typeface="Arial"/>
                <a:ea typeface="Arial"/>
                <a:cs typeface="Arial"/>
                <a:sym typeface="Arial"/>
              </a:rPr>
              <a:t> RAM </a:t>
            </a:r>
            <a:r>
              <a:rPr lang="ru-RU" b="0" i="0" dirty="0" err="1">
                <a:solidFill>
                  <a:srgbClr val="111111"/>
                </a:solidFill>
                <a:latin typeface="Arial"/>
                <a:ea typeface="Arial"/>
                <a:cs typeface="Arial"/>
                <a:sym typeface="Arial"/>
              </a:rPr>
              <a:t>Disk</a:t>
            </a:r>
            <a:r>
              <a:rPr lang="ru-RU" b="0" i="0" dirty="0">
                <a:solidFill>
                  <a:srgbClr val="111111"/>
                </a:solidFill>
                <a:latin typeface="Arial"/>
                <a:ea typeface="Arial"/>
                <a:cs typeface="Arial"/>
                <a:sym typeface="Arial"/>
              </a:rPr>
              <a:t>, он же временный диск в оперативной памяти</a:t>
            </a:r>
            <a:endParaRPr dirty="0"/>
          </a:p>
          <a:p>
            <a:pPr marL="228600" lvl="0" indent="-228600" algn="l" rtl="0">
              <a:lnSpc>
                <a:spcPct val="90000"/>
              </a:lnSpc>
              <a:spcBef>
                <a:spcPts val="1000"/>
              </a:spcBef>
              <a:spcAft>
                <a:spcPts val="0"/>
              </a:spcAft>
              <a:buClr>
                <a:srgbClr val="111111"/>
              </a:buClr>
              <a:buSzPct val="100000"/>
              <a:buFont typeface="Arial"/>
              <a:buChar char="•"/>
            </a:pPr>
            <a:r>
              <a:rPr lang="ru-RU" b="0" i="0" dirty="0" err="1">
                <a:solidFill>
                  <a:srgbClr val="111111"/>
                </a:solidFill>
                <a:latin typeface="Arial"/>
                <a:ea typeface="Arial"/>
                <a:cs typeface="Arial"/>
                <a:sym typeface="Arial"/>
              </a:rPr>
              <a:t>initrd</a:t>
            </a:r>
            <a:r>
              <a:rPr lang="ru-RU" b="0" i="0" dirty="0">
                <a:solidFill>
                  <a:srgbClr val="111111"/>
                </a:solidFill>
                <a:latin typeface="Arial"/>
                <a:ea typeface="Arial"/>
                <a:cs typeface="Arial"/>
                <a:sym typeface="Arial"/>
              </a:rPr>
              <a:t> используется самим ядром в качестве временной корневой файловой системы, пока </a:t>
            </a:r>
            <a:r>
              <a:rPr lang="ru-RU" b="0" i="0" dirty="0" err="1">
                <a:solidFill>
                  <a:srgbClr val="111111"/>
                </a:solidFill>
                <a:latin typeface="Arial"/>
                <a:ea typeface="Arial"/>
                <a:cs typeface="Arial"/>
                <a:sym typeface="Arial"/>
              </a:rPr>
              <a:t>kernel</a:t>
            </a:r>
            <a:r>
              <a:rPr lang="ru-RU" b="0" i="0" dirty="0">
                <a:solidFill>
                  <a:srgbClr val="111111"/>
                </a:solidFill>
                <a:latin typeface="Arial"/>
                <a:ea typeface="Arial"/>
                <a:cs typeface="Arial"/>
                <a:sym typeface="Arial"/>
              </a:rPr>
              <a:t> не загрузится в реальную </a:t>
            </a:r>
            <a:r>
              <a:rPr lang="ru-RU" b="0" i="0" dirty="0" err="1">
                <a:solidFill>
                  <a:srgbClr val="111111"/>
                </a:solidFill>
                <a:latin typeface="Arial"/>
                <a:ea typeface="Arial"/>
                <a:cs typeface="Arial"/>
                <a:sym typeface="Arial"/>
              </a:rPr>
              <a:t>примонтированную</a:t>
            </a:r>
            <a:r>
              <a:rPr lang="ru-RU" b="0" i="0" dirty="0">
                <a:solidFill>
                  <a:srgbClr val="111111"/>
                </a:solidFill>
                <a:latin typeface="Arial"/>
                <a:ea typeface="Arial"/>
                <a:cs typeface="Arial"/>
                <a:sym typeface="Arial"/>
              </a:rPr>
              <a:t> файловую систему. Этот временный диск также содержит необходимые для загрузки драйверы, позволяющие получить доступ к разделам дисков и другому оборудованию</a:t>
            </a:r>
            <a:endParaRPr dirty="0"/>
          </a:p>
          <a:p>
            <a:pPr marL="228600" lvl="0" indent="-64135" algn="l" rtl="0">
              <a:lnSpc>
                <a:spcPct val="90000"/>
              </a:lnSpc>
              <a:spcBef>
                <a:spcPts val="1000"/>
              </a:spcBef>
              <a:spcAft>
                <a:spcPts val="0"/>
              </a:spcAft>
              <a:buClr>
                <a:schemeClr val="dk1"/>
              </a:buClr>
              <a:buSzPct val="100000"/>
              <a:buNone/>
            </a:pP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13</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0"/>
          <p:cNvSpPr txBox="1">
            <a:spLocks noGrp="1"/>
          </p:cNvSpPr>
          <p:nvPr>
            <p:ph type="title"/>
          </p:nvPr>
        </p:nvSpPr>
        <p:spPr>
          <a:xfrm>
            <a:off x="838200" y="1"/>
            <a:ext cx="10515600" cy="99880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ru-RU" dirty="0" err="1" smtClean="0"/>
              <a:t>Init</a:t>
            </a:r>
            <a:r>
              <a:rPr lang="ru-RU" dirty="0" smtClean="0"/>
              <a:t> </a:t>
            </a:r>
            <a:r>
              <a:rPr lang="en-US" dirty="0" err="1" smtClean="0"/>
              <a:t>SystemV</a:t>
            </a:r>
            <a:endParaRPr dirty="0"/>
          </a:p>
        </p:txBody>
      </p:sp>
      <p:sp>
        <p:nvSpPr>
          <p:cNvPr id="139" name="Google Shape;139;p10"/>
          <p:cNvSpPr txBox="1">
            <a:spLocks noGrp="1"/>
          </p:cNvSpPr>
          <p:nvPr>
            <p:ph type="body" idx="1"/>
          </p:nvPr>
        </p:nvSpPr>
        <p:spPr>
          <a:xfrm>
            <a:off x="675250" y="998807"/>
            <a:ext cx="11029071" cy="5178156"/>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l" rtl="0">
              <a:lnSpc>
                <a:spcPct val="90000"/>
              </a:lnSpc>
              <a:spcBef>
                <a:spcPts val="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Смотрит в файл /</a:t>
            </a:r>
            <a:r>
              <a:rPr lang="ru-RU" b="0" i="0" dirty="0" err="1">
                <a:solidFill>
                  <a:srgbClr val="111111"/>
                </a:solidFill>
                <a:latin typeface="Arial"/>
                <a:ea typeface="Arial"/>
                <a:cs typeface="Arial"/>
                <a:sym typeface="Arial"/>
              </a:rPr>
              <a:t>etc</a:t>
            </a:r>
            <a:r>
              <a:rPr lang="ru-RU" b="0" i="0" dirty="0">
                <a:solidFill>
                  <a:srgbClr val="111111"/>
                </a:solidFill>
                <a:latin typeface="Arial"/>
                <a:ea typeface="Arial"/>
                <a:cs typeface="Arial"/>
                <a:sym typeface="Arial"/>
              </a:rPr>
              <a:t>/</a:t>
            </a:r>
            <a:r>
              <a:rPr lang="ru-RU" b="0" i="0" dirty="0" err="1">
                <a:solidFill>
                  <a:srgbClr val="111111"/>
                </a:solidFill>
                <a:latin typeface="Arial"/>
                <a:ea typeface="Arial"/>
                <a:cs typeface="Arial"/>
                <a:sym typeface="Arial"/>
              </a:rPr>
              <a:t>inittab</a:t>
            </a:r>
            <a:r>
              <a:rPr lang="ru-RU" b="0" i="0" dirty="0">
                <a:solidFill>
                  <a:srgbClr val="111111"/>
                </a:solidFill>
                <a:latin typeface="Arial"/>
                <a:ea typeface="Arial"/>
                <a:cs typeface="Arial"/>
                <a:sym typeface="Arial"/>
              </a:rPr>
              <a:t> для того, чтобы определить уровень выполнения (</a:t>
            </a:r>
            <a:r>
              <a:rPr lang="ru-RU" b="0" i="0" dirty="0" err="1">
                <a:solidFill>
                  <a:srgbClr val="111111"/>
                </a:solidFill>
                <a:latin typeface="Arial"/>
                <a:ea typeface="Arial"/>
                <a:cs typeface="Arial"/>
                <a:sym typeface="Arial"/>
              </a:rPr>
              <a:t>run</a:t>
            </a:r>
            <a:r>
              <a:rPr lang="ru-RU" b="0" i="0" dirty="0">
                <a:solidFill>
                  <a:srgbClr val="111111"/>
                </a:solidFill>
                <a:latin typeface="Arial"/>
                <a:ea typeface="Arial"/>
                <a:cs typeface="Arial"/>
                <a:sym typeface="Arial"/>
              </a:rPr>
              <a:t> </a:t>
            </a:r>
            <a:r>
              <a:rPr lang="ru-RU" b="0" i="0" dirty="0" err="1">
                <a:solidFill>
                  <a:srgbClr val="111111"/>
                </a:solidFill>
                <a:latin typeface="Arial"/>
                <a:ea typeface="Arial"/>
                <a:cs typeface="Arial"/>
                <a:sym typeface="Arial"/>
              </a:rPr>
              <a:t>level</a:t>
            </a:r>
            <a:r>
              <a:rPr lang="ru-RU" b="0" i="0" dirty="0">
                <a:solidFill>
                  <a:srgbClr val="111111"/>
                </a:solidFill>
                <a:latin typeface="Arial"/>
                <a:ea typeface="Arial"/>
                <a:cs typeface="Arial"/>
                <a:sym typeface="Arial"/>
              </a:rPr>
              <a:t>).</a:t>
            </a:r>
            <a:endParaRPr dirty="0"/>
          </a:p>
          <a:p>
            <a:pPr marL="228600" lvl="0" indent="-228600" algn="l" rtl="0">
              <a:lnSpc>
                <a:spcPct val="90000"/>
              </a:lnSpc>
              <a:spcBef>
                <a:spcPts val="10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Есть следующие уровни </a:t>
            </a:r>
            <a:r>
              <a:rPr lang="ru-RU" b="0" i="0" dirty="0" smtClean="0">
                <a:solidFill>
                  <a:srgbClr val="111111"/>
                </a:solidFill>
                <a:latin typeface="Arial"/>
                <a:ea typeface="Arial"/>
                <a:cs typeface="Arial"/>
                <a:sym typeface="Arial"/>
              </a:rPr>
              <a:t>выполнения:</a:t>
            </a:r>
            <a:r>
              <a:rPr lang="ru-RU" b="0" i="0" dirty="0">
                <a:solidFill>
                  <a:srgbClr val="111111"/>
                </a:solidFill>
                <a:latin typeface="Arial"/>
                <a:ea typeface="Arial"/>
                <a:cs typeface="Arial"/>
                <a:sym typeface="Arial"/>
              </a:rPr>
              <a:t/>
            </a:r>
            <a:br>
              <a:rPr lang="ru-RU" b="0" i="0" dirty="0">
                <a:solidFill>
                  <a:srgbClr val="111111"/>
                </a:solidFill>
                <a:latin typeface="Arial"/>
                <a:ea typeface="Arial"/>
                <a:cs typeface="Arial"/>
                <a:sym typeface="Arial"/>
              </a:rPr>
            </a:br>
            <a:endParaRPr b="0" i="0" dirty="0">
              <a:solidFill>
                <a:srgbClr val="111111"/>
              </a:solidFill>
              <a:latin typeface="Arial"/>
              <a:ea typeface="Arial"/>
              <a:cs typeface="Arial"/>
              <a:sym typeface="Arial"/>
            </a:endParaRPr>
          </a:p>
          <a:p>
            <a:pPr marL="742950" lvl="1" indent="-285750" algn="l" rtl="0">
              <a:lnSpc>
                <a:spcPct val="90000"/>
              </a:lnSpc>
              <a:spcBef>
                <a:spcPts val="5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0 – прервать выполнение</a:t>
            </a:r>
            <a:endParaRPr dirty="0"/>
          </a:p>
          <a:p>
            <a:pPr marL="742950" lvl="1" indent="-285750" algn="l" rtl="0">
              <a:lnSpc>
                <a:spcPct val="90000"/>
              </a:lnSpc>
              <a:spcBef>
                <a:spcPts val="5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1 – Однопользовательский режим, так называемый «</a:t>
            </a:r>
            <a:r>
              <a:rPr lang="ru-RU" b="0" i="0" dirty="0" err="1">
                <a:solidFill>
                  <a:srgbClr val="111111"/>
                </a:solidFill>
                <a:latin typeface="Arial"/>
                <a:ea typeface="Arial"/>
                <a:cs typeface="Arial"/>
                <a:sym typeface="Arial"/>
              </a:rPr>
              <a:t>Single</a:t>
            </a:r>
            <a:r>
              <a:rPr lang="ru-RU" b="0" i="0" dirty="0">
                <a:solidFill>
                  <a:srgbClr val="111111"/>
                </a:solidFill>
                <a:latin typeface="Arial"/>
                <a:ea typeface="Arial"/>
                <a:cs typeface="Arial"/>
                <a:sym typeface="Arial"/>
              </a:rPr>
              <a:t> </a:t>
            </a:r>
            <a:r>
              <a:rPr lang="ru-RU" b="0" i="0" dirty="0" err="1">
                <a:solidFill>
                  <a:srgbClr val="111111"/>
                </a:solidFill>
                <a:latin typeface="Arial"/>
                <a:ea typeface="Arial"/>
                <a:cs typeface="Arial"/>
                <a:sym typeface="Arial"/>
              </a:rPr>
              <a:t>user</a:t>
            </a:r>
            <a:r>
              <a:rPr lang="ru-RU" b="0" i="0" dirty="0">
                <a:solidFill>
                  <a:srgbClr val="111111"/>
                </a:solidFill>
                <a:latin typeface="Arial"/>
                <a:ea typeface="Arial"/>
                <a:cs typeface="Arial"/>
                <a:sym typeface="Arial"/>
              </a:rPr>
              <a:t> </a:t>
            </a:r>
            <a:r>
              <a:rPr lang="ru-RU" b="0" i="0" dirty="0" err="1">
                <a:solidFill>
                  <a:srgbClr val="111111"/>
                </a:solidFill>
                <a:latin typeface="Arial"/>
                <a:ea typeface="Arial"/>
                <a:cs typeface="Arial"/>
                <a:sym typeface="Arial"/>
              </a:rPr>
              <a:t>mode</a:t>
            </a:r>
            <a:r>
              <a:rPr lang="ru-RU" b="0" i="0" dirty="0">
                <a:solidFill>
                  <a:srgbClr val="111111"/>
                </a:solidFill>
                <a:latin typeface="Arial"/>
                <a:ea typeface="Arial"/>
                <a:cs typeface="Arial"/>
                <a:sym typeface="Arial"/>
              </a:rPr>
              <a:t>», или иными словами, консоль восстановления</a:t>
            </a:r>
            <a:endParaRPr dirty="0"/>
          </a:p>
          <a:p>
            <a:pPr marL="742950" lvl="1" indent="-285750" algn="l" rtl="0">
              <a:lnSpc>
                <a:spcPct val="90000"/>
              </a:lnSpc>
              <a:spcBef>
                <a:spcPts val="5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2 – Многопользовательский режим без поддержки NFS</a:t>
            </a:r>
            <a:endParaRPr dirty="0"/>
          </a:p>
          <a:p>
            <a:pPr marL="742950" lvl="1" indent="-285750" algn="l" rtl="0">
              <a:lnSpc>
                <a:spcPct val="90000"/>
              </a:lnSpc>
              <a:spcBef>
                <a:spcPts val="5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3 – Полноценный многопользовательский режим</a:t>
            </a:r>
            <a:endParaRPr dirty="0"/>
          </a:p>
          <a:p>
            <a:pPr marL="742950" lvl="1" indent="-285750" algn="l" rtl="0">
              <a:lnSpc>
                <a:spcPct val="90000"/>
              </a:lnSpc>
              <a:spcBef>
                <a:spcPts val="5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4 – не используется</a:t>
            </a:r>
            <a:endParaRPr dirty="0"/>
          </a:p>
          <a:p>
            <a:pPr marL="742950" lvl="1" indent="-285750" algn="l" rtl="0">
              <a:lnSpc>
                <a:spcPct val="90000"/>
              </a:lnSpc>
              <a:spcBef>
                <a:spcPts val="5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5 – </a:t>
            </a:r>
            <a:r>
              <a:rPr lang="ru-RU" b="0" i="0" dirty="0" smtClean="0">
                <a:solidFill>
                  <a:srgbClr val="111111"/>
                </a:solidFill>
                <a:latin typeface="Arial"/>
                <a:ea typeface="Arial"/>
                <a:cs typeface="Arial"/>
                <a:sym typeface="Arial"/>
              </a:rPr>
              <a:t>X11</a:t>
            </a:r>
            <a:r>
              <a:rPr lang="en-US" b="0" i="0" dirty="0" smtClean="0">
                <a:solidFill>
                  <a:srgbClr val="111111"/>
                </a:solidFill>
                <a:latin typeface="Arial"/>
                <a:ea typeface="Arial"/>
                <a:cs typeface="Arial"/>
                <a:sym typeface="Arial"/>
              </a:rPr>
              <a:t> (</a:t>
            </a:r>
            <a:r>
              <a:rPr lang="ru-RU" dirty="0" smtClean="0">
                <a:solidFill>
                  <a:srgbClr val="111111"/>
                </a:solidFill>
                <a:latin typeface="Arial"/>
                <a:ea typeface="Arial"/>
                <a:cs typeface="Arial"/>
                <a:sym typeface="Arial"/>
              </a:rPr>
              <a:t>графический режим)</a:t>
            </a:r>
            <a:endParaRPr dirty="0"/>
          </a:p>
          <a:p>
            <a:pPr marL="742950" lvl="1" indent="-285750" algn="l" rtl="0">
              <a:lnSpc>
                <a:spcPct val="90000"/>
              </a:lnSpc>
              <a:spcBef>
                <a:spcPts val="5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6 – </a:t>
            </a:r>
            <a:r>
              <a:rPr lang="ru-RU" b="0" i="0" dirty="0" smtClean="0">
                <a:solidFill>
                  <a:srgbClr val="111111"/>
                </a:solidFill>
                <a:latin typeface="Arial"/>
                <a:ea typeface="Arial"/>
                <a:cs typeface="Arial"/>
                <a:sym typeface="Arial"/>
              </a:rPr>
              <a:t>перезагрузка</a:t>
            </a:r>
          </a:p>
          <a:p>
            <a:pPr marL="457200" lvl="1" indent="0" algn="l" rtl="0">
              <a:lnSpc>
                <a:spcPct val="90000"/>
              </a:lnSpc>
              <a:spcBef>
                <a:spcPts val="500"/>
              </a:spcBef>
              <a:spcAft>
                <a:spcPts val="0"/>
              </a:spcAft>
              <a:buClr>
                <a:srgbClr val="111111"/>
              </a:buClr>
              <a:buSzPct val="100000"/>
              <a:buNone/>
            </a:pPr>
            <a:r>
              <a:rPr lang="en-US" b="1" dirty="0" err="1" smtClean="0">
                <a:solidFill>
                  <a:srgbClr val="111111"/>
                </a:solidFill>
                <a:latin typeface="Arial"/>
                <a:cs typeface="Arial"/>
                <a:sym typeface="Arial"/>
              </a:rPr>
              <a:t>telinit</a:t>
            </a:r>
            <a:r>
              <a:rPr lang="en-US" dirty="0" smtClean="0">
                <a:solidFill>
                  <a:srgbClr val="111111"/>
                </a:solidFill>
                <a:latin typeface="Arial"/>
                <a:cs typeface="Arial"/>
                <a:sym typeface="Arial"/>
              </a:rPr>
              <a:t> – </a:t>
            </a:r>
            <a:r>
              <a:rPr lang="ru-RU" dirty="0" smtClean="0">
                <a:solidFill>
                  <a:srgbClr val="111111"/>
                </a:solidFill>
                <a:latin typeface="Arial"/>
                <a:cs typeface="Arial"/>
                <a:sym typeface="Arial"/>
              </a:rPr>
              <a:t>команда смены уровня</a:t>
            </a:r>
            <a:endParaRPr dirty="0"/>
          </a:p>
          <a:p>
            <a:pPr marL="228600" lvl="0" indent="-228600" algn="l" rtl="0">
              <a:lnSpc>
                <a:spcPct val="90000"/>
              </a:lnSpc>
              <a:spcBef>
                <a:spcPts val="1000"/>
              </a:spcBef>
              <a:spcAft>
                <a:spcPts val="0"/>
              </a:spcAft>
              <a:buClr>
                <a:srgbClr val="111111"/>
              </a:buClr>
              <a:buSzPct val="100000"/>
              <a:buFont typeface="Arial"/>
              <a:buChar char="•"/>
            </a:pPr>
            <a:r>
              <a:rPr lang="ru-RU" b="0" i="0" dirty="0" err="1">
                <a:solidFill>
                  <a:srgbClr val="111111"/>
                </a:solidFill>
                <a:latin typeface="Arial"/>
                <a:ea typeface="Arial"/>
                <a:cs typeface="Arial"/>
                <a:sym typeface="Arial"/>
              </a:rPr>
              <a:t>Init</a:t>
            </a:r>
            <a:r>
              <a:rPr lang="ru-RU" b="0" i="0" dirty="0">
                <a:solidFill>
                  <a:srgbClr val="111111"/>
                </a:solidFill>
                <a:latin typeface="Arial"/>
                <a:ea typeface="Arial"/>
                <a:cs typeface="Arial"/>
                <a:sym typeface="Arial"/>
              </a:rPr>
              <a:t> определяет уровень выполнения по умолчанию исходя из /</a:t>
            </a:r>
            <a:r>
              <a:rPr lang="ru-RU" b="0" i="0" dirty="0" err="1">
                <a:solidFill>
                  <a:srgbClr val="111111"/>
                </a:solidFill>
                <a:latin typeface="Arial"/>
                <a:ea typeface="Arial"/>
                <a:cs typeface="Arial"/>
                <a:sym typeface="Arial"/>
              </a:rPr>
              <a:t>etc</a:t>
            </a:r>
            <a:r>
              <a:rPr lang="ru-RU" b="0" i="0" dirty="0">
                <a:solidFill>
                  <a:srgbClr val="111111"/>
                </a:solidFill>
                <a:latin typeface="Arial"/>
                <a:ea typeface="Arial"/>
                <a:cs typeface="Arial"/>
                <a:sym typeface="Arial"/>
              </a:rPr>
              <a:t>/</a:t>
            </a:r>
            <a:r>
              <a:rPr lang="ru-RU" b="0" i="0" dirty="0" err="1">
                <a:solidFill>
                  <a:srgbClr val="111111"/>
                </a:solidFill>
                <a:latin typeface="Arial"/>
                <a:ea typeface="Arial"/>
                <a:cs typeface="Arial"/>
                <a:sym typeface="Arial"/>
              </a:rPr>
              <a:t>inittab</a:t>
            </a:r>
            <a:r>
              <a:rPr lang="ru-RU" b="0" i="0" dirty="0">
                <a:solidFill>
                  <a:srgbClr val="111111"/>
                </a:solidFill>
                <a:latin typeface="Arial"/>
                <a:ea typeface="Arial"/>
                <a:cs typeface="Arial"/>
                <a:sym typeface="Arial"/>
              </a:rPr>
              <a:t> и использует его для загрузки всех необходимых программ.</a:t>
            </a:r>
            <a:endParaRPr dirty="0"/>
          </a:p>
          <a:p>
            <a:pPr marL="228600" lvl="0" indent="-228600" algn="l" rtl="0">
              <a:lnSpc>
                <a:spcPct val="90000"/>
              </a:lnSpc>
              <a:spcBef>
                <a:spcPts val="10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Выполните «</a:t>
            </a:r>
            <a:r>
              <a:rPr lang="ru-RU" b="0" i="0" dirty="0" err="1">
                <a:solidFill>
                  <a:srgbClr val="111111"/>
                </a:solidFill>
                <a:latin typeface="Arial"/>
                <a:ea typeface="Arial"/>
                <a:cs typeface="Arial"/>
                <a:sym typeface="Arial"/>
              </a:rPr>
              <a:t>grep</a:t>
            </a:r>
            <a:r>
              <a:rPr lang="ru-RU" b="0" i="0" dirty="0">
                <a:solidFill>
                  <a:srgbClr val="111111"/>
                </a:solidFill>
                <a:latin typeface="Arial"/>
                <a:ea typeface="Arial"/>
                <a:cs typeface="Arial"/>
                <a:sym typeface="Arial"/>
              </a:rPr>
              <a:t> </a:t>
            </a:r>
            <a:r>
              <a:rPr lang="ru-RU" b="0" i="0" dirty="0" err="1">
                <a:solidFill>
                  <a:srgbClr val="111111"/>
                </a:solidFill>
                <a:latin typeface="Arial"/>
                <a:ea typeface="Arial"/>
                <a:cs typeface="Arial"/>
                <a:sym typeface="Arial"/>
              </a:rPr>
              <a:t>initdefault</a:t>
            </a:r>
            <a:r>
              <a:rPr lang="ru-RU" b="0" i="0" dirty="0">
                <a:solidFill>
                  <a:srgbClr val="111111"/>
                </a:solidFill>
                <a:latin typeface="Arial"/>
                <a:ea typeface="Arial"/>
                <a:cs typeface="Arial"/>
                <a:sym typeface="Arial"/>
              </a:rPr>
              <a:t> /</a:t>
            </a:r>
            <a:r>
              <a:rPr lang="ru-RU" b="0" i="0" dirty="0" err="1">
                <a:solidFill>
                  <a:srgbClr val="111111"/>
                </a:solidFill>
                <a:latin typeface="Arial"/>
                <a:ea typeface="Arial"/>
                <a:cs typeface="Arial"/>
                <a:sym typeface="Arial"/>
              </a:rPr>
              <a:t>etc</a:t>
            </a:r>
            <a:r>
              <a:rPr lang="ru-RU" b="0" i="0" dirty="0">
                <a:solidFill>
                  <a:srgbClr val="111111"/>
                </a:solidFill>
                <a:latin typeface="Arial"/>
                <a:ea typeface="Arial"/>
                <a:cs typeface="Arial"/>
                <a:sym typeface="Arial"/>
              </a:rPr>
              <a:t>/</a:t>
            </a:r>
            <a:r>
              <a:rPr lang="ru-RU" b="0" i="0" dirty="0" err="1">
                <a:solidFill>
                  <a:srgbClr val="111111"/>
                </a:solidFill>
                <a:latin typeface="Arial"/>
                <a:ea typeface="Arial"/>
                <a:cs typeface="Arial"/>
                <a:sym typeface="Arial"/>
              </a:rPr>
              <a:t>inittab</a:t>
            </a:r>
            <a:r>
              <a:rPr lang="ru-RU" b="0" i="0" dirty="0">
                <a:solidFill>
                  <a:srgbClr val="111111"/>
                </a:solidFill>
                <a:latin typeface="Arial"/>
                <a:ea typeface="Arial"/>
                <a:cs typeface="Arial"/>
                <a:sym typeface="Arial"/>
              </a:rPr>
              <a:t>» на вашей системе, и вы узнаете, какой уровень по умолчанию используется. </a:t>
            </a:r>
            <a:endParaRPr b="0" i="0" dirty="0">
              <a:solidFill>
                <a:srgbClr val="111111"/>
              </a:solidFill>
              <a:latin typeface="Arial"/>
              <a:ea typeface="Arial"/>
              <a:cs typeface="Arial"/>
              <a:sym typeface="Arial"/>
            </a:endParaRPr>
          </a:p>
          <a:p>
            <a:pPr marL="228600" lvl="0" indent="-228600" algn="l" rtl="0">
              <a:lnSpc>
                <a:spcPct val="90000"/>
              </a:lnSpc>
              <a:spcBef>
                <a:spcPts val="1000"/>
              </a:spcBef>
              <a:spcAft>
                <a:spcPts val="0"/>
              </a:spcAft>
              <a:buClr>
                <a:srgbClr val="111111"/>
              </a:buClr>
              <a:buSzPct val="100000"/>
              <a:buFont typeface="Arial"/>
              <a:buChar char="•"/>
            </a:pPr>
            <a:r>
              <a:rPr lang="ru-RU" b="0" i="0" dirty="0">
                <a:solidFill>
                  <a:srgbClr val="111111"/>
                </a:solidFill>
                <a:latin typeface="Arial"/>
                <a:ea typeface="Arial"/>
                <a:cs typeface="Arial"/>
                <a:sym typeface="Arial"/>
              </a:rPr>
              <a:t>В большинстве случаев вам будет достаточно уровня 3 или 5.</a:t>
            </a:r>
            <a:endParaRPr dirty="0"/>
          </a:p>
          <a:p>
            <a:pPr marL="228600" lvl="0" indent="-77470" algn="l" rtl="0">
              <a:lnSpc>
                <a:spcPct val="90000"/>
              </a:lnSpc>
              <a:spcBef>
                <a:spcPts val="1000"/>
              </a:spcBef>
              <a:spcAft>
                <a:spcPts val="0"/>
              </a:spcAft>
              <a:buClr>
                <a:schemeClr val="dk1"/>
              </a:buClr>
              <a:buSzPct val="100000"/>
              <a:buNone/>
            </a:pP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14</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1"/>
          <p:cNvSpPr txBox="1">
            <a:spLocks noGrp="1"/>
          </p:cNvSpPr>
          <p:nvPr>
            <p:ph type="title"/>
          </p:nvPr>
        </p:nvSpPr>
        <p:spPr>
          <a:xfrm>
            <a:off x="150057" y="18257"/>
            <a:ext cx="12041945"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111111"/>
              </a:buClr>
              <a:buSzPts val="4400"/>
              <a:buFont typeface="Fira Sans"/>
              <a:buNone/>
            </a:pPr>
            <a:r>
              <a:rPr lang="ru-RU" b="0" i="0">
                <a:solidFill>
                  <a:srgbClr val="111111"/>
                </a:solidFill>
                <a:latin typeface="Fira Sans"/>
                <a:ea typeface="Fira Sans"/>
                <a:cs typeface="Fira Sans"/>
                <a:sym typeface="Fira Sans"/>
              </a:rPr>
              <a:t>Уровень выполнения программ (Runlevel)</a:t>
            </a:r>
            <a:endParaRPr/>
          </a:p>
        </p:txBody>
      </p:sp>
      <p:sp>
        <p:nvSpPr>
          <p:cNvPr id="145" name="Google Shape;145;p11"/>
          <p:cNvSpPr txBox="1">
            <a:spLocks noGrp="1"/>
          </p:cNvSpPr>
          <p:nvPr>
            <p:ph type="body" idx="1"/>
          </p:nvPr>
        </p:nvSpPr>
        <p:spPr>
          <a:xfrm>
            <a:off x="150056" y="1167620"/>
            <a:ext cx="12041945" cy="5528603"/>
          </a:xfrm>
          <a:prstGeom prst="rect">
            <a:avLst/>
          </a:prstGeom>
          <a:noFill/>
          <a:ln>
            <a:noFill/>
          </a:ln>
        </p:spPr>
        <p:txBody>
          <a:bodyPr spcFirstLastPara="1" wrap="square" lIns="91425" tIns="45700" rIns="91425" bIns="45700" anchor="t" anchorCtr="0">
            <a:normAutofit fontScale="40000" lnSpcReduction="20000"/>
          </a:bodyPr>
          <a:lstStyle/>
          <a:p>
            <a:pPr marL="228600" lvl="0" indent="-228600" algn="l" rtl="0">
              <a:lnSpc>
                <a:spcPct val="90000"/>
              </a:lnSpc>
              <a:spcBef>
                <a:spcPts val="0"/>
              </a:spcBef>
              <a:spcAft>
                <a:spcPts val="0"/>
              </a:spcAft>
              <a:buClr>
                <a:srgbClr val="111111"/>
              </a:buClr>
              <a:buSzPct val="100000"/>
              <a:buFont typeface="Arial"/>
              <a:buChar char="•"/>
            </a:pPr>
            <a:r>
              <a:rPr lang="ru-RU" sz="7200" b="0" i="0">
                <a:solidFill>
                  <a:srgbClr val="111111"/>
                </a:solidFill>
                <a:latin typeface="Arial"/>
                <a:ea typeface="Arial"/>
                <a:cs typeface="Arial"/>
                <a:sym typeface="Arial"/>
              </a:rPr>
              <a:t>Когда Linux выполняет свою загрузку, вы можете наблюдать загрузку различных служб. К примеру, это могут быть сообщения типа «starting Postfix … OK» (запускается Postfix). Эти службы — и называются программами уровня выполнения, выполняемые из директории, которая соответствует нужному уровню выполнения.</a:t>
            </a:r>
            <a:endParaRPr/>
          </a:p>
          <a:p>
            <a:pPr marL="228600" lvl="0" indent="-228600" algn="l" rtl="0">
              <a:lnSpc>
                <a:spcPct val="90000"/>
              </a:lnSpc>
              <a:spcBef>
                <a:spcPts val="1000"/>
              </a:spcBef>
              <a:spcAft>
                <a:spcPts val="0"/>
              </a:spcAft>
              <a:buClr>
                <a:srgbClr val="111111"/>
              </a:buClr>
              <a:buSzPct val="100000"/>
              <a:buFont typeface="Arial"/>
              <a:buChar char="•"/>
            </a:pPr>
            <a:r>
              <a:rPr lang="ru-RU" sz="7200" b="0" i="0">
                <a:solidFill>
                  <a:srgbClr val="111111"/>
                </a:solidFill>
                <a:latin typeface="Arial"/>
                <a:ea typeface="Arial"/>
                <a:cs typeface="Arial"/>
                <a:sym typeface="Arial"/>
              </a:rPr>
              <a:t>Исходя из настроек по умолчанию, система будет выполнять файлы в соответствии с нижеприведенными директориями.</a:t>
            </a:r>
            <a:br>
              <a:rPr lang="ru-RU" sz="7200" b="0" i="0">
                <a:solidFill>
                  <a:srgbClr val="111111"/>
                </a:solidFill>
                <a:latin typeface="Arial"/>
                <a:ea typeface="Arial"/>
                <a:cs typeface="Arial"/>
                <a:sym typeface="Arial"/>
              </a:rPr>
            </a:br>
            <a:endParaRPr sz="7200" b="0" i="0">
              <a:solidFill>
                <a:srgbClr val="111111"/>
              </a:solidFill>
              <a:latin typeface="Arial"/>
              <a:ea typeface="Arial"/>
              <a:cs typeface="Arial"/>
              <a:sym typeface="Arial"/>
            </a:endParaRPr>
          </a:p>
          <a:p>
            <a:pPr marL="742950" lvl="1" indent="-285750" algn="l" rtl="0">
              <a:lnSpc>
                <a:spcPct val="90000"/>
              </a:lnSpc>
              <a:spcBef>
                <a:spcPts val="500"/>
              </a:spcBef>
              <a:spcAft>
                <a:spcPts val="0"/>
              </a:spcAft>
              <a:buClr>
                <a:srgbClr val="111111"/>
              </a:buClr>
              <a:buSzPct val="100000"/>
              <a:buFont typeface="Arial"/>
              <a:buChar char="•"/>
            </a:pPr>
            <a:r>
              <a:rPr lang="ru-RU" sz="7200" b="0" i="0">
                <a:solidFill>
                  <a:srgbClr val="111111"/>
                </a:solidFill>
                <a:latin typeface="Arial"/>
                <a:ea typeface="Arial"/>
                <a:cs typeface="Arial"/>
                <a:sym typeface="Arial"/>
              </a:rPr>
              <a:t>Выполнение уровня 0 – /etc/rc0.d/</a:t>
            </a:r>
            <a:endParaRPr/>
          </a:p>
          <a:p>
            <a:pPr marL="742950" lvl="1" indent="-285750" algn="l" rtl="0">
              <a:lnSpc>
                <a:spcPct val="90000"/>
              </a:lnSpc>
              <a:spcBef>
                <a:spcPts val="500"/>
              </a:spcBef>
              <a:spcAft>
                <a:spcPts val="0"/>
              </a:spcAft>
              <a:buClr>
                <a:srgbClr val="111111"/>
              </a:buClr>
              <a:buSzPct val="100000"/>
              <a:buFont typeface="Arial"/>
              <a:buChar char="•"/>
            </a:pPr>
            <a:r>
              <a:rPr lang="ru-RU" sz="7200" b="0" i="0">
                <a:solidFill>
                  <a:srgbClr val="111111"/>
                </a:solidFill>
                <a:latin typeface="Arial"/>
                <a:ea typeface="Arial"/>
                <a:cs typeface="Arial"/>
                <a:sym typeface="Arial"/>
              </a:rPr>
              <a:t>Выполнение уровня 1 – /etc/rc1.d/</a:t>
            </a:r>
            <a:endParaRPr/>
          </a:p>
          <a:p>
            <a:pPr marL="742950" lvl="1" indent="-285750" algn="l" rtl="0">
              <a:lnSpc>
                <a:spcPct val="90000"/>
              </a:lnSpc>
              <a:spcBef>
                <a:spcPts val="500"/>
              </a:spcBef>
              <a:spcAft>
                <a:spcPts val="0"/>
              </a:spcAft>
              <a:buClr>
                <a:srgbClr val="111111"/>
              </a:buClr>
              <a:buSzPct val="100000"/>
              <a:buFont typeface="Arial"/>
              <a:buChar char="•"/>
            </a:pPr>
            <a:r>
              <a:rPr lang="ru-RU" sz="7200" b="0" i="0">
                <a:solidFill>
                  <a:srgbClr val="111111"/>
                </a:solidFill>
                <a:latin typeface="Arial"/>
                <a:ea typeface="Arial"/>
                <a:cs typeface="Arial"/>
                <a:sym typeface="Arial"/>
              </a:rPr>
              <a:t>Выполнение уровня 2 – /etc/rc2.d/</a:t>
            </a:r>
            <a:endParaRPr/>
          </a:p>
          <a:p>
            <a:pPr marL="742950" lvl="1" indent="-285750" algn="l" rtl="0">
              <a:lnSpc>
                <a:spcPct val="90000"/>
              </a:lnSpc>
              <a:spcBef>
                <a:spcPts val="500"/>
              </a:spcBef>
              <a:spcAft>
                <a:spcPts val="0"/>
              </a:spcAft>
              <a:buClr>
                <a:srgbClr val="111111"/>
              </a:buClr>
              <a:buSzPct val="100000"/>
              <a:buFont typeface="Arial"/>
              <a:buChar char="•"/>
            </a:pPr>
            <a:r>
              <a:rPr lang="ru-RU" sz="7200" b="0" i="0">
                <a:solidFill>
                  <a:srgbClr val="111111"/>
                </a:solidFill>
                <a:latin typeface="Arial"/>
                <a:ea typeface="Arial"/>
                <a:cs typeface="Arial"/>
                <a:sym typeface="Arial"/>
              </a:rPr>
              <a:t>Выполнение уровня 3 – /etc/rc3.d/</a:t>
            </a:r>
            <a:endParaRPr/>
          </a:p>
          <a:p>
            <a:pPr marL="742950" lvl="1" indent="-285750" algn="l" rtl="0">
              <a:lnSpc>
                <a:spcPct val="90000"/>
              </a:lnSpc>
              <a:spcBef>
                <a:spcPts val="500"/>
              </a:spcBef>
              <a:spcAft>
                <a:spcPts val="0"/>
              </a:spcAft>
              <a:buClr>
                <a:srgbClr val="111111"/>
              </a:buClr>
              <a:buSzPct val="100000"/>
              <a:buFont typeface="Arial"/>
              <a:buChar char="•"/>
            </a:pPr>
            <a:r>
              <a:rPr lang="ru-RU" sz="7200" b="0" i="0">
                <a:solidFill>
                  <a:srgbClr val="111111"/>
                </a:solidFill>
                <a:latin typeface="Arial"/>
                <a:ea typeface="Arial"/>
                <a:cs typeface="Arial"/>
                <a:sym typeface="Arial"/>
              </a:rPr>
              <a:t>Выполнение уровня 4 – /etc/rc4.d/</a:t>
            </a:r>
            <a:endParaRPr/>
          </a:p>
          <a:p>
            <a:pPr marL="742950" lvl="1" indent="-285750" algn="l" rtl="0">
              <a:lnSpc>
                <a:spcPct val="90000"/>
              </a:lnSpc>
              <a:spcBef>
                <a:spcPts val="500"/>
              </a:spcBef>
              <a:spcAft>
                <a:spcPts val="0"/>
              </a:spcAft>
              <a:buClr>
                <a:srgbClr val="111111"/>
              </a:buClr>
              <a:buSzPct val="100000"/>
              <a:buFont typeface="Arial"/>
              <a:buChar char="•"/>
            </a:pPr>
            <a:r>
              <a:rPr lang="ru-RU" sz="7200" b="0" i="0">
                <a:solidFill>
                  <a:srgbClr val="111111"/>
                </a:solidFill>
                <a:latin typeface="Arial"/>
                <a:ea typeface="Arial"/>
                <a:cs typeface="Arial"/>
                <a:sym typeface="Arial"/>
              </a:rPr>
              <a:t>Выполнение уровня 5 – /etc/rc5.d/</a:t>
            </a:r>
            <a:endParaRPr/>
          </a:p>
          <a:p>
            <a:pPr marL="742950" lvl="1" indent="-285750" algn="l" rtl="0">
              <a:lnSpc>
                <a:spcPct val="90000"/>
              </a:lnSpc>
              <a:spcBef>
                <a:spcPts val="500"/>
              </a:spcBef>
              <a:spcAft>
                <a:spcPts val="0"/>
              </a:spcAft>
              <a:buClr>
                <a:srgbClr val="111111"/>
              </a:buClr>
              <a:buSzPct val="100000"/>
              <a:buFont typeface="Arial"/>
              <a:buChar char="•"/>
            </a:pPr>
            <a:r>
              <a:rPr lang="ru-RU" sz="7200" b="0" i="0">
                <a:solidFill>
                  <a:srgbClr val="111111"/>
                </a:solidFill>
                <a:latin typeface="Arial"/>
                <a:ea typeface="Arial"/>
                <a:cs typeface="Arial"/>
                <a:sym typeface="Arial"/>
              </a:rPr>
              <a:t>Выполнение уровня 6 – /etc/rc6.d/</a:t>
            </a:r>
            <a:endParaRPr/>
          </a:p>
          <a:p>
            <a:pPr marL="228600" lvl="0" indent="-157480" algn="l" rtl="0">
              <a:lnSpc>
                <a:spcPct val="90000"/>
              </a:lnSpc>
              <a:spcBef>
                <a:spcPts val="1000"/>
              </a:spcBef>
              <a:spcAft>
                <a:spcPts val="0"/>
              </a:spcAft>
              <a:buClr>
                <a:schemeClr val="dk1"/>
              </a:buClr>
              <a:buSzPct val="100000"/>
              <a:buNone/>
            </a:pPr>
            <a:endParaRPr/>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15</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2"/>
          <p:cNvSpPr txBox="1">
            <a:spLocks noGrp="1"/>
          </p:cNvSpPr>
          <p:nvPr>
            <p:ph type="title"/>
          </p:nvPr>
        </p:nvSpPr>
        <p:spPr>
          <a:xfrm>
            <a:off x="267287" y="365127"/>
            <a:ext cx="11732456"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111111"/>
              </a:buClr>
              <a:buSzPts val="4400"/>
              <a:buFont typeface="Fira Sans"/>
              <a:buNone/>
            </a:pPr>
            <a:r>
              <a:rPr lang="ru-RU" b="0" i="0">
                <a:solidFill>
                  <a:srgbClr val="111111"/>
                </a:solidFill>
                <a:latin typeface="Fira Sans"/>
                <a:ea typeface="Fira Sans"/>
                <a:cs typeface="Fira Sans"/>
                <a:sym typeface="Fira Sans"/>
              </a:rPr>
              <a:t>Уровень выполнения программ (Runlevel)</a:t>
            </a:r>
            <a:endParaRPr/>
          </a:p>
        </p:txBody>
      </p:sp>
      <p:sp>
        <p:nvSpPr>
          <p:cNvPr id="151" name="Google Shape;151;p12"/>
          <p:cNvSpPr txBox="1">
            <a:spLocks noGrp="1"/>
          </p:cNvSpPr>
          <p:nvPr>
            <p:ph type="body" idx="1"/>
          </p:nvPr>
        </p:nvSpPr>
        <p:spPr>
          <a:xfrm>
            <a:off x="192258" y="1690690"/>
            <a:ext cx="11999743" cy="4802187"/>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rgbClr val="111111"/>
              </a:buClr>
              <a:buSzPct val="100000"/>
              <a:buFont typeface="Arial"/>
              <a:buChar char="•"/>
            </a:pPr>
            <a:r>
              <a:rPr lang="ru-RU" sz="2800" b="0" i="0">
                <a:solidFill>
                  <a:srgbClr val="111111"/>
                </a:solidFill>
                <a:latin typeface="Arial"/>
                <a:ea typeface="Arial"/>
                <a:cs typeface="Arial"/>
                <a:sym typeface="Arial"/>
              </a:rPr>
              <a:t>В каталоге /etc могут быть символические ссылки. Например, /etc/rc0.d залинкован на /etc/rc.d/rc0.d.</a:t>
            </a:r>
            <a:endParaRPr/>
          </a:p>
          <a:p>
            <a:pPr marL="228600" lvl="0" indent="-228600" algn="l" rtl="0">
              <a:lnSpc>
                <a:spcPct val="90000"/>
              </a:lnSpc>
              <a:spcBef>
                <a:spcPts val="1000"/>
              </a:spcBef>
              <a:spcAft>
                <a:spcPts val="0"/>
              </a:spcAft>
              <a:buClr>
                <a:srgbClr val="111111"/>
              </a:buClr>
              <a:buSzPct val="100000"/>
              <a:buFont typeface="Arial"/>
              <a:buChar char="•"/>
            </a:pPr>
            <a:r>
              <a:rPr lang="ru-RU" sz="2800" b="0" i="0">
                <a:solidFill>
                  <a:srgbClr val="111111"/>
                </a:solidFill>
                <a:latin typeface="Arial"/>
                <a:ea typeface="Arial"/>
                <a:cs typeface="Arial"/>
                <a:sym typeface="Arial"/>
              </a:rPr>
              <a:t>В каталогах /etc/rc.d/rc*.d/ вы можете увидеть список программ, имя которых начинается из букв S и K.</a:t>
            </a:r>
            <a:endParaRPr/>
          </a:p>
          <a:p>
            <a:pPr marL="228600" lvl="0" indent="-228600" algn="l" rtl="0">
              <a:lnSpc>
                <a:spcPct val="90000"/>
              </a:lnSpc>
              <a:spcBef>
                <a:spcPts val="1000"/>
              </a:spcBef>
              <a:spcAft>
                <a:spcPts val="0"/>
              </a:spcAft>
              <a:buClr>
                <a:srgbClr val="111111"/>
              </a:buClr>
              <a:buSzPct val="100000"/>
              <a:buFont typeface="Arial"/>
              <a:buChar char="•"/>
            </a:pPr>
            <a:r>
              <a:rPr lang="ru-RU" sz="2800" b="0" i="0">
                <a:solidFill>
                  <a:srgbClr val="111111"/>
                </a:solidFill>
                <a:latin typeface="Arial"/>
                <a:ea typeface="Arial"/>
                <a:cs typeface="Arial"/>
                <a:sym typeface="Arial"/>
              </a:rPr>
              <a:t>Программы, начинающиеся на S используются для запуска. S, потому что </a:t>
            </a:r>
            <a:r>
              <a:rPr lang="ru-RU" sz="2800" b="1" i="0">
                <a:solidFill>
                  <a:srgbClr val="111111"/>
                </a:solidFill>
                <a:latin typeface="Arial"/>
                <a:ea typeface="Arial"/>
                <a:cs typeface="Arial"/>
                <a:sym typeface="Arial"/>
              </a:rPr>
              <a:t>s</a:t>
            </a:r>
            <a:r>
              <a:rPr lang="ru-RU" sz="2800" b="0" i="0">
                <a:solidFill>
                  <a:srgbClr val="111111"/>
                </a:solidFill>
                <a:latin typeface="Arial"/>
                <a:ea typeface="Arial"/>
                <a:cs typeface="Arial"/>
                <a:sym typeface="Arial"/>
              </a:rPr>
              <a:t>tartup.</a:t>
            </a:r>
            <a:endParaRPr/>
          </a:p>
          <a:p>
            <a:pPr marL="228600" lvl="0" indent="-228600" algn="l" rtl="0">
              <a:lnSpc>
                <a:spcPct val="90000"/>
              </a:lnSpc>
              <a:spcBef>
                <a:spcPts val="1000"/>
              </a:spcBef>
              <a:spcAft>
                <a:spcPts val="0"/>
              </a:spcAft>
              <a:buClr>
                <a:srgbClr val="111111"/>
              </a:buClr>
              <a:buSzPct val="100000"/>
              <a:buFont typeface="Arial"/>
              <a:buChar char="•"/>
            </a:pPr>
            <a:r>
              <a:rPr lang="ru-RU" sz="2800" b="0" i="0">
                <a:solidFill>
                  <a:srgbClr val="111111"/>
                </a:solidFill>
                <a:latin typeface="Arial"/>
                <a:ea typeface="Arial"/>
                <a:cs typeface="Arial"/>
                <a:sym typeface="Arial"/>
              </a:rPr>
              <a:t>Программы, которые начинаются с литеры K используются — правильно — для завершения работы. K, потому что </a:t>
            </a:r>
            <a:r>
              <a:rPr lang="ru-RU" sz="2800" b="1" i="0">
                <a:solidFill>
                  <a:srgbClr val="111111"/>
                </a:solidFill>
                <a:latin typeface="Arial"/>
                <a:ea typeface="Arial"/>
                <a:cs typeface="Arial"/>
                <a:sym typeface="Arial"/>
              </a:rPr>
              <a:t>k</a:t>
            </a:r>
            <a:r>
              <a:rPr lang="ru-RU" sz="2800" b="0" i="0">
                <a:solidFill>
                  <a:srgbClr val="111111"/>
                </a:solidFill>
                <a:latin typeface="Arial"/>
                <a:ea typeface="Arial"/>
                <a:cs typeface="Arial"/>
                <a:sym typeface="Arial"/>
              </a:rPr>
              <a:t>ill.</a:t>
            </a:r>
            <a:endParaRPr/>
          </a:p>
          <a:p>
            <a:pPr marL="228600" lvl="0" indent="-228600" algn="l" rtl="0">
              <a:lnSpc>
                <a:spcPct val="90000"/>
              </a:lnSpc>
              <a:spcBef>
                <a:spcPts val="1000"/>
              </a:spcBef>
              <a:spcAft>
                <a:spcPts val="0"/>
              </a:spcAft>
              <a:buClr>
                <a:srgbClr val="111111"/>
              </a:buClr>
              <a:buSzPct val="100000"/>
              <a:buFont typeface="Arial"/>
              <a:buChar char="•"/>
            </a:pPr>
            <a:r>
              <a:rPr lang="ru-RU" sz="2800" b="0" i="0">
                <a:solidFill>
                  <a:srgbClr val="111111"/>
                </a:solidFill>
                <a:latin typeface="Arial"/>
                <a:ea typeface="Arial"/>
                <a:cs typeface="Arial"/>
                <a:sym typeface="Arial"/>
              </a:rPr>
              <a:t>Еще есть номера рядом с буквами S и K в именах программ. Эти номера используются для определения порядка запуска этих программ.</a:t>
            </a:r>
            <a:endParaRPr/>
          </a:p>
          <a:p>
            <a:pPr marL="228600" lvl="0" indent="-228600" algn="l" rtl="0">
              <a:lnSpc>
                <a:spcPct val="90000"/>
              </a:lnSpc>
              <a:spcBef>
                <a:spcPts val="1000"/>
              </a:spcBef>
              <a:spcAft>
                <a:spcPts val="0"/>
              </a:spcAft>
              <a:buClr>
                <a:srgbClr val="111111"/>
              </a:buClr>
              <a:buSzPct val="100000"/>
              <a:buFont typeface="Arial"/>
              <a:buChar char="•"/>
            </a:pPr>
            <a:r>
              <a:rPr lang="ru-RU" sz="2800" b="0" i="0">
                <a:solidFill>
                  <a:srgbClr val="111111"/>
                </a:solidFill>
                <a:latin typeface="Arial"/>
                <a:ea typeface="Arial"/>
                <a:cs typeface="Arial"/>
                <a:sym typeface="Arial"/>
              </a:rPr>
              <a:t>К примеру, S12syslog предназначен для запуска демона syslog, его порядковый номер 12. S80sendmail — для запуска демона sendmail, имеющего порядковый номер 80. Таким образом, программа syslog будет запущена перед sendmail.</a:t>
            </a:r>
            <a:endParaRPr/>
          </a:p>
          <a:p>
            <a:pPr marL="228600" lvl="0" indent="-64135" algn="l" rtl="0">
              <a:lnSpc>
                <a:spcPct val="90000"/>
              </a:lnSpc>
              <a:spcBef>
                <a:spcPts val="1000"/>
              </a:spcBef>
              <a:spcAft>
                <a:spcPts val="0"/>
              </a:spcAft>
              <a:buClr>
                <a:schemeClr val="dk1"/>
              </a:buClr>
              <a:buSzPct val="100000"/>
              <a:buNone/>
            </a:pPr>
            <a:endParaRPr/>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16</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Sergei\YandexDisk\Интернет\Eltex linux весна 2025\boot_phase_bio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624" y="332656"/>
            <a:ext cx="6103709" cy="2952328"/>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C:\Users\Sergei\YandexDisk\Интернет\Eltex linux весна 2025\boot_phase_load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353" y="3467280"/>
            <a:ext cx="5864159" cy="284204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Users\Sergei\YandexDisk\Интернет\Eltex linux весна 2025\boot_phase_o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1" y="3429000"/>
            <a:ext cx="5504323" cy="2808312"/>
          </a:xfrm>
          <a:prstGeom prst="rect">
            <a:avLst/>
          </a:prstGeom>
          <a:noFill/>
          <a:extLst>
            <a:ext uri="{909E8E84-426E-40DD-AFC4-6F175D3DCCD1}">
              <a14:hiddenFill xmlns:a14="http://schemas.microsoft.com/office/drawing/2010/main">
                <a:solidFill>
                  <a:srgbClr val="FFFFFF"/>
                </a:solidFill>
              </a14:hiddenFill>
            </a:ext>
          </a:extLst>
        </p:spPr>
      </p:pic>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17</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22746465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3"/>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ru-RU" dirty="0"/>
              <a:t>Командная строка (CLI</a:t>
            </a:r>
            <a:r>
              <a:rPr lang="ru-RU" dirty="0" smtClean="0"/>
              <a:t>) </a:t>
            </a:r>
            <a:r>
              <a:rPr lang="en-US" dirty="0" smtClean="0"/>
              <a:t>Linux</a:t>
            </a:r>
            <a:endParaRPr dirty="0"/>
          </a:p>
        </p:txBody>
      </p:sp>
      <p:sp>
        <p:nvSpPr>
          <p:cNvPr id="157" name="Google Shape;157;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a:bodyPr>
          <a:lstStyle/>
          <a:p>
            <a:pPr marL="0" lvl="0" indent="0" algn="l" rtl="0">
              <a:lnSpc>
                <a:spcPct val="90000"/>
              </a:lnSpc>
              <a:spcBef>
                <a:spcPts val="1000"/>
              </a:spcBef>
              <a:spcAft>
                <a:spcPts val="0"/>
              </a:spcAft>
              <a:buClr>
                <a:schemeClr val="dk1"/>
              </a:buClr>
              <a:buSzPct val="100000"/>
              <a:buNone/>
            </a:pPr>
            <a:r>
              <a:rPr lang="ru-RU" dirty="0" smtClean="0">
                <a:latin typeface="Arial"/>
                <a:ea typeface="Arial"/>
                <a:cs typeface="Arial"/>
                <a:sym typeface="Arial"/>
              </a:rPr>
              <a:t>Открыть </a:t>
            </a:r>
            <a:r>
              <a:rPr lang="ru-RU" dirty="0">
                <a:latin typeface="Arial"/>
                <a:ea typeface="Arial"/>
                <a:cs typeface="Arial"/>
                <a:sym typeface="Arial"/>
              </a:rPr>
              <a:t>командную строку в </a:t>
            </a:r>
            <a:r>
              <a:rPr lang="ru-RU" dirty="0" err="1">
                <a:latin typeface="Arial"/>
                <a:ea typeface="Arial"/>
                <a:cs typeface="Arial"/>
                <a:sym typeface="Arial"/>
              </a:rPr>
              <a:t>Линукс</a:t>
            </a:r>
            <a:r>
              <a:rPr lang="ru-RU" dirty="0">
                <a:latin typeface="Arial"/>
                <a:ea typeface="Arial"/>
                <a:cs typeface="Arial"/>
                <a:sym typeface="Arial"/>
              </a:rPr>
              <a:t>-системах можно через консоль или терминал. В </a:t>
            </a:r>
            <a:r>
              <a:rPr lang="ru-RU" dirty="0" err="1">
                <a:latin typeface="Arial"/>
                <a:ea typeface="Arial"/>
                <a:cs typeface="Arial"/>
                <a:sym typeface="Arial"/>
              </a:rPr>
              <a:t>Ubuntu</a:t>
            </a:r>
            <a:r>
              <a:rPr lang="ru-RU" dirty="0">
                <a:latin typeface="Arial"/>
                <a:ea typeface="Arial"/>
                <a:cs typeface="Arial"/>
                <a:sym typeface="Arial"/>
              </a:rPr>
              <a:t> </a:t>
            </a:r>
            <a:r>
              <a:rPr lang="ru-RU" dirty="0" smtClean="0">
                <a:latin typeface="Arial"/>
                <a:ea typeface="Arial"/>
                <a:cs typeface="Arial"/>
                <a:sym typeface="Arial"/>
              </a:rPr>
              <a:t>консоль (текстовый терминал) </a:t>
            </a:r>
            <a:r>
              <a:rPr lang="ru-RU" dirty="0">
                <a:latin typeface="Arial"/>
                <a:ea typeface="Arial"/>
                <a:cs typeface="Arial"/>
                <a:sym typeface="Arial"/>
              </a:rPr>
              <a:t>запускается при загрузке системы. </a:t>
            </a:r>
            <a:r>
              <a:rPr lang="ru-RU" dirty="0" smtClean="0">
                <a:latin typeface="Arial"/>
                <a:ea typeface="Arial"/>
                <a:cs typeface="Arial"/>
                <a:sym typeface="Arial"/>
              </a:rPr>
              <a:t>Гра</a:t>
            </a:r>
            <a:r>
              <a:rPr lang="ru-RU" dirty="0">
                <a:latin typeface="Arial"/>
                <a:ea typeface="Arial"/>
                <a:cs typeface="Arial"/>
                <a:sym typeface="Arial"/>
              </a:rPr>
              <a:t>ф</a:t>
            </a:r>
            <a:r>
              <a:rPr lang="ru-RU" dirty="0" smtClean="0">
                <a:latin typeface="Arial"/>
                <a:ea typeface="Arial"/>
                <a:cs typeface="Arial"/>
                <a:sym typeface="Arial"/>
              </a:rPr>
              <a:t>ический терминал</a:t>
            </a:r>
            <a:r>
              <a:rPr lang="ru-RU" dirty="0">
                <a:latin typeface="Arial"/>
                <a:ea typeface="Arial"/>
                <a:cs typeface="Arial"/>
                <a:sym typeface="Arial"/>
              </a:rPr>
              <a:t> — это тоже консоль, но уже в графической оболочке. Его можно запустить, набрав слово Терминал в поисковой строке ОС, или через комбинацию клавиш </a:t>
            </a:r>
            <a:r>
              <a:rPr lang="ru-RU" dirty="0" err="1" smtClean="0">
                <a:latin typeface="Arial"/>
                <a:ea typeface="Arial"/>
                <a:cs typeface="Arial"/>
                <a:sym typeface="Arial"/>
              </a:rPr>
              <a:t>Ctrl+Alt+T</a:t>
            </a:r>
            <a:endParaRPr lang="en-US" dirty="0" smtClean="0">
              <a:latin typeface="Arial"/>
              <a:ea typeface="Arial"/>
              <a:cs typeface="Arial"/>
              <a:sym typeface="Arial"/>
            </a:endParaRPr>
          </a:p>
          <a:p>
            <a:pPr marL="0" lvl="0" indent="0" algn="l" rtl="0">
              <a:lnSpc>
                <a:spcPct val="90000"/>
              </a:lnSpc>
              <a:spcBef>
                <a:spcPts val="1000"/>
              </a:spcBef>
              <a:spcAft>
                <a:spcPts val="0"/>
              </a:spcAft>
              <a:buClr>
                <a:schemeClr val="dk1"/>
              </a:buClr>
              <a:buSzPct val="100000"/>
              <a:buNone/>
            </a:pPr>
            <a:endParaRPr lang="en-US" dirty="0">
              <a:latin typeface="Arial"/>
              <a:cs typeface="Arial"/>
              <a:sym typeface="Arial"/>
            </a:endParaRPr>
          </a:p>
          <a:p>
            <a:pPr marL="0" lvl="0" indent="0" algn="l" rtl="0">
              <a:lnSpc>
                <a:spcPct val="90000"/>
              </a:lnSpc>
              <a:spcBef>
                <a:spcPts val="1000"/>
              </a:spcBef>
              <a:spcAft>
                <a:spcPts val="0"/>
              </a:spcAft>
              <a:buClr>
                <a:schemeClr val="dk1"/>
              </a:buClr>
              <a:buSzPct val="100000"/>
              <a:buNone/>
            </a:pPr>
            <a:r>
              <a:rPr lang="ru-RU" dirty="0" smtClean="0">
                <a:latin typeface="Arial"/>
                <a:cs typeface="Arial"/>
                <a:sym typeface="Arial"/>
              </a:rPr>
              <a:t>Переключение между текстовыми консолями: </a:t>
            </a:r>
            <a:r>
              <a:rPr lang="en-US" dirty="0" smtClean="0">
                <a:latin typeface="Arial"/>
                <a:cs typeface="Arial"/>
                <a:sym typeface="Arial"/>
              </a:rPr>
              <a:t>Alt+F1..F9</a:t>
            </a:r>
          </a:p>
          <a:p>
            <a:pPr marL="0" lvl="0" indent="0" algn="l" rtl="0">
              <a:lnSpc>
                <a:spcPct val="90000"/>
              </a:lnSpc>
              <a:spcBef>
                <a:spcPts val="1000"/>
              </a:spcBef>
              <a:spcAft>
                <a:spcPts val="0"/>
              </a:spcAft>
              <a:buClr>
                <a:schemeClr val="dk1"/>
              </a:buClr>
              <a:buSzPct val="100000"/>
              <a:buNone/>
            </a:pPr>
            <a:r>
              <a:rPr lang="ru-RU" dirty="0" smtClean="0">
                <a:latin typeface="Arial"/>
                <a:cs typeface="Arial"/>
                <a:sym typeface="Arial"/>
              </a:rPr>
              <a:t>В графическом режиме: </a:t>
            </a:r>
            <a:r>
              <a:rPr lang="en-US" dirty="0" smtClean="0">
                <a:latin typeface="Arial"/>
                <a:cs typeface="Arial"/>
                <a:sym typeface="Arial"/>
              </a:rPr>
              <a:t>Ctr+Alt+F1..F9</a:t>
            </a:r>
          </a:p>
          <a:p>
            <a:pPr marL="0" lvl="0" indent="0" algn="l" rtl="0">
              <a:lnSpc>
                <a:spcPct val="90000"/>
              </a:lnSpc>
              <a:spcBef>
                <a:spcPts val="1000"/>
              </a:spcBef>
              <a:spcAft>
                <a:spcPts val="0"/>
              </a:spcAft>
              <a:buClr>
                <a:schemeClr val="dk1"/>
              </a:buClr>
              <a:buSzPct val="100000"/>
              <a:buNone/>
            </a:pPr>
            <a:r>
              <a:rPr lang="en-US" dirty="0" err="1" smtClean="0">
                <a:latin typeface="Arial"/>
                <a:cs typeface="Arial"/>
                <a:sym typeface="Arial"/>
              </a:rPr>
              <a:t>tty</a:t>
            </a: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18</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4"/>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ru-RU"/>
              <a:t>Вид команды</a:t>
            </a:r>
            <a:endParaRPr/>
          </a:p>
        </p:txBody>
      </p:sp>
      <p:sp>
        <p:nvSpPr>
          <p:cNvPr id="163" name="Google Shape;163;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800"/>
              <a:buNone/>
            </a:pPr>
            <a:r>
              <a:rPr lang="ru-RU" b="1" i="0" dirty="0">
                <a:latin typeface="PT Mono"/>
                <a:ea typeface="PT Mono"/>
                <a:cs typeface="PT Mono"/>
                <a:sym typeface="PT Mono"/>
              </a:rPr>
              <a:t>программа -ключ значение</a:t>
            </a:r>
            <a:endParaRPr dirty="0"/>
          </a:p>
          <a:p>
            <a:pPr marL="0" lvl="0" indent="0" algn="l" rtl="0">
              <a:lnSpc>
                <a:spcPct val="90000"/>
              </a:lnSpc>
              <a:spcBef>
                <a:spcPts val="1000"/>
              </a:spcBef>
              <a:spcAft>
                <a:spcPts val="0"/>
              </a:spcAft>
              <a:buClr>
                <a:schemeClr val="dk1"/>
              </a:buClr>
              <a:buSzPts val="2800"/>
              <a:buNone/>
            </a:pPr>
            <a:endParaRPr dirty="0">
              <a:latin typeface="PT Mono"/>
              <a:ea typeface="PT Mono"/>
              <a:cs typeface="PT Mono"/>
              <a:sym typeface="PT Mono"/>
            </a:endParaRPr>
          </a:p>
          <a:p>
            <a:pPr marL="228600" lvl="0" indent="-228600" algn="l" rtl="0">
              <a:lnSpc>
                <a:spcPct val="90000"/>
              </a:lnSpc>
              <a:spcBef>
                <a:spcPts val="1000"/>
              </a:spcBef>
              <a:spcAft>
                <a:spcPts val="0"/>
              </a:spcAft>
              <a:buClr>
                <a:schemeClr val="dk1"/>
              </a:buClr>
              <a:buSzPts val="2800"/>
              <a:buChar char="•"/>
            </a:pPr>
            <a:r>
              <a:rPr lang="ru-RU" b="1" dirty="0">
                <a:latin typeface="Arial"/>
                <a:ea typeface="Arial"/>
                <a:cs typeface="Arial"/>
                <a:sym typeface="Arial"/>
              </a:rPr>
              <a:t>Программа</a:t>
            </a:r>
            <a:r>
              <a:rPr lang="ru-RU" b="0" dirty="0">
                <a:latin typeface="Arial"/>
                <a:ea typeface="Arial"/>
                <a:cs typeface="Arial"/>
                <a:sym typeface="Arial"/>
              </a:rPr>
              <a:t> — это сам исполняемый файл. Другими словами, это программа, которая будет выполняться по команде.</a:t>
            </a:r>
            <a:endParaRPr dirty="0"/>
          </a:p>
          <a:p>
            <a:pPr marL="228600" lvl="0" indent="-228600" algn="l" rtl="0">
              <a:lnSpc>
                <a:spcPct val="90000"/>
              </a:lnSpc>
              <a:spcBef>
                <a:spcPts val="1000"/>
              </a:spcBef>
              <a:spcAft>
                <a:spcPts val="0"/>
              </a:spcAft>
              <a:buClr>
                <a:schemeClr val="dk1"/>
              </a:buClr>
              <a:buSzPts val="2800"/>
              <a:buChar char="•"/>
            </a:pPr>
            <a:r>
              <a:rPr lang="ru-RU" b="1" dirty="0">
                <a:latin typeface="Arial"/>
                <a:ea typeface="Arial"/>
                <a:cs typeface="Arial"/>
                <a:sym typeface="Arial"/>
              </a:rPr>
              <a:t>Ключ</a:t>
            </a:r>
            <a:r>
              <a:rPr lang="ru-RU" b="0" dirty="0">
                <a:latin typeface="Arial"/>
                <a:ea typeface="Arial"/>
                <a:cs typeface="Arial"/>
                <a:sym typeface="Arial"/>
              </a:rPr>
              <a:t> — обычно у каждой программы свой набор ключей. Их можно найти в мануале к программе.</a:t>
            </a:r>
            <a:endParaRPr dirty="0"/>
          </a:p>
          <a:p>
            <a:pPr marL="228600" lvl="0" indent="-228600" algn="l" rtl="0">
              <a:lnSpc>
                <a:spcPct val="90000"/>
              </a:lnSpc>
              <a:spcBef>
                <a:spcPts val="1000"/>
              </a:spcBef>
              <a:spcAft>
                <a:spcPts val="0"/>
              </a:spcAft>
              <a:buClr>
                <a:schemeClr val="dk1"/>
              </a:buClr>
              <a:buSzPts val="2800"/>
              <a:buChar char="•"/>
            </a:pPr>
            <a:r>
              <a:rPr lang="ru-RU" b="1" dirty="0">
                <a:latin typeface="Arial"/>
                <a:ea typeface="Arial"/>
                <a:cs typeface="Arial"/>
                <a:sym typeface="Arial"/>
              </a:rPr>
              <a:t>Значение</a:t>
            </a:r>
            <a:r>
              <a:rPr lang="ru-RU" b="0" dirty="0">
                <a:latin typeface="Arial"/>
                <a:ea typeface="Arial"/>
                <a:cs typeface="Arial"/>
                <a:sym typeface="Arial"/>
              </a:rPr>
              <a:t> — параметры программы: цифры, буквы, символы, переменные.</a:t>
            </a:r>
            <a:endParaRPr dirty="0"/>
          </a:p>
          <a:p>
            <a:pPr marL="0" lvl="0" indent="0" algn="l" rtl="0">
              <a:lnSpc>
                <a:spcPct val="90000"/>
              </a:lnSpc>
              <a:spcBef>
                <a:spcPts val="1000"/>
              </a:spcBef>
              <a:spcAft>
                <a:spcPts val="0"/>
              </a:spcAft>
              <a:buClr>
                <a:schemeClr val="dk1"/>
              </a:buClr>
              <a:buSzPts val="2800"/>
              <a:buNone/>
            </a:pP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19</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8"/>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ru-RU"/>
              <a:t>Работа с файлами и папками </a:t>
            </a:r>
            <a:endParaRPr/>
          </a:p>
        </p:txBody>
      </p:sp>
      <p:sp>
        <p:nvSpPr>
          <p:cNvPr id="305" name="Google Shape;305;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en-US" dirty="0" err="1"/>
              <a:t>l</a:t>
            </a:r>
            <a:r>
              <a:rPr lang="ru-RU" dirty="0" smtClean="0"/>
              <a:t>s </a:t>
            </a:r>
            <a:r>
              <a:rPr lang="ru-RU" dirty="0"/>
              <a:t>- список файлов в директории (ключ </a:t>
            </a:r>
            <a:r>
              <a:rPr lang="ru-RU" dirty="0" smtClean="0"/>
              <a:t>-l </a:t>
            </a:r>
            <a:r>
              <a:rPr lang="ru-RU" dirty="0"/>
              <a:t>для </a:t>
            </a:r>
            <a:r>
              <a:rPr lang="ru-RU" dirty="0" err="1"/>
              <a:t>бОльшей</a:t>
            </a:r>
            <a:r>
              <a:rPr lang="ru-RU" dirty="0"/>
              <a:t> информации)</a:t>
            </a:r>
            <a:endParaRPr dirty="0"/>
          </a:p>
          <a:p>
            <a:pPr marL="228600" lvl="0" indent="-228600" algn="l" rtl="0">
              <a:lnSpc>
                <a:spcPct val="90000"/>
              </a:lnSpc>
              <a:spcBef>
                <a:spcPts val="1000"/>
              </a:spcBef>
              <a:spcAft>
                <a:spcPts val="0"/>
              </a:spcAft>
              <a:buClr>
                <a:schemeClr val="dk1"/>
              </a:buClr>
              <a:buSzPct val="100000"/>
              <a:buChar char="•"/>
            </a:pPr>
            <a:r>
              <a:rPr lang="ru-RU" dirty="0" err="1"/>
              <a:t>cd</a:t>
            </a:r>
            <a:r>
              <a:rPr lang="ru-RU" dirty="0"/>
              <a:t> - переход между директориями</a:t>
            </a:r>
            <a:endParaRPr dirty="0"/>
          </a:p>
          <a:p>
            <a:pPr marL="228600" lvl="0" indent="-228600" algn="l" rtl="0">
              <a:lnSpc>
                <a:spcPct val="90000"/>
              </a:lnSpc>
              <a:spcBef>
                <a:spcPts val="1000"/>
              </a:spcBef>
              <a:spcAft>
                <a:spcPts val="0"/>
              </a:spcAft>
              <a:buClr>
                <a:schemeClr val="dk1"/>
              </a:buClr>
              <a:buSzPct val="100000"/>
              <a:buChar char="•"/>
            </a:pPr>
            <a:r>
              <a:rPr lang="ru-RU" dirty="0" err="1"/>
              <a:t>rm</a:t>
            </a:r>
            <a:r>
              <a:rPr lang="ru-RU" dirty="0"/>
              <a:t> - удалить файл</a:t>
            </a:r>
            <a:endParaRPr dirty="0"/>
          </a:p>
          <a:p>
            <a:pPr marL="228600" lvl="0" indent="-228600" algn="l" rtl="0">
              <a:lnSpc>
                <a:spcPct val="90000"/>
              </a:lnSpc>
              <a:spcBef>
                <a:spcPts val="1000"/>
              </a:spcBef>
              <a:spcAft>
                <a:spcPts val="0"/>
              </a:spcAft>
              <a:buClr>
                <a:schemeClr val="dk1"/>
              </a:buClr>
              <a:buSzPct val="100000"/>
              <a:buChar char="•"/>
            </a:pPr>
            <a:r>
              <a:rPr lang="ru-RU" dirty="0" err="1"/>
              <a:t>rmdir</a:t>
            </a:r>
            <a:r>
              <a:rPr lang="ru-RU" dirty="0"/>
              <a:t> - удалить папку</a:t>
            </a:r>
            <a:endParaRPr dirty="0"/>
          </a:p>
          <a:p>
            <a:pPr marL="228600" lvl="0" indent="-228600" algn="l" rtl="0">
              <a:lnSpc>
                <a:spcPct val="90000"/>
              </a:lnSpc>
              <a:spcBef>
                <a:spcPts val="1000"/>
              </a:spcBef>
              <a:spcAft>
                <a:spcPts val="0"/>
              </a:spcAft>
              <a:buClr>
                <a:schemeClr val="dk1"/>
              </a:buClr>
              <a:buSzPct val="100000"/>
              <a:buChar char="•"/>
            </a:pPr>
            <a:r>
              <a:rPr lang="ru-RU" dirty="0" err="1"/>
              <a:t>mv</a:t>
            </a:r>
            <a:r>
              <a:rPr lang="ru-RU" dirty="0"/>
              <a:t> - переместить файл</a:t>
            </a:r>
            <a:endParaRPr dirty="0"/>
          </a:p>
          <a:p>
            <a:pPr marL="228600" lvl="0" indent="-228600" algn="l" rtl="0">
              <a:lnSpc>
                <a:spcPct val="90000"/>
              </a:lnSpc>
              <a:spcBef>
                <a:spcPts val="1000"/>
              </a:spcBef>
              <a:spcAft>
                <a:spcPts val="0"/>
              </a:spcAft>
              <a:buClr>
                <a:schemeClr val="dk1"/>
              </a:buClr>
              <a:buSzPct val="100000"/>
              <a:buChar char="•"/>
            </a:pPr>
            <a:r>
              <a:rPr lang="ru-RU" dirty="0" err="1"/>
              <a:t>cp</a:t>
            </a:r>
            <a:r>
              <a:rPr lang="ru-RU" dirty="0"/>
              <a:t> - скопировать файл</a:t>
            </a:r>
            <a:endParaRPr dirty="0"/>
          </a:p>
          <a:p>
            <a:pPr marL="228600" lvl="0" indent="-228600" algn="l" rtl="0">
              <a:lnSpc>
                <a:spcPct val="90000"/>
              </a:lnSpc>
              <a:spcBef>
                <a:spcPts val="1000"/>
              </a:spcBef>
              <a:spcAft>
                <a:spcPts val="0"/>
              </a:spcAft>
              <a:buClr>
                <a:schemeClr val="dk1"/>
              </a:buClr>
              <a:buSzPct val="100000"/>
              <a:buChar char="•"/>
            </a:pPr>
            <a:r>
              <a:rPr lang="ru-RU" dirty="0" err="1"/>
              <a:t>mkdir</a:t>
            </a:r>
            <a:r>
              <a:rPr lang="ru-RU" dirty="0"/>
              <a:t> - создать папку</a:t>
            </a:r>
            <a:endParaRPr dirty="0"/>
          </a:p>
          <a:p>
            <a:pPr marL="228600" lvl="0" indent="-228600" algn="l" rtl="0">
              <a:lnSpc>
                <a:spcPct val="90000"/>
              </a:lnSpc>
              <a:spcBef>
                <a:spcPts val="1000"/>
              </a:spcBef>
              <a:spcAft>
                <a:spcPts val="0"/>
              </a:spcAft>
              <a:buClr>
                <a:schemeClr val="dk1"/>
              </a:buClr>
              <a:buSzPct val="100000"/>
              <a:buChar char="•"/>
            </a:pPr>
            <a:r>
              <a:rPr lang="ru-RU" dirty="0" err="1"/>
              <a:t>ln</a:t>
            </a:r>
            <a:r>
              <a:rPr lang="ru-RU" dirty="0"/>
              <a:t> - создать ссылку</a:t>
            </a:r>
            <a:endParaRPr dirty="0"/>
          </a:p>
          <a:p>
            <a:pPr marL="228600" lvl="0" indent="-228600" algn="l" rtl="0">
              <a:lnSpc>
                <a:spcPct val="90000"/>
              </a:lnSpc>
              <a:spcBef>
                <a:spcPts val="1000"/>
              </a:spcBef>
              <a:spcAft>
                <a:spcPts val="0"/>
              </a:spcAft>
              <a:buClr>
                <a:schemeClr val="dk1"/>
              </a:buClr>
              <a:buSzPct val="100000"/>
              <a:buChar char="•"/>
            </a:pPr>
            <a:r>
              <a:rPr lang="ru-RU" dirty="0" err="1"/>
              <a:t>chmod</a:t>
            </a:r>
            <a:r>
              <a:rPr lang="ru-RU" dirty="0"/>
              <a:t> - изменить права файла</a:t>
            </a:r>
            <a:endParaRPr dirty="0"/>
          </a:p>
          <a:p>
            <a:pPr marL="228600" lvl="0" indent="-228600" algn="l" rtl="0">
              <a:lnSpc>
                <a:spcPct val="90000"/>
              </a:lnSpc>
              <a:spcBef>
                <a:spcPts val="1000"/>
              </a:spcBef>
              <a:spcAft>
                <a:spcPts val="0"/>
              </a:spcAft>
              <a:buClr>
                <a:schemeClr val="dk1"/>
              </a:buClr>
              <a:buSzPct val="100000"/>
              <a:buChar char="•"/>
            </a:pPr>
            <a:r>
              <a:rPr lang="ru-RU" dirty="0" err="1"/>
              <a:t>touch</a:t>
            </a:r>
            <a:r>
              <a:rPr lang="ru-RU" dirty="0"/>
              <a:t> - создать пустой </a:t>
            </a:r>
            <a:r>
              <a:rPr lang="ru-RU" dirty="0" smtClean="0"/>
              <a:t>файл</a:t>
            </a:r>
            <a:r>
              <a:rPr lang="en-US" dirty="0" smtClean="0"/>
              <a:t> (</a:t>
            </a:r>
            <a:r>
              <a:rPr lang="ru-RU" dirty="0" smtClean="0"/>
              <a:t>как один из вариантов использования)</a:t>
            </a:r>
            <a:endParaRPr dirty="0"/>
          </a:p>
          <a:p>
            <a:pPr marL="0" lvl="0" indent="0" algn="l" rtl="0">
              <a:lnSpc>
                <a:spcPct val="90000"/>
              </a:lnSpc>
              <a:spcBef>
                <a:spcPts val="1000"/>
              </a:spcBef>
              <a:spcAft>
                <a:spcPts val="0"/>
              </a:spcAft>
              <a:buClr>
                <a:schemeClr val="dk1"/>
              </a:buClr>
              <a:buSzPct val="100000"/>
              <a:buNone/>
            </a:pPr>
            <a:endParaRPr dirty="0"/>
          </a:p>
          <a:p>
            <a:pPr marL="228600" lvl="0" indent="-64135" algn="l" rtl="0">
              <a:lnSpc>
                <a:spcPct val="90000"/>
              </a:lnSpc>
              <a:spcBef>
                <a:spcPts val="1000"/>
              </a:spcBef>
              <a:spcAft>
                <a:spcPts val="0"/>
              </a:spcAft>
              <a:buClr>
                <a:schemeClr val="dk1"/>
              </a:buClr>
              <a:buSzPct val="100000"/>
              <a:buNone/>
            </a:pP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20</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80501985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9"/>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ru-RU" dirty="0"/>
              <a:t>Самая полезная </a:t>
            </a:r>
            <a:r>
              <a:rPr lang="ru-RU" dirty="0" smtClean="0"/>
              <a:t>команда</a:t>
            </a:r>
            <a:endParaRPr dirty="0"/>
          </a:p>
        </p:txBody>
      </p:sp>
      <p:sp>
        <p:nvSpPr>
          <p:cNvPr id="253" name="Google Shape;253;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chemeClr val="dk1"/>
              </a:buClr>
              <a:buSzPts val="6600"/>
              <a:buNone/>
            </a:pPr>
            <a:r>
              <a:rPr lang="ru-RU" sz="3500" dirty="0" err="1" smtClean="0"/>
              <a:t>man</a:t>
            </a:r>
            <a:endParaRPr lang="en-US" sz="3500" dirty="0" smtClean="0"/>
          </a:p>
          <a:p>
            <a:pPr marL="0" lvl="0" indent="0" algn="l" rtl="0">
              <a:lnSpc>
                <a:spcPct val="90000"/>
              </a:lnSpc>
              <a:spcBef>
                <a:spcPts val="0"/>
              </a:spcBef>
              <a:spcAft>
                <a:spcPts val="0"/>
              </a:spcAft>
              <a:buClr>
                <a:schemeClr val="dk1"/>
              </a:buClr>
              <a:buSzPts val="6600"/>
              <a:buNone/>
            </a:pPr>
            <a:r>
              <a:rPr lang="en-US" sz="3500" dirty="0" smtClean="0"/>
              <a:t>man </a:t>
            </a:r>
            <a:r>
              <a:rPr lang="en-US" sz="3500" dirty="0" err="1" smtClean="0"/>
              <a:t>man</a:t>
            </a:r>
            <a:endParaRPr lang="en-US" sz="3500" dirty="0" smtClean="0"/>
          </a:p>
          <a:p>
            <a:pPr marL="0" lvl="0" indent="0" algn="l" rtl="0">
              <a:lnSpc>
                <a:spcPct val="90000"/>
              </a:lnSpc>
              <a:spcBef>
                <a:spcPts val="0"/>
              </a:spcBef>
              <a:spcAft>
                <a:spcPts val="0"/>
              </a:spcAft>
              <a:buClr>
                <a:schemeClr val="dk1"/>
              </a:buClr>
              <a:buSzPts val="6600"/>
              <a:buNone/>
            </a:pPr>
            <a:endParaRPr lang="en-US" sz="3500" dirty="0" smtClean="0"/>
          </a:p>
          <a:p>
            <a:pPr marL="0" lvl="0" indent="0" algn="l" rtl="0">
              <a:lnSpc>
                <a:spcPct val="90000"/>
              </a:lnSpc>
              <a:spcBef>
                <a:spcPts val="0"/>
              </a:spcBef>
              <a:spcAft>
                <a:spcPts val="0"/>
              </a:spcAft>
              <a:buClr>
                <a:schemeClr val="dk1"/>
              </a:buClr>
              <a:buSzPts val="6600"/>
              <a:buNone/>
            </a:pPr>
            <a:r>
              <a:rPr lang="ru-RU" sz="3500" dirty="0" smtClean="0"/>
              <a:t>Разделы </a:t>
            </a:r>
            <a:r>
              <a:rPr lang="en-US" sz="3500" dirty="0" smtClean="0"/>
              <a:t>man</a:t>
            </a:r>
            <a:r>
              <a:rPr lang="ru-RU" sz="3500" dirty="0" smtClean="0"/>
              <a:t>:</a:t>
            </a:r>
            <a:endParaRPr lang="en-US" sz="3500" dirty="0" smtClean="0"/>
          </a:p>
          <a:p>
            <a:pPr marL="0" lvl="0" indent="0">
              <a:spcBef>
                <a:spcPts val="0"/>
              </a:spcBef>
              <a:buSzPts val="6600"/>
              <a:buNone/>
            </a:pPr>
            <a:r>
              <a:rPr lang="en-US" dirty="0"/>
              <a:t> 1   Executable programs or shell </a:t>
            </a:r>
            <a:r>
              <a:rPr lang="en-US" dirty="0" smtClean="0"/>
              <a:t>commands</a:t>
            </a:r>
            <a:endParaRPr lang="en-US" dirty="0"/>
          </a:p>
          <a:p>
            <a:pPr marL="0" lvl="0" indent="0">
              <a:spcBef>
                <a:spcPts val="0"/>
              </a:spcBef>
              <a:buSzPts val="6600"/>
              <a:buNone/>
            </a:pPr>
            <a:r>
              <a:rPr lang="en-US" dirty="0" smtClean="0"/>
              <a:t> </a:t>
            </a:r>
            <a:r>
              <a:rPr lang="en-US" dirty="0"/>
              <a:t>2   System calls (functions provided by the kernel)</a:t>
            </a:r>
          </a:p>
          <a:p>
            <a:pPr marL="0" lvl="0" indent="0">
              <a:spcBef>
                <a:spcPts val="0"/>
              </a:spcBef>
              <a:buSzPts val="6600"/>
              <a:buNone/>
            </a:pPr>
            <a:r>
              <a:rPr lang="en-US" dirty="0" smtClean="0"/>
              <a:t> </a:t>
            </a:r>
            <a:r>
              <a:rPr lang="en-US" dirty="0"/>
              <a:t>3   Library calls (functions within program libraries)</a:t>
            </a:r>
          </a:p>
          <a:p>
            <a:pPr marL="0" lvl="0" indent="0">
              <a:spcBef>
                <a:spcPts val="0"/>
              </a:spcBef>
              <a:buSzPts val="6600"/>
              <a:buNone/>
            </a:pPr>
            <a:r>
              <a:rPr lang="en-US" dirty="0" smtClean="0"/>
              <a:t> </a:t>
            </a:r>
            <a:r>
              <a:rPr lang="en-US" dirty="0"/>
              <a:t>4   Special files (usually found in /dev)</a:t>
            </a:r>
          </a:p>
          <a:p>
            <a:pPr marL="0" lvl="0" indent="0">
              <a:spcBef>
                <a:spcPts val="0"/>
              </a:spcBef>
              <a:buSzPts val="6600"/>
              <a:buNone/>
            </a:pPr>
            <a:r>
              <a:rPr lang="en-US" dirty="0" smtClean="0"/>
              <a:t> </a:t>
            </a:r>
            <a:r>
              <a:rPr lang="en-US" dirty="0"/>
              <a:t>5   File formats and conventions, e.g. /</a:t>
            </a:r>
            <a:r>
              <a:rPr lang="en-US" dirty="0" err="1"/>
              <a:t>etc</a:t>
            </a:r>
            <a:r>
              <a:rPr lang="en-US" dirty="0"/>
              <a:t>/</a:t>
            </a:r>
            <a:r>
              <a:rPr lang="en-US" dirty="0" err="1"/>
              <a:t>passwd</a:t>
            </a:r>
            <a:endParaRPr lang="en-US" dirty="0"/>
          </a:p>
          <a:p>
            <a:pPr marL="0" lvl="0" indent="0">
              <a:spcBef>
                <a:spcPts val="0"/>
              </a:spcBef>
              <a:buSzPts val="6600"/>
              <a:buNone/>
            </a:pPr>
            <a:r>
              <a:rPr lang="en-US" dirty="0" smtClean="0"/>
              <a:t> </a:t>
            </a:r>
            <a:r>
              <a:rPr lang="en-US" dirty="0"/>
              <a:t>6   Games</a:t>
            </a:r>
          </a:p>
          <a:p>
            <a:pPr marL="0" lvl="0" indent="0">
              <a:spcBef>
                <a:spcPts val="0"/>
              </a:spcBef>
              <a:buSzPts val="6600"/>
              <a:buNone/>
            </a:pPr>
            <a:r>
              <a:rPr lang="en-US" dirty="0" smtClean="0"/>
              <a:t> 7   </a:t>
            </a:r>
            <a:r>
              <a:rPr lang="en-US" dirty="0"/>
              <a:t>Miscellaneous (including  macro  packages  and  conventions),  e.g.</a:t>
            </a:r>
          </a:p>
          <a:p>
            <a:pPr marL="0" lvl="0" indent="0">
              <a:spcBef>
                <a:spcPts val="0"/>
              </a:spcBef>
              <a:buSzPts val="6600"/>
              <a:buNone/>
            </a:pPr>
            <a:r>
              <a:rPr lang="en-US" dirty="0"/>
              <a:t> </a:t>
            </a:r>
            <a:r>
              <a:rPr lang="en-US" dirty="0" smtClean="0"/>
              <a:t>     </a:t>
            </a:r>
            <a:r>
              <a:rPr lang="en-US" dirty="0"/>
              <a:t>man(7), </a:t>
            </a:r>
            <a:r>
              <a:rPr lang="en-US" dirty="0" err="1"/>
              <a:t>groff</a:t>
            </a:r>
            <a:r>
              <a:rPr lang="en-US" dirty="0"/>
              <a:t>(7), man-pages(7)</a:t>
            </a:r>
          </a:p>
          <a:p>
            <a:pPr marL="0" lvl="0" indent="0">
              <a:spcBef>
                <a:spcPts val="0"/>
              </a:spcBef>
              <a:buSzPts val="6600"/>
              <a:buNone/>
            </a:pPr>
            <a:r>
              <a:rPr lang="en-US" dirty="0"/>
              <a:t> </a:t>
            </a:r>
            <a:r>
              <a:rPr lang="en-US" dirty="0" smtClean="0"/>
              <a:t>8   </a:t>
            </a:r>
            <a:r>
              <a:rPr lang="en-US" dirty="0"/>
              <a:t>System administration commands (usually only for root)</a:t>
            </a:r>
          </a:p>
          <a:p>
            <a:pPr marL="0" lvl="0" indent="0">
              <a:spcBef>
                <a:spcPts val="0"/>
              </a:spcBef>
              <a:buSzPts val="6600"/>
              <a:buNone/>
            </a:pPr>
            <a:r>
              <a:rPr lang="en-US" dirty="0"/>
              <a:t> </a:t>
            </a:r>
            <a:r>
              <a:rPr lang="en-US" dirty="0" smtClean="0"/>
              <a:t>9   </a:t>
            </a:r>
            <a:r>
              <a:rPr lang="en-US" dirty="0"/>
              <a:t>Kernel routines [Non standard]</a:t>
            </a: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21</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0"/>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ru-RU"/>
              <a:t>Поиск файла по имени</a:t>
            </a:r>
            <a:endParaRPr/>
          </a:p>
        </p:txBody>
      </p:sp>
      <p:sp>
        <p:nvSpPr>
          <p:cNvPr id="259" name="Google Shape;259;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ts val="2800"/>
              <a:buChar char="•"/>
            </a:pPr>
            <a:r>
              <a:rPr lang="ru-RU" dirty="0"/>
              <a:t>Используйте утилиту </a:t>
            </a:r>
            <a:r>
              <a:rPr lang="ru-RU" dirty="0" err="1"/>
              <a:t>find</a:t>
            </a:r>
            <a:r>
              <a:rPr lang="ru-RU" dirty="0"/>
              <a:t> для поиска файлов в дереве каталогов по имени файла. Укажите имя дерева каталогов для поиска, а затем, с помощью опции </a:t>
            </a:r>
            <a:r>
              <a:rPr lang="en-US" dirty="0" smtClean="0"/>
              <a:t>'</a:t>
            </a:r>
            <a:r>
              <a:rPr lang="ru-RU" dirty="0" smtClean="0"/>
              <a:t>-</a:t>
            </a:r>
            <a:r>
              <a:rPr lang="ru-RU" dirty="0" err="1"/>
              <a:t>name</a:t>
            </a:r>
            <a:r>
              <a:rPr lang="ru-RU" dirty="0"/>
              <a:t>' - имя нужного файла.</a:t>
            </a:r>
            <a:endParaRPr dirty="0"/>
          </a:p>
          <a:p>
            <a:pPr marL="228600" lvl="0" indent="-228600" algn="l" rtl="0">
              <a:lnSpc>
                <a:spcPct val="90000"/>
              </a:lnSpc>
              <a:spcBef>
                <a:spcPts val="1000"/>
              </a:spcBef>
              <a:spcAft>
                <a:spcPts val="0"/>
              </a:spcAft>
              <a:buClr>
                <a:schemeClr val="dk1"/>
              </a:buClr>
              <a:buSzPts val="2800"/>
              <a:buChar char="•"/>
            </a:pPr>
            <a:r>
              <a:rPr lang="ru-RU" dirty="0"/>
              <a:t>Чтобы увидеть список всех файлов системы, которые называются </a:t>
            </a:r>
            <a:r>
              <a:rPr lang="en-US" dirty="0" smtClean="0"/>
              <a:t>'</a:t>
            </a:r>
            <a:r>
              <a:rPr lang="ru-RU" dirty="0" err="1" smtClean="0"/>
              <a:t>top</a:t>
            </a:r>
            <a:r>
              <a:rPr lang="en-US" dirty="0" smtClean="0"/>
              <a:t>'</a:t>
            </a:r>
            <a:r>
              <a:rPr lang="ru-RU" dirty="0" smtClean="0"/>
              <a:t>, </a:t>
            </a:r>
            <a:r>
              <a:rPr lang="ru-RU" dirty="0"/>
              <a:t>наберите:</a:t>
            </a:r>
            <a:endParaRPr dirty="0"/>
          </a:p>
          <a:p>
            <a:pPr marL="0" lvl="0" indent="0" algn="l" rtl="0">
              <a:lnSpc>
                <a:spcPct val="90000"/>
              </a:lnSpc>
              <a:spcBef>
                <a:spcPts val="1000"/>
              </a:spcBef>
              <a:spcAft>
                <a:spcPts val="0"/>
              </a:spcAft>
              <a:buClr>
                <a:schemeClr val="dk1"/>
              </a:buClr>
              <a:buSzPts val="2800"/>
              <a:buNone/>
            </a:pPr>
            <a:r>
              <a:rPr lang="ru-RU" dirty="0"/>
              <a:t>$ </a:t>
            </a:r>
            <a:r>
              <a:rPr lang="ru-RU" dirty="0" err="1"/>
              <a:t>find</a:t>
            </a:r>
            <a:r>
              <a:rPr lang="ru-RU" dirty="0"/>
              <a:t> / -</a:t>
            </a:r>
            <a:r>
              <a:rPr lang="ru-RU" dirty="0" err="1"/>
              <a:t>name</a:t>
            </a:r>
            <a:r>
              <a:rPr lang="ru-RU" dirty="0"/>
              <a:t> </a:t>
            </a:r>
            <a:r>
              <a:rPr lang="ru-RU" dirty="0" err="1" smtClean="0"/>
              <a:t>top</a:t>
            </a:r>
            <a:endParaRPr lang="en-US" dirty="0" smtClean="0"/>
          </a:p>
          <a:p>
            <a:pPr marL="0" lvl="0" indent="0" algn="l" rtl="0">
              <a:lnSpc>
                <a:spcPct val="90000"/>
              </a:lnSpc>
              <a:spcBef>
                <a:spcPts val="1000"/>
              </a:spcBef>
              <a:spcAft>
                <a:spcPts val="0"/>
              </a:spcAft>
              <a:buClr>
                <a:schemeClr val="dk1"/>
              </a:buClr>
              <a:buSzPts val="2800"/>
              <a:buNone/>
            </a:pPr>
            <a:r>
              <a:rPr lang="en-US" dirty="0" smtClean="0"/>
              <a:t>$ </a:t>
            </a:r>
            <a:r>
              <a:rPr lang="ru-RU" dirty="0" smtClean="0"/>
              <a:t>часть</a:t>
            </a:r>
            <a:r>
              <a:rPr lang="en-US" dirty="0" smtClean="0"/>
              <a:t> prompt</a:t>
            </a:r>
            <a:r>
              <a:rPr lang="ru-RU" dirty="0" smtClean="0"/>
              <a:t> (приглашения)</a:t>
            </a:r>
            <a:r>
              <a:rPr lang="en-US" dirty="0" smtClean="0"/>
              <a:t>, </a:t>
            </a:r>
            <a:r>
              <a:rPr lang="ru-RU" dirty="0" smtClean="0"/>
              <a:t>команда начинается за ним</a:t>
            </a:r>
          </a:p>
          <a:p>
            <a:pPr marL="0" lvl="0" indent="0">
              <a:buSzPts val="2800"/>
              <a:buNone/>
            </a:pPr>
            <a:r>
              <a:rPr lang="nn-NO" i="1" dirty="0"/>
              <a:t>root@avhost1</a:t>
            </a:r>
            <a:r>
              <a:rPr lang="nn-NO" i="1" dirty="0" smtClean="0"/>
              <a:t>:/# </a:t>
            </a:r>
            <a:r>
              <a:rPr lang="nn-NO" i="1" dirty="0"/>
              <a:t>set |grep PS1</a:t>
            </a:r>
          </a:p>
          <a:p>
            <a:pPr marL="0" lvl="0" indent="0">
              <a:buSzPts val="2800"/>
              <a:buNone/>
            </a:pPr>
            <a:r>
              <a:rPr lang="nn-NO" i="1" dirty="0"/>
              <a:t>PS1='${debian_chroot:+($debian_chroot)}\u@\h:\w\$ '</a:t>
            </a:r>
          </a:p>
          <a:p>
            <a:pPr marL="0" lvl="0" indent="0" algn="l" rtl="0">
              <a:lnSpc>
                <a:spcPct val="90000"/>
              </a:lnSpc>
              <a:spcBef>
                <a:spcPts val="1000"/>
              </a:spcBef>
              <a:spcAft>
                <a:spcPts val="0"/>
              </a:spcAft>
              <a:buClr>
                <a:schemeClr val="dk1"/>
              </a:buClr>
              <a:buSzPts val="2800"/>
              <a:buNone/>
            </a:pPr>
            <a:r>
              <a:rPr lang="en-US" dirty="0" smtClean="0"/>
              <a:t># - </a:t>
            </a:r>
            <a:r>
              <a:rPr lang="ru-RU" dirty="0" smtClean="0"/>
              <a:t>эффективный </a:t>
            </a:r>
            <a:r>
              <a:rPr lang="en-US" dirty="0" smtClean="0"/>
              <a:t>UID=0 (root), $ - </a:t>
            </a:r>
            <a:r>
              <a:rPr lang="ru-RU" dirty="0" smtClean="0"/>
              <a:t>обычный пользователь</a:t>
            </a:r>
            <a:endParaRPr dirty="0"/>
          </a:p>
          <a:p>
            <a:pPr marL="228600" lvl="0" indent="-228600" algn="l" rtl="0">
              <a:lnSpc>
                <a:spcPct val="90000"/>
              </a:lnSpc>
              <a:spcBef>
                <a:spcPts val="1000"/>
              </a:spcBef>
              <a:spcAft>
                <a:spcPts val="0"/>
              </a:spcAft>
              <a:buClr>
                <a:schemeClr val="dk1"/>
              </a:buClr>
              <a:buSzPts val="2800"/>
              <a:buChar char="•"/>
            </a:pPr>
            <a:r>
              <a:rPr lang="ru-RU" dirty="0"/>
              <a:t>Эта команда проведет поиск во всех каталогах, куда вам разрешен доступ; если нет прав для чтения содержимого каталога, </a:t>
            </a:r>
            <a:r>
              <a:rPr lang="ru-RU" dirty="0" err="1"/>
              <a:t>find</a:t>
            </a:r>
            <a:r>
              <a:rPr lang="ru-RU" dirty="0"/>
              <a:t> сообщит, что поиск в данном каталоге запрещен</a:t>
            </a: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22</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1"/>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ru-RU" sz="3600" dirty="0" smtClean="0"/>
              <a:t>Виртуализация файловой системы</a:t>
            </a:r>
            <a:endParaRPr sz="3600" dirty="0"/>
          </a:p>
        </p:txBody>
      </p:sp>
      <p:pic>
        <p:nvPicPr>
          <p:cNvPr id="265" name="Google Shape;265;p31"/>
          <p:cNvPicPr preferRelativeResize="0">
            <a:picLocks noGrp="1"/>
          </p:cNvPicPr>
          <p:nvPr>
            <p:ph type="body" idx="1"/>
          </p:nvPr>
        </p:nvPicPr>
        <p:blipFill>
          <a:blip r:embed="rId3">
            <a:extLst>
              <a:ext uri="{28A0092B-C50C-407E-A947-70E740481C1C}">
                <a14:useLocalDpi xmlns:a14="http://schemas.microsoft.com/office/drawing/2010/main" val="0"/>
              </a:ext>
            </a:extLst>
          </a:blip>
          <a:stretch>
            <a:fillRect/>
          </a:stretch>
        </p:blipFill>
        <p:spPr>
          <a:xfrm>
            <a:off x="2639616" y="1340768"/>
            <a:ext cx="7632848" cy="5184576"/>
          </a:xfrm>
          <a:prstGeom prst="rect">
            <a:avLst/>
          </a:prstGeom>
          <a:noFill/>
          <a:ln>
            <a:noFill/>
          </a:ln>
        </p:spPr>
      </p:pic>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23</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2"/>
          <p:cNvSpPr txBox="1">
            <a:spLocks noGrp="1"/>
          </p:cNvSpPr>
          <p:nvPr>
            <p:ph type="body" idx="1"/>
          </p:nvPr>
        </p:nvSpPr>
        <p:spPr>
          <a:xfrm>
            <a:off x="838200" y="576775"/>
            <a:ext cx="10515600" cy="560018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F1B46"/>
              </a:buClr>
              <a:buSzPts val="2800"/>
              <a:buChar char="•"/>
            </a:pPr>
            <a:r>
              <a:rPr lang="ru-RU" b="0" i="0">
                <a:solidFill>
                  <a:srgbClr val="0F1B46"/>
                </a:solidFill>
                <a:latin typeface="IBM Plex Sans"/>
                <a:ea typeface="IBM Plex Sans"/>
                <a:cs typeface="IBM Plex Sans"/>
                <a:sym typeface="IBM Plex Sans"/>
              </a:rPr>
              <a:t>В Linux имеется своя структура каталогов, политика распределения файлов конфигурации, исполняемых и временных файлов. Здесь работает логика, отличная от Windows.</a:t>
            </a:r>
            <a:endParaRPr/>
          </a:p>
          <a:p>
            <a:pPr marL="228600" lvl="0" indent="-228600" algn="l" rtl="0">
              <a:lnSpc>
                <a:spcPct val="90000"/>
              </a:lnSpc>
              <a:spcBef>
                <a:spcPts val="1000"/>
              </a:spcBef>
              <a:spcAft>
                <a:spcPts val="0"/>
              </a:spcAft>
              <a:buClr>
                <a:srgbClr val="0F1B46"/>
              </a:buClr>
              <a:buSzPts val="2800"/>
              <a:buChar char="•"/>
            </a:pPr>
            <a:r>
              <a:rPr lang="ru-RU" b="0" i="0">
                <a:solidFill>
                  <a:srgbClr val="0F1B46"/>
                </a:solidFill>
                <a:latin typeface="IBM Plex Sans"/>
                <a:ea typeface="IBM Plex Sans"/>
                <a:cs typeface="IBM Plex Sans"/>
                <a:sym typeface="IBM Plex Sans"/>
              </a:rPr>
              <a:t>Ключевое отличие в том, что обычно в линуксе программа не сохраняется в одной папке. Она распределяется по корневой файловой системе. По сути, file system в Linux начинается с директории «/» (которая называется корнем — от слова root) и разрастается в директории /sbin, /dev, /lib, /log, /boot и т.д. Получается древовидная иерархическая структура, в которой абсолютный путь к любой сущности начинается с корневой директории. Если файл лежит в /home/user/work, то структура каталогов идет по цепочке root-&gt;home-&gt;user-&gt;work.</a:t>
            </a:r>
            <a:endParaRPr/>
          </a:p>
          <a:p>
            <a:pPr marL="228600" lvl="0" indent="-50800" algn="l" rtl="0">
              <a:lnSpc>
                <a:spcPct val="90000"/>
              </a:lnSpc>
              <a:spcBef>
                <a:spcPts val="1000"/>
              </a:spcBef>
              <a:spcAft>
                <a:spcPts val="0"/>
              </a:spcAft>
              <a:buClr>
                <a:schemeClr val="dk1"/>
              </a:buClr>
              <a:buSzPts val="2800"/>
              <a:buNone/>
            </a:pPr>
            <a:endParaRPr/>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24</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3"/>
          <p:cNvSpPr txBox="1">
            <a:spLocks noGrp="1"/>
          </p:cNvSpPr>
          <p:nvPr>
            <p:ph type="body" idx="1"/>
          </p:nvPr>
        </p:nvSpPr>
        <p:spPr>
          <a:xfrm>
            <a:off x="839416" y="692696"/>
            <a:ext cx="10515600" cy="5112568"/>
          </a:xfrm>
          <a:prstGeom prst="rect">
            <a:avLst/>
          </a:prstGeom>
          <a:noFill/>
          <a:ln>
            <a:noFill/>
          </a:ln>
        </p:spPr>
        <p:txBody>
          <a:bodyPr spcFirstLastPara="1" wrap="square" lIns="91425" tIns="45700" rIns="91425" bIns="45700" anchor="t" anchorCtr="0">
            <a:normAutofit/>
          </a:bodyPr>
          <a:lstStyle/>
          <a:p>
            <a:pPr marL="0" indent="0">
              <a:spcBef>
                <a:spcPts val="0"/>
              </a:spcBef>
              <a:buClr>
                <a:srgbClr val="0F1B46"/>
              </a:buClr>
              <a:buSzPts val="2800"/>
              <a:buNone/>
            </a:pPr>
            <a:r>
              <a:rPr lang="ru-RU" b="0" i="0" dirty="0" smtClean="0">
                <a:solidFill>
                  <a:srgbClr val="0F1B46"/>
                </a:solidFill>
                <a:latin typeface="IBM Plex Sans"/>
                <a:ea typeface="IBM Plex Sans"/>
                <a:cs typeface="IBM Plex Sans"/>
                <a:sym typeface="IBM Plex Sans"/>
              </a:rPr>
              <a:t>Иерархичность </a:t>
            </a:r>
            <a:r>
              <a:rPr lang="ru-RU" b="0" i="0" dirty="0" err="1" smtClean="0">
                <a:solidFill>
                  <a:srgbClr val="0F1B46"/>
                </a:solidFill>
                <a:latin typeface="IBM Plex Sans"/>
                <a:ea typeface="IBM Plex Sans"/>
                <a:cs typeface="IBM Plex Sans"/>
                <a:sym typeface="IBM Plex Sans"/>
              </a:rPr>
              <a:t>линуксовых</a:t>
            </a:r>
            <a:r>
              <a:rPr lang="ru-RU" b="0" i="0" dirty="0" smtClean="0">
                <a:solidFill>
                  <a:srgbClr val="0F1B46"/>
                </a:solidFill>
                <a:latin typeface="IBM Plex Sans"/>
                <a:ea typeface="IBM Plex Sans"/>
                <a:cs typeface="IBM Plex Sans"/>
                <a:sym typeface="IBM Plex Sans"/>
              </a:rPr>
              <a:t> систем</a:t>
            </a:r>
            <a:r>
              <a:rPr lang="en-US" b="0" i="0" dirty="0" smtClean="0">
                <a:solidFill>
                  <a:srgbClr val="0F1B46"/>
                </a:solidFill>
                <a:latin typeface="IBM Plex Sans"/>
                <a:ea typeface="IBM Plex Sans"/>
                <a:cs typeface="IBM Plex Sans"/>
                <a:sym typeface="IBM Plex Sans"/>
              </a:rPr>
              <a:t> </a:t>
            </a:r>
            <a:r>
              <a:rPr lang="ru-RU" b="0" i="0" dirty="0" smtClean="0">
                <a:solidFill>
                  <a:srgbClr val="0F1B46"/>
                </a:solidFill>
                <a:latin typeface="IBM Plex Sans"/>
                <a:ea typeface="IBM Plex Sans"/>
                <a:cs typeface="IBM Plex Sans"/>
                <a:sym typeface="IBM Plex Sans"/>
              </a:rPr>
              <a:t>в большей части дистрибутивов определяется стандартом FS</a:t>
            </a:r>
            <a:r>
              <a:rPr lang="en-US" b="0" i="0" dirty="0" smtClean="0">
                <a:solidFill>
                  <a:srgbClr val="0F1B46"/>
                </a:solidFill>
                <a:latin typeface="IBM Plex Sans"/>
                <a:ea typeface="IBM Plex Sans"/>
                <a:cs typeface="IBM Plex Sans"/>
                <a:sym typeface="IBM Plex Sans"/>
              </a:rPr>
              <a:t>H</a:t>
            </a:r>
            <a:r>
              <a:rPr lang="ru-RU" b="0" i="0" dirty="0" smtClean="0">
                <a:solidFill>
                  <a:srgbClr val="0F1B46"/>
                </a:solidFill>
                <a:latin typeface="IBM Plex Sans"/>
                <a:ea typeface="IBM Plex Sans"/>
                <a:cs typeface="IBM Plex Sans"/>
                <a:sym typeface="IBM Plex Sans"/>
              </a:rPr>
              <a:t> (</a:t>
            </a:r>
            <a:r>
              <a:rPr lang="en-US" b="1" i="0" dirty="0" smtClean="0">
                <a:solidFill>
                  <a:srgbClr val="0F1B46"/>
                </a:solidFill>
                <a:latin typeface="IBM Plex Sans"/>
                <a:ea typeface="IBM Plex Sans"/>
                <a:cs typeface="IBM Plex Sans"/>
                <a:sym typeface="IBM Plex Sans"/>
              </a:rPr>
              <a:t>F</a:t>
            </a:r>
            <a:r>
              <a:rPr lang="en-US" dirty="0" smtClean="0"/>
              <a:t>ile </a:t>
            </a:r>
            <a:r>
              <a:rPr lang="en-US" b="1" dirty="0" smtClean="0"/>
              <a:t>S</a:t>
            </a:r>
            <a:r>
              <a:rPr lang="en-US" dirty="0" smtClean="0"/>
              <a:t>ystem </a:t>
            </a:r>
            <a:r>
              <a:rPr lang="en-US" b="1" dirty="0" smtClean="0"/>
              <a:t>H</a:t>
            </a:r>
            <a:r>
              <a:rPr lang="en-US" dirty="0" smtClean="0"/>
              <a:t>ierarchy</a:t>
            </a:r>
            <a:r>
              <a:rPr lang="ru-RU" dirty="0" smtClean="0"/>
              <a:t>)</a:t>
            </a:r>
            <a:r>
              <a:rPr lang="ru-RU" b="0" i="0" dirty="0" smtClean="0">
                <a:solidFill>
                  <a:srgbClr val="0F1B46"/>
                </a:solidFill>
                <a:latin typeface="IBM Plex Sans"/>
                <a:ea typeface="IBM Plex Sans"/>
                <a:cs typeface="IBM Plex Sans"/>
                <a:sym typeface="IBM Plex Sans"/>
              </a:rPr>
              <a:t>, который описывает, какая информация должна находится в том или ином месте «дерева»</a:t>
            </a:r>
            <a:endParaRPr lang="en-US" b="0" i="0" dirty="0" smtClean="0">
              <a:solidFill>
                <a:srgbClr val="0F1B46"/>
              </a:solidFill>
              <a:latin typeface="IBM Plex Sans"/>
              <a:ea typeface="IBM Plex Sans"/>
              <a:cs typeface="IBM Plex Sans"/>
              <a:sym typeface="IBM Plex Sans"/>
            </a:endParaRPr>
          </a:p>
          <a:p>
            <a:pPr marL="0" lvl="0" indent="0" algn="l" rtl="0">
              <a:lnSpc>
                <a:spcPct val="90000"/>
              </a:lnSpc>
              <a:spcBef>
                <a:spcPts val="0"/>
              </a:spcBef>
              <a:spcAft>
                <a:spcPts val="0"/>
              </a:spcAft>
              <a:buClr>
                <a:srgbClr val="0F1B46"/>
              </a:buClr>
              <a:buSzPts val="2800"/>
              <a:buNone/>
            </a:pPr>
            <a:endParaRPr lang="en-US" dirty="0" smtClean="0">
              <a:solidFill>
                <a:srgbClr val="0F1B46"/>
              </a:solidFill>
              <a:latin typeface="IBM Plex Sans"/>
              <a:sym typeface="IBM Plex Sans"/>
            </a:endParaRPr>
          </a:p>
          <a:p>
            <a:pPr marL="0" lvl="0" indent="0" algn="l" rtl="0">
              <a:lnSpc>
                <a:spcPct val="90000"/>
              </a:lnSpc>
              <a:spcBef>
                <a:spcPts val="0"/>
              </a:spcBef>
              <a:spcAft>
                <a:spcPts val="0"/>
              </a:spcAft>
              <a:buClr>
                <a:srgbClr val="0F1B46"/>
              </a:buClr>
              <a:buSzPts val="2800"/>
              <a:buNone/>
            </a:pPr>
            <a:r>
              <a:rPr lang="ru-RU" dirty="0" smtClean="0">
                <a:solidFill>
                  <a:srgbClr val="0F1B46"/>
                </a:solidFill>
                <a:latin typeface="IBM Plex Sans"/>
                <a:sym typeface="IBM Plex Sans"/>
              </a:rPr>
              <a:t>Текущая </a:t>
            </a:r>
            <a:r>
              <a:rPr lang="ru-RU" dirty="0">
                <a:solidFill>
                  <a:srgbClr val="0F1B46"/>
                </a:solidFill>
                <a:latin typeface="IBM Plex Sans"/>
                <a:sym typeface="IBM Plex Sans"/>
              </a:rPr>
              <a:t>в</a:t>
            </a:r>
            <a:r>
              <a:rPr lang="ru-RU" dirty="0" smtClean="0">
                <a:solidFill>
                  <a:srgbClr val="0F1B46"/>
                </a:solidFill>
                <a:latin typeface="IBM Plex Sans"/>
                <a:sym typeface="IBM Plex Sans"/>
              </a:rPr>
              <a:t>ерсия стандарта </a:t>
            </a:r>
            <a:r>
              <a:rPr lang="en-US" dirty="0" smtClean="0">
                <a:solidFill>
                  <a:srgbClr val="0F1B46"/>
                </a:solidFill>
                <a:latin typeface="IBM Plex Sans"/>
                <a:sym typeface="IBM Plex Sans"/>
              </a:rPr>
              <a:t>FSH - </a:t>
            </a:r>
            <a:r>
              <a:rPr lang="ru-RU" dirty="0" smtClean="0">
                <a:solidFill>
                  <a:srgbClr val="0F1B46"/>
                </a:solidFill>
                <a:latin typeface="IBM Plex Sans"/>
                <a:sym typeface="IBM Plex Sans"/>
              </a:rPr>
              <a:t>3.0</a:t>
            </a:r>
            <a:endParaRPr lang="en-US" dirty="0" smtClean="0">
              <a:solidFill>
                <a:srgbClr val="0F1B46"/>
              </a:solidFill>
              <a:latin typeface="IBM Plex Sans"/>
              <a:sym typeface="IBM Plex Sans"/>
            </a:endParaRPr>
          </a:p>
          <a:p>
            <a:pPr marL="0" lvl="0" indent="0" algn="l" rtl="0">
              <a:lnSpc>
                <a:spcPct val="90000"/>
              </a:lnSpc>
              <a:spcBef>
                <a:spcPts val="0"/>
              </a:spcBef>
              <a:spcAft>
                <a:spcPts val="0"/>
              </a:spcAft>
              <a:buClr>
                <a:srgbClr val="0F1B46"/>
              </a:buClr>
              <a:buSzPts val="2800"/>
              <a:buNone/>
            </a:pPr>
            <a:endParaRPr lang="en-US" dirty="0">
              <a:solidFill>
                <a:srgbClr val="0F1B46"/>
              </a:solidFill>
              <a:latin typeface="IBM Plex Sans"/>
              <a:sym typeface="IBM Plex Sans"/>
            </a:endParaRPr>
          </a:p>
          <a:p>
            <a:pPr marL="0" lvl="0" indent="0">
              <a:spcBef>
                <a:spcPts val="0"/>
              </a:spcBef>
              <a:buClr>
                <a:srgbClr val="0F1B46"/>
              </a:buClr>
              <a:buSzPts val="2800"/>
              <a:buNone/>
            </a:pPr>
            <a:r>
              <a:rPr lang="en-US" dirty="0">
                <a:solidFill>
                  <a:srgbClr val="0F1B46"/>
                </a:solidFill>
                <a:latin typeface="IBM Plex Sans"/>
                <a:sym typeface="IBM Plex Sans"/>
                <a:hlinkClick r:id="rId3"/>
              </a:rPr>
              <a:t>https://</a:t>
            </a:r>
            <a:r>
              <a:rPr lang="en-US" dirty="0" smtClean="0">
                <a:solidFill>
                  <a:srgbClr val="0F1B46"/>
                </a:solidFill>
                <a:latin typeface="IBM Plex Sans"/>
                <a:sym typeface="IBM Plex Sans"/>
                <a:hlinkClick r:id="rId3"/>
              </a:rPr>
              <a:t>refspecs.linuxfoundation.org/FHS_3.0/fhs/index.html</a:t>
            </a:r>
            <a:endParaRPr lang="en-US" dirty="0" smtClean="0">
              <a:solidFill>
                <a:srgbClr val="0F1B46"/>
              </a:solidFill>
              <a:latin typeface="IBM Plex Sans"/>
              <a:sym typeface="IBM Plex Sans"/>
            </a:endParaRPr>
          </a:p>
          <a:p>
            <a:pPr marL="0" lvl="0" indent="0">
              <a:spcBef>
                <a:spcPts val="0"/>
              </a:spcBef>
              <a:buClr>
                <a:srgbClr val="0F1B46"/>
              </a:buClr>
              <a:buSzPts val="2800"/>
              <a:buNone/>
            </a:pPr>
            <a:endParaRPr lang="en-US" dirty="0">
              <a:solidFill>
                <a:srgbClr val="0F1B46"/>
              </a:solidFill>
              <a:latin typeface="IBM Plex Sans"/>
              <a:sym typeface="IBM Plex Sans"/>
            </a:endParaRPr>
          </a:p>
          <a:p>
            <a:pPr marL="0" lvl="0" indent="0">
              <a:spcBef>
                <a:spcPts val="0"/>
              </a:spcBef>
              <a:buClr>
                <a:srgbClr val="0F1B46"/>
              </a:buClr>
              <a:buSzPts val="2800"/>
              <a:buNone/>
            </a:pPr>
            <a:r>
              <a:rPr lang="ru-RU" dirty="0" smtClean="0"/>
              <a:t>Хорошая картинка</a:t>
            </a:r>
            <a:r>
              <a:rPr lang="en-US" dirty="0" smtClean="0"/>
              <a:t> c FSH 3.0</a:t>
            </a:r>
            <a:r>
              <a:rPr lang="ru-RU" dirty="0" smtClean="0"/>
              <a:t> (</a:t>
            </a:r>
            <a:r>
              <a:rPr lang="en-US" dirty="0" err="1" smtClean="0"/>
              <a:t>vpn</a:t>
            </a:r>
            <a:r>
              <a:rPr lang="en-US" dirty="0" smtClean="0"/>
              <a:t>):</a:t>
            </a:r>
            <a:endParaRPr lang="ru-RU" dirty="0" smtClean="0"/>
          </a:p>
          <a:p>
            <a:pPr marL="0" lvl="0" indent="0">
              <a:spcBef>
                <a:spcPts val="0"/>
              </a:spcBef>
              <a:buClr>
                <a:srgbClr val="0F1B46"/>
              </a:buClr>
              <a:buSzPts val="2800"/>
              <a:buNone/>
            </a:pPr>
            <a:r>
              <a:rPr lang="en-US" dirty="0" smtClean="0">
                <a:hlinkClick r:id="rId4"/>
              </a:rPr>
              <a:t>https</a:t>
            </a:r>
            <a:r>
              <a:rPr lang="en-US" dirty="0">
                <a:hlinkClick r:id="rId4"/>
              </a:rPr>
              <a:t>://</a:t>
            </a:r>
            <a:r>
              <a:rPr lang="en-US" dirty="0" smtClean="0">
                <a:hlinkClick r:id="rId4"/>
              </a:rPr>
              <a:t>whimsical.com/fhs-L6iL5t8kBtCFzAQywZyP4X</a:t>
            </a:r>
            <a:endParaRPr lang="en-US" dirty="0" smtClean="0"/>
          </a:p>
          <a:p>
            <a:pPr marL="0" lvl="0" indent="0">
              <a:spcBef>
                <a:spcPts val="0"/>
              </a:spcBef>
              <a:buClr>
                <a:srgbClr val="0F1B46"/>
              </a:buClr>
              <a:buSzPts val="2800"/>
              <a:buNone/>
            </a:pPr>
            <a:endParaRPr lang="en-US" dirty="0" smtClean="0"/>
          </a:p>
          <a:p>
            <a:pPr marL="0" lvl="0" indent="0">
              <a:spcBef>
                <a:spcPts val="0"/>
              </a:spcBef>
              <a:buClr>
                <a:srgbClr val="0F1B46"/>
              </a:buClr>
              <a:buSzPts val="2800"/>
              <a:buNone/>
            </a:pPr>
            <a:r>
              <a:rPr lang="en-US" dirty="0" smtClean="0"/>
              <a:t>man 7 </a:t>
            </a:r>
            <a:r>
              <a:rPr lang="en-US" dirty="0" err="1" smtClean="0"/>
              <a:t>hier</a:t>
            </a:r>
            <a:endParaRPr lang="en-US" dirty="0"/>
          </a:p>
          <a:p>
            <a:pPr marL="0" lvl="0" indent="0">
              <a:spcBef>
                <a:spcPts val="0"/>
              </a:spcBef>
              <a:buClr>
                <a:srgbClr val="0F1B46"/>
              </a:buClr>
              <a:buSzPts val="2800"/>
              <a:buNone/>
            </a:pPr>
            <a:endParaRPr lang="en-US" dirty="0" smtClean="0"/>
          </a:p>
          <a:p>
            <a:pPr marL="0" lvl="0" indent="0">
              <a:spcBef>
                <a:spcPts val="0"/>
              </a:spcBef>
              <a:buClr>
                <a:srgbClr val="0F1B46"/>
              </a:buClr>
              <a:buSzPts val="2800"/>
              <a:buNone/>
            </a:pPr>
            <a:endParaRPr lang="en-US" dirty="0"/>
          </a:p>
          <a:p>
            <a:pPr marL="0" lvl="0" indent="0">
              <a:spcBef>
                <a:spcPts val="0"/>
              </a:spcBef>
              <a:buClr>
                <a:srgbClr val="0F1B46"/>
              </a:buClr>
              <a:buSzPts val="2800"/>
              <a:buNone/>
            </a:pP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25</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0588" y="238125"/>
            <a:ext cx="7869237" cy="6383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26</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29460190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2"/>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02122"/>
              </a:buClr>
              <a:buSzPts val="4400"/>
              <a:buFont typeface="Times New Roman"/>
              <a:buNone/>
            </a:pPr>
            <a:r>
              <a:rPr lang="ru-RU" b="0" i="0" dirty="0">
                <a:solidFill>
                  <a:srgbClr val="202122"/>
                </a:solidFill>
                <a:latin typeface="Calibri" panose="020F0502020204030204" pitchFamily="34" charset="0"/>
                <a:ea typeface="Times New Roman"/>
                <a:cs typeface="Calibri" panose="020F0502020204030204" pitchFamily="34" charset="0"/>
                <a:sym typeface="Times New Roman"/>
              </a:rPr>
              <a:t>Имена файлов и содержимое каталогов</a:t>
            </a:r>
            <a:endParaRPr dirty="0">
              <a:latin typeface="Calibri" panose="020F0502020204030204" pitchFamily="34" charset="0"/>
              <a:ea typeface="Times New Roman"/>
              <a:cs typeface="Calibri" panose="020F0502020204030204" pitchFamily="34" charset="0"/>
              <a:sym typeface="Times New Roman"/>
            </a:endParaRPr>
          </a:p>
        </p:txBody>
      </p:sp>
      <p:sp>
        <p:nvSpPr>
          <p:cNvPr id="328" name="Google Shape;328;p42"/>
          <p:cNvSpPr txBox="1">
            <a:spLocks noGrp="1"/>
          </p:cNvSpPr>
          <p:nvPr>
            <p:ph type="body" idx="1"/>
          </p:nvPr>
        </p:nvSpPr>
        <p:spPr>
          <a:xfrm>
            <a:off x="839416" y="1556792"/>
            <a:ext cx="10515600" cy="466725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1000"/>
              </a:spcBef>
              <a:spcAft>
                <a:spcPts val="0"/>
              </a:spcAft>
              <a:buClr>
                <a:srgbClr val="202122"/>
              </a:buClr>
              <a:buSzPct val="100000"/>
              <a:buFont typeface="Arial"/>
              <a:buChar char="•"/>
            </a:pPr>
            <a:r>
              <a:rPr lang="ru-RU" b="0" i="0" dirty="0" smtClean="0">
                <a:solidFill>
                  <a:srgbClr val="202122"/>
                </a:solidFill>
                <a:latin typeface="Calibri" panose="020F0502020204030204" pitchFamily="34" charset="0"/>
                <a:ea typeface="Times New Roman"/>
                <a:cs typeface="Calibri" panose="020F0502020204030204" pitchFamily="34" charset="0"/>
                <a:sym typeface="Times New Roman"/>
              </a:rPr>
              <a:t>каталоги </a:t>
            </a:r>
            <a:r>
              <a:rPr lang="ru-RU" b="0" i="0" dirty="0">
                <a:solidFill>
                  <a:srgbClr val="202122"/>
                </a:solidFill>
                <a:latin typeface="Calibri" panose="020F0502020204030204" pitchFamily="34" charset="0"/>
                <a:ea typeface="Times New Roman"/>
                <a:cs typeface="Calibri" panose="020F0502020204030204" pitchFamily="34" charset="0"/>
                <a:sym typeface="Times New Roman"/>
              </a:rPr>
              <a:t>в </a:t>
            </a:r>
            <a:r>
              <a:rPr lang="ru-RU" b="0" i="0" dirty="0" err="1">
                <a:solidFill>
                  <a:srgbClr val="202122"/>
                </a:solidFill>
                <a:latin typeface="Calibri" panose="020F0502020204030204" pitchFamily="34" charset="0"/>
                <a:ea typeface="Times New Roman"/>
                <a:cs typeface="Calibri" panose="020F0502020204030204" pitchFamily="34" charset="0"/>
                <a:sym typeface="Times New Roman"/>
              </a:rPr>
              <a:t>Unix</a:t>
            </a:r>
            <a:r>
              <a:rPr lang="ru-RU" b="0" i="0" dirty="0">
                <a:solidFill>
                  <a:srgbClr val="202122"/>
                </a:solidFill>
                <a:latin typeface="Calibri" panose="020F0502020204030204" pitchFamily="34" charset="0"/>
                <a:ea typeface="Times New Roman"/>
                <a:cs typeface="Calibri" panose="020F0502020204030204" pitchFamily="34" charset="0"/>
                <a:sym typeface="Times New Roman"/>
              </a:rPr>
              <a:t> являются списками 'ссылочных' структур, каждая из которых содержит одно имя файла и один номер индексного </a:t>
            </a:r>
            <a:r>
              <a:rPr lang="ru-RU" b="0" i="0" dirty="0" smtClean="0">
                <a:solidFill>
                  <a:srgbClr val="202122"/>
                </a:solidFill>
                <a:latin typeface="Calibri" panose="020F0502020204030204" pitchFamily="34" charset="0"/>
                <a:ea typeface="Times New Roman"/>
                <a:cs typeface="Calibri" panose="020F0502020204030204" pitchFamily="34" charset="0"/>
                <a:sym typeface="Times New Roman"/>
              </a:rPr>
              <a:t>дескриптора (</a:t>
            </a:r>
            <a:r>
              <a:rPr lang="en-US" b="0" i="0" dirty="0" err="1" smtClean="0">
                <a:solidFill>
                  <a:srgbClr val="202122"/>
                </a:solidFill>
                <a:latin typeface="Calibri" panose="020F0502020204030204" pitchFamily="34" charset="0"/>
                <a:ea typeface="Times New Roman"/>
                <a:cs typeface="Calibri" panose="020F0502020204030204" pitchFamily="34" charset="0"/>
                <a:sym typeface="Times New Roman"/>
              </a:rPr>
              <a:t>inode</a:t>
            </a:r>
            <a:r>
              <a:rPr lang="en-US" b="0" i="0" smtClean="0">
                <a:solidFill>
                  <a:srgbClr val="202122"/>
                </a:solidFill>
                <a:latin typeface="Calibri" panose="020F0502020204030204" pitchFamily="34" charset="0"/>
                <a:ea typeface="Times New Roman"/>
                <a:cs typeface="Calibri" panose="020F0502020204030204" pitchFamily="34" charset="0"/>
                <a:sym typeface="Times New Roman"/>
              </a:rPr>
              <a:t>)</a:t>
            </a:r>
            <a:r>
              <a:rPr lang="ru-RU" b="0" i="0" smtClean="0">
                <a:solidFill>
                  <a:srgbClr val="202122"/>
                </a:solidFill>
                <a:latin typeface="Calibri" panose="020F0502020204030204" pitchFamily="34" charset="0"/>
                <a:ea typeface="Times New Roman"/>
                <a:cs typeface="Calibri" panose="020F0502020204030204" pitchFamily="34" charset="0"/>
                <a:sym typeface="Times New Roman"/>
              </a:rPr>
              <a:t>;</a:t>
            </a:r>
            <a:endParaRPr dirty="0">
              <a:latin typeface="Calibri" panose="020F0502020204030204" pitchFamily="34" charset="0"/>
              <a:cs typeface="Calibri" panose="020F0502020204030204" pitchFamily="34" charset="0"/>
            </a:endParaRPr>
          </a:p>
          <a:p>
            <a:pPr marL="228600" lvl="0" indent="-228600" algn="l" rtl="0">
              <a:lnSpc>
                <a:spcPct val="90000"/>
              </a:lnSpc>
              <a:spcBef>
                <a:spcPts val="1000"/>
              </a:spcBef>
              <a:spcAft>
                <a:spcPts val="0"/>
              </a:spcAft>
              <a:buClr>
                <a:srgbClr val="202122"/>
              </a:buClr>
              <a:buSzPct val="100000"/>
              <a:buFont typeface="Arial"/>
              <a:buChar char="•"/>
            </a:pPr>
            <a:r>
              <a:rPr lang="ru-RU" b="0" i="0" dirty="0">
                <a:solidFill>
                  <a:srgbClr val="202122"/>
                </a:solidFill>
                <a:latin typeface="Calibri" panose="020F0502020204030204" pitchFamily="34" charset="0"/>
                <a:ea typeface="Times New Roman"/>
                <a:cs typeface="Calibri" panose="020F0502020204030204" pitchFamily="34" charset="0"/>
                <a:sym typeface="Times New Roman"/>
              </a:rPr>
              <a:t>ядро должно просматривать каталог в поисках имени файла, затем конвертировать это имя в соответствующий номер индексного дескриптора, в случае успеха;</a:t>
            </a:r>
            <a:endParaRPr dirty="0">
              <a:latin typeface="Calibri" panose="020F0502020204030204" pitchFamily="34" charset="0"/>
              <a:cs typeface="Calibri" panose="020F0502020204030204" pitchFamily="34" charset="0"/>
            </a:endParaRPr>
          </a:p>
          <a:p>
            <a:pPr marL="228600" lvl="0" indent="-228600" algn="l" rtl="0">
              <a:lnSpc>
                <a:spcPct val="90000"/>
              </a:lnSpc>
              <a:spcBef>
                <a:spcPts val="1000"/>
              </a:spcBef>
              <a:spcAft>
                <a:spcPts val="0"/>
              </a:spcAft>
              <a:buClr>
                <a:srgbClr val="202122"/>
              </a:buClr>
              <a:buSzPct val="100000"/>
              <a:buFont typeface="Arial"/>
              <a:buChar char="•"/>
            </a:pPr>
            <a:r>
              <a:rPr lang="ru-RU" b="0" i="0" dirty="0">
                <a:solidFill>
                  <a:srgbClr val="202122"/>
                </a:solidFill>
                <a:latin typeface="Calibri" panose="020F0502020204030204" pitchFamily="34" charset="0"/>
                <a:ea typeface="Times New Roman"/>
                <a:cs typeface="Calibri" panose="020F0502020204030204" pitchFamily="34" charset="0"/>
                <a:sym typeface="Times New Roman"/>
              </a:rPr>
              <a:t>содержимое файлов располагается в</a:t>
            </a:r>
            <a:r>
              <a:rPr lang="ru-RU" b="0" dirty="0">
                <a:solidFill>
                  <a:srgbClr val="202122"/>
                </a:solidFill>
                <a:latin typeface="Calibri" panose="020F0502020204030204" pitchFamily="34" charset="0"/>
                <a:ea typeface="Times New Roman"/>
                <a:cs typeface="Calibri" panose="020F0502020204030204" pitchFamily="34" charset="0"/>
                <a:sym typeface="Times New Roman"/>
              </a:rPr>
              <a:t> блоках данных</a:t>
            </a:r>
            <a:r>
              <a:rPr lang="ru-RU" b="0" i="0" dirty="0">
                <a:solidFill>
                  <a:srgbClr val="202122"/>
                </a:solidFill>
                <a:latin typeface="Calibri" panose="020F0502020204030204" pitchFamily="34" charset="0"/>
                <a:ea typeface="Times New Roman"/>
                <a:cs typeface="Calibri" panose="020F0502020204030204" pitchFamily="34" charset="0"/>
                <a:sym typeface="Times New Roman"/>
              </a:rPr>
              <a:t>, на которые ссылаются индексные дескрипторы.</a:t>
            </a:r>
            <a:endParaRPr dirty="0">
              <a:latin typeface="Calibri" panose="020F0502020204030204" pitchFamily="34" charset="0"/>
              <a:cs typeface="Calibri" panose="020F0502020204030204" pitchFamily="34" charset="0"/>
            </a:endParaRPr>
          </a:p>
          <a:p>
            <a:pPr marL="228600" lvl="0" indent="-64135" algn="l" rtl="0">
              <a:lnSpc>
                <a:spcPct val="90000"/>
              </a:lnSpc>
              <a:spcBef>
                <a:spcPts val="1000"/>
              </a:spcBef>
              <a:spcAft>
                <a:spcPts val="0"/>
              </a:spcAft>
              <a:buClr>
                <a:schemeClr val="dk1"/>
              </a:buClr>
              <a:buSzPct val="100000"/>
              <a:buNone/>
            </a:pPr>
            <a:endParaRPr dirty="0">
              <a:latin typeface="Calibri" panose="020F0502020204030204" pitchFamily="34" charset="0"/>
              <a:cs typeface="Calibri" panose="020F0502020204030204" pitchFamily="34" charset="0"/>
            </a:endParaRPr>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27</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83432" y="274639"/>
            <a:ext cx="10598968" cy="562073"/>
          </a:xfrm>
        </p:spPr>
        <p:txBody>
          <a:bodyPr>
            <a:normAutofit fontScale="90000"/>
          </a:bodyPr>
          <a:lstStyle/>
          <a:p>
            <a:r>
              <a:rPr lang="ru-RU" dirty="0" smtClean="0"/>
              <a:t>Индексный дескриптор (</a:t>
            </a:r>
            <a:r>
              <a:rPr lang="en-US" dirty="0" err="1" smtClean="0"/>
              <a:t>inode</a:t>
            </a:r>
            <a:r>
              <a:rPr lang="en-US" dirty="0" smtClean="0"/>
              <a:t>)</a:t>
            </a:r>
            <a:endParaRPr lang="ru-RU" dirty="0"/>
          </a:p>
        </p:txBody>
      </p:sp>
      <p:sp>
        <p:nvSpPr>
          <p:cNvPr id="5" name="Прямоугольник 4"/>
          <p:cNvSpPr/>
          <p:nvPr/>
        </p:nvSpPr>
        <p:spPr>
          <a:xfrm>
            <a:off x="826719" y="2895591"/>
            <a:ext cx="10647124" cy="2308324"/>
          </a:xfrm>
          <a:prstGeom prst="rect">
            <a:avLst/>
          </a:prstGeom>
        </p:spPr>
        <p:txBody>
          <a:bodyPr wrap="square">
            <a:spAutoFit/>
          </a:bodyPr>
          <a:lstStyle/>
          <a:p>
            <a:pPr>
              <a:buClrTx/>
              <a:buFontTx/>
              <a:buNone/>
            </a:pPr>
            <a:r>
              <a:rPr lang="en-US" sz="1600" kern="1200" dirty="0">
                <a:solidFill>
                  <a:prstClr val="black"/>
                </a:solidFill>
                <a:latin typeface="Lucida Console" panose="020B0609040504020204" pitchFamily="49" charset="0"/>
                <a:ea typeface="+mn-ea"/>
                <a:cs typeface="+mn-cs"/>
              </a:rPr>
              <a:t>[</a:t>
            </a:r>
            <a:r>
              <a:rPr lang="en-US" sz="1600" kern="1200" dirty="0" err="1">
                <a:solidFill>
                  <a:prstClr val="black"/>
                </a:solidFill>
                <a:latin typeface="Lucida Console" panose="020B0609040504020204" pitchFamily="49" charset="0"/>
                <a:ea typeface="+mn-ea"/>
                <a:cs typeface="+mn-cs"/>
              </a:rPr>
              <a:t>root@gateway</a:t>
            </a:r>
            <a:r>
              <a:rPr lang="en-US" sz="1600" kern="1200" dirty="0">
                <a:solidFill>
                  <a:prstClr val="black"/>
                </a:solidFill>
                <a:latin typeface="Lucida Console" panose="020B0609040504020204" pitchFamily="49" charset="0"/>
                <a:ea typeface="+mn-ea"/>
                <a:cs typeface="+mn-cs"/>
              </a:rPr>
              <a:t> </a:t>
            </a:r>
            <a:r>
              <a:rPr lang="en-US" sz="1600" kern="1200" dirty="0" err="1">
                <a:solidFill>
                  <a:prstClr val="black"/>
                </a:solidFill>
                <a:latin typeface="Lucida Console" panose="020B0609040504020204" pitchFamily="49" charset="0"/>
                <a:ea typeface="+mn-ea"/>
                <a:cs typeface="+mn-cs"/>
              </a:rPr>
              <a:t>testme</a:t>
            </a:r>
            <a:r>
              <a:rPr lang="en-US" sz="1600" kern="1200" dirty="0">
                <a:solidFill>
                  <a:prstClr val="black"/>
                </a:solidFill>
                <a:latin typeface="Lucida Console" panose="020B0609040504020204" pitchFamily="49" charset="0"/>
                <a:ea typeface="+mn-ea"/>
                <a:cs typeface="+mn-cs"/>
              </a:rPr>
              <a:t>]# </a:t>
            </a:r>
            <a:r>
              <a:rPr lang="en-US" sz="1600" kern="1200" dirty="0" err="1">
                <a:solidFill>
                  <a:prstClr val="black"/>
                </a:solidFill>
                <a:latin typeface="Lucida Console" panose="020B0609040504020204" pitchFamily="49" charset="0"/>
                <a:ea typeface="+mn-ea"/>
                <a:cs typeface="+mn-cs"/>
              </a:rPr>
              <a:t>df</a:t>
            </a:r>
            <a:r>
              <a:rPr lang="en-US" sz="1600" kern="1200" dirty="0">
                <a:solidFill>
                  <a:prstClr val="black"/>
                </a:solidFill>
                <a:latin typeface="Lucida Console" panose="020B0609040504020204" pitchFamily="49" charset="0"/>
                <a:ea typeface="+mn-ea"/>
                <a:cs typeface="+mn-cs"/>
              </a:rPr>
              <a:t> -h</a:t>
            </a:r>
          </a:p>
          <a:p>
            <a:pPr>
              <a:buClrTx/>
              <a:buFontTx/>
              <a:buNone/>
            </a:pPr>
            <a:r>
              <a:rPr lang="en-US" sz="1600" kern="1200" dirty="0">
                <a:solidFill>
                  <a:prstClr val="black"/>
                </a:solidFill>
                <a:latin typeface="Lucida Console" panose="020B0609040504020204" pitchFamily="49" charset="0"/>
                <a:ea typeface="+mn-ea"/>
                <a:cs typeface="+mn-cs"/>
              </a:rPr>
              <a:t>Filesystem            Size  Used Avail Use% Mounted on</a:t>
            </a:r>
          </a:p>
          <a:p>
            <a:pPr>
              <a:buClrTx/>
              <a:buFontTx/>
              <a:buNone/>
            </a:pPr>
            <a:r>
              <a:rPr lang="en-US" sz="1600" kern="1200" dirty="0">
                <a:solidFill>
                  <a:prstClr val="black"/>
                </a:solidFill>
                <a:latin typeface="Lucida Console" panose="020B0609040504020204" pitchFamily="49" charset="0"/>
                <a:ea typeface="+mn-ea"/>
                <a:cs typeface="+mn-cs"/>
              </a:rPr>
              <a:t>/</a:t>
            </a:r>
            <a:r>
              <a:rPr lang="en-US" sz="1600" kern="1200" dirty="0" smtClean="0">
                <a:solidFill>
                  <a:prstClr val="black"/>
                </a:solidFill>
                <a:latin typeface="Lucida Console" panose="020B0609040504020204" pitchFamily="49" charset="0"/>
                <a:ea typeface="+mn-ea"/>
                <a:cs typeface="+mn-cs"/>
              </a:rPr>
              <a:t>dev/sda2              </a:t>
            </a:r>
            <a:r>
              <a:rPr lang="en-US" sz="1600" kern="1200" dirty="0">
                <a:solidFill>
                  <a:prstClr val="black"/>
                </a:solidFill>
                <a:latin typeface="Lucida Console" panose="020B0609040504020204" pitchFamily="49" charset="0"/>
                <a:ea typeface="+mn-ea"/>
                <a:cs typeface="+mn-cs"/>
              </a:rPr>
              <a:t>49G  4,7G   42G  10% /</a:t>
            </a:r>
          </a:p>
          <a:p>
            <a:pPr>
              <a:buClrTx/>
              <a:buFontTx/>
              <a:buNone/>
            </a:pPr>
            <a:r>
              <a:rPr lang="en-US" sz="1600" kern="1200" dirty="0" smtClean="0">
                <a:solidFill>
                  <a:prstClr val="black"/>
                </a:solidFill>
                <a:latin typeface="Lucida Console" panose="020B0609040504020204" pitchFamily="49" charset="0"/>
                <a:ea typeface="+mn-ea"/>
                <a:cs typeface="+mn-cs"/>
              </a:rPr>
              <a:t>/</a:t>
            </a:r>
            <a:r>
              <a:rPr lang="en-US" sz="1600" kern="1200" dirty="0">
                <a:solidFill>
                  <a:prstClr val="black"/>
                </a:solidFill>
                <a:latin typeface="Lucida Console" panose="020B0609040504020204" pitchFamily="49" charset="0"/>
                <a:ea typeface="+mn-ea"/>
                <a:cs typeface="+mn-cs"/>
              </a:rPr>
              <a:t>dev/sda1              93M   69M   25M  75% /boot</a:t>
            </a:r>
          </a:p>
          <a:p>
            <a:pPr>
              <a:buClrTx/>
              <a:buFontTx/>
              <a:buNone/>
            </a:pPr>
            <a:endParaRPr lang="en-US" sz="1600" kern="1200" dirty="0" smtClean="0">
              <a:solidFill>
                <a:prstClr val="black"/>
              </a:solidFill>
              <a:latin typeface="Lucida Console" panose="020B0609040504020204" pitchFamily="49" charset="0"/>
              <a:ea typeface="+mn-ea"/>
              <a:cs typeface="+mn-cs"/>
            </a:endParaRPr>
          </a:p>
          <a:p>
            <a:pPr>
              <a:buClrTx/>
              <a:buFontTx/>
              <a:buNone/>
            </a:pPr>
            <a:r>
              <a:rPr lang="en-US" sz="1600" kern="1200" dirty="0" smtClean="0">
                <a:solidFill>
                  <a:prstClr val="black"/>
                </a:solidFill>
                <a:latin typeface="Lucida Console" panose="020B0609040504020204" pitchFamily="49" charset="0"/>
                <a:ea typeface="+mn-ea"/>
                <a:cs typeface="+mn-cs"/>
              </a:rPr>
              <a:t>[</a:t>
            </a:r>
            <a:r>
              <a:rPr lang="en-US" sz="1600" kern="1200" dirty="0" err="1">
                <a:solidFill>
                  <a:prstClr val="black"/>
                </a:solidFill>
                <a:latin typeface="Lucida Console" panose="020B0609040504020204" pitchFamily="49" charset="0"/>
                <a:ea typeface="+mn-ea"/>
                <a:cs typeface="+mn-cs"/>
              </a:rPr>
              <a:t>root@gateway</a:t>
            </a:r>
            <a:r>
              <a:rPr lang="en-US" sz="1600" kern="1200" dirty="0">
                <a:solidFill>
                  <a:prstClr val="black"/>
                </a:solidFill>
                <a:latin typeface="Lucida Console" panose="020B0609040504020204" pitchFamily="49" charset="0"/>
                <a:ea typeface="+mn-ea"/>
                <a:cs typeface="+mn-cs"/>
              </a:rPr>
              <a:t> </a:t>
            </a:r>
            <a:r>
              <a:rPr lang="en-US" sz="1600" kern="1200" dirty="0" err="1">
                <a:solidFill>
                  <a:prstClr val="black"/>
                </a:solidFill>
                <a:latin typeface="Lucida Console" panose="020B0609040504020204" pitchFamily="49" charset="0"/>
                <a:ea typeface="+mn-ea"/>
                <a:cs typeface="+mn-cs"/>
              </a:rPr>
              <a:t>testme</a:t>
            </a:r>
            <a:r>
              <a:rPr lang="en-US" sz="1600" kern="1200" dirty="0">
                <a:solidFill>
                  <a:prstClr val="black"/>
                </a:solidFill>
                <a:latin typeface="Lucida Console" panose="020B0609040504020204" pitchFamily="49" charset="0"/>
                <a:ea typeface="+mn-ea"/>
                <a:cs typeface="+mn-cs"/>
              </a:rPr>
              <a:t>]# </a:t>
            </a:r>
            <a:r>
              <a:rPr lang="en-US" sz="1600" kern="1200" dirty="0" err="1">
                <a:solidFill>
                  <a:prstClr val="black"/>
                </a:solidFill>
                <a:latin typeface="Lucida Console" panose="020B0609040504020204" pitchFamily="49" charset="0"/>
                <a:ea typeface="+mn-ea"/>
                <a:cs typeface="+mn-cs"/>
              </a:rPr>
              <a:t>df</a:t>
            </a:r>
            <a:r>
              <a:rPr lang="en-US" sz="1600" kern="1200" dirty="0">
                <a:solidFill>
                  <a:prstClr val="black"/>
                </a:solidFill>
                <a:latin typeface="Lucida Console" panose="020B0609040504020204" pitchFamily="49" charset="0"/>
                <a:ea typeface="+mn-ea"/>
                <a:cs typeface="+mn-cs"/>
              </a:rPr>
              <a:t> -hi</a:t>
            </a:r>
          </a:p>
          <a:p>
            <a:pPr>
              <a:buClrTx/>
              <a:buFontTx/>
              <a:buNone/>
            </a:pPr>
            <a:r>
              <a:rPr lang="en-US" sz="1600" kern="1200" dirty="0">
                <a:solidFill>
                  <a:prstClr val="black"/>
                </a:solidFill>
                <a:latin typeface="Lucida Console" panose="020B0609040504020204" pitchFamily="49" charset="0"/>
                <a:ea typeface="+mn-ea"/>
                <a:cs typeface="+mn-cs"/>
              </a:rPr>
              <a:t>Filesystem           </a:t>
            </a:r>
            <a:r>
              <a:rPr lang="en-US" sz="1600" kern="1200" dirty="0" err="1">
                <a:solidFill>
                  <a:prstClr val="black"/>
                </a:solidFill>
                <a:latin typeface="Lucida Console" panose="020B0609040504020204" pitchFamily="49" charset="0"/>
                <a:ea typeface="+mn-ea"/>
                <a:cs typeface="+mn-cs"/>
              </a:rPr>
              <a:t>Inodes</a:t>
            </a:r>
            <a:r>
              <a:rPr lang="en-US" sz="1600" kern="1200" dirty="0">
                <a:solidFill>
                  <a:prstClr val="black"/>
                </a:solidFill>
                <a:latin typeface="Lucida Console" panose="020B0609040504020204" pitchFamily="49" charset="0"/>
                <a:ea typeface="+mn-ea"/>
                <a:cs typeface="+mn-cs"/>
              </a:rPr>
              <a:t> </a:t>
            </a:r>
            <a:r>
              <a:rPr lang="en-US" sz="1600" kern="1200" dirty="0" err="1">
                <a:solidFill>
                  <a:prstClr val="black"/>
                </a:solidFill>
                <a:latin typeface="Lucida Console" panose="020B0609040504020204" pitchFamily="49" charset="0"/>
                <a:ea typeface="+mn-ea"/>
                <a:cs typeface="+mn-cs"/>
              </a:rPr>
              <a:t>IUsed</a:t>
            </a:r>
            <a:r>
              <a:rPr lang="en-US" sz="1600" kern="1200" dirty="0">
                <a:solidFill>
                  <a:prstClr val="black"/>
                </a:solidFill>
                <a:latin typeface="Lucida Console" panose="020B0609040504020204" pitchFamily="49" charset="0"/>
                <a:ea typeface="+mn-ea"/>
                <a:cs typeface="+mn-cs"/>
              </a:rPr>
              <a:t> </a:t>
            </a:r>
            <a:r>
              <a:rPr lang="en-US" sz="1600" kern="1200" dirty="0" err="1">
                <a:solidFill>
                  <a:prstClr val="black"/>
                </a:solidFill>
                <a:latin typeface="Lucida Console" panose="020B0609040504020204" pitchFamily="49" charset="0"/>
                <a:ea typeface="+mn-ea"/>
                <a:cs typeface="+mn-cs"/>
              </a:rPr>
              <a:t>IFree</a:t>
            </a:r>
            <a:r>
              <a:rPr lang="en-US" sz="1600" kern="1200" dirty="0">
                <a:solidFill>
                  <a:prstClr val="black"/>
                </a:solidFill>
                <a:latin typeface="Lucida Console" panose="020B0609040504020204" pitchFamily="49" charset="0"/>
                <a:ea typeface="+mn-ea"/>
                <a:cs typeface="+mn-cs"/>
              </a:rPr>
              <a:t> </a:t>
            </a:r>
            <a:r>
              <a:rPr lang="en-US" sz="1600" kern="1200" dirty="0" err="1">
                <a:solidFill>
                  <a:prstClr val="black"/>
                </a:solidFill>
                <a:latin typeface="Lucida Console" panose="020B0609040504020204" pitchFamily="49" charset="0"/>
                <a:ea typeface="+mn-ea"/>
                <a:cs typeface="+mn-cs"/>
              </a:rPr>
              <a:t>IUse</a:t>
            </a:r>
            <a:r>
              <a:rPr lang="en-US" sz="1600" kern="1200" dirty="0">
                <a:solidFill>
                  <a:prstClr val="black"/>
                </a:solidFill>
                <a:latin typeface="Lucida Console" panose="020B0609040504020204" pitchFamily="49" charset="0"/>
                <a:ea typeface="+mn-ea"/>
                <a:cs typeface="+mn-cs"/>
              </a:rPr>
              <a:t>% Mounted on</a:t>
            </a:r>
          </a:p>
          <a:p>
            <a:pPr>
              <a:buClrTx/>
              <a:buFontTx/>
              <a:buNone/>
            </a:pPr>
            <a:r>
              <a:rPr lang="en-US" sz="1600" kern="1200" dirty="0">
                <a:solidFill>
                  <a:prstClr val="black"/>
                </a:solidFill>
                <a:latin typeface="Lucida Console" panose="020B0609040504020204" pitchFamily="49" charset="0"/>
                <a:ea typeface="+mn-ea"/>
                <a:cs typeface="+mn-cs"/>
              </a:rPr>
              <a:t>/</a:t>
            </a:r>
            <a:r>
              <a:rPr lang="en-US" sz="1600" kern="1200" dirty="0" smtClean="0">
                <a:solidFill>
                  <a:prstClr val="black"/>
                </a:solidFill>
                <a:latin typeface="Lucida Console" panose="020B0609040504020204" pitchFamily="49" charset="0"/>
                <a:ea typeface="+mn-ea"/>
                <a:cs typeface="+mn-cs"/>
              </a:rPr>
              <a:t>dev/sda2              </a:t>
            </a:r>
            <a:r>
              <a:rPr lang="en-US" sz="1600" kern="1200" dirty="0">
                <a:solidFill>
                  <a:prstClr val="black"/>
                </a:solidFill>
                <a:latin typeface="Lucida Console" panose="020B0609040504020204" pitchFamily="49" charset="0"/>
                <a:ea typeface="+mn-ea"/>
                <a:cs typeface="+mn-cs"/>
              </a:rPr>
              <a:t>3,2M  100K  3,1M    4% /</a:t>
            </a:r>
          </a:p>
          <a:p>
            <a:pPr>
              <a:buClrTx/>
              <a:buFontTx/>
              <a:buNone/>
            </a:pPr>
            <a:r>
              <a:rPr lang="en-US" sz="1600" kern="1200" dirty="0" smtClean="0">
                <a:solidFill>
                  <a:prstClr val="black"/>
                </a:solidFill>
                <a:latin typeface="Lucida Console" panose="020B0609040504020204" pitchFamily="49" charset="0"/>
                <a:ea typeface="+mn-ea"/>
                <a:cs typeface="+mn-cs"/>
              </a:rPr>
              <a:t>/</a:t>
            </a:r>
            <a:r>
              <a:rPr lang="en-US" sz="1600" kern="1200" dirty="0">
                <a:solidFill>
                  <a:prstClr val="black"/>
                </a:solidFill>
                <a:latin typeface="Lucida Console" panose="020B0609040504020204" pitchFamily="49" charset="0"/>
                <a:ea typeface="+mn-ea"/>
                <a:cs typeface="+mn-cs"/>
              </a:rPr>
              <a:t>dev/sda1               26K    45   26K    1% /boot</a:t>
            </a:r>
          </a:p>
        </p:txBody>
      </p:sp>
      <p:sp>
        <p:nvSpPr>
          <p:cNvPr id="6" name="Прямоугольник 5"/>
          <p:cNvSpPr/>
          <p:nvPr/>
        </p:nvSpPr>
        <p:spPr>
          <a:xfrm>
            <a:off x="826718" y="1097393"/>
            <a:ext cx="10029175" cy="1384995"/>
          </a:xfrm>
          <a:prstGeom prst="rect">
            <a:avLst/>
          </a:prstGeom>
        </p:spPr>
        <p:txBody>
          <a:bodyPr wrap="square">
            <a:spAutoFit/>
          </a:bodyPr>
          <a:lstStyle/>
          <a:p>
            <a:pPr>
              <a:buClrTx/>
              <a:buFontTx/>
              <a:buNone/>
            </a:pPr>
            <a:r>
              <a:rPr lang="en-US" sz="2400" kern="1200" dirty="0" err="1" smtClean="0">
                <a:solidFill>
                  <a:prstClr val="black"/>
                </a:solidFill>
                <a:latin typeface="Calibri"/>
                <a:ea typeface="+mn-ea"/>
                <a:cs typeface="+mn-cs"/>
              </a:rPr>
              <a:t>inode</a:t>
            </a:r>
            <a:r>
              <a:rPr lang="en-US" sz="2000" kern="1200" dirty="0" smtClean="0">
                <a:solidFill>
                  <a:prstClr val="black"/>
                </a:solidFill>
                <a:latin typeface="Calibri"/>
                <a:ea typeface="+mn-ea"/>
                <a:cs typeface="+mn-cs"/>
              </a:rPr>
              <a:t> (</a:t>
            </a:r>
            <a:r>
              <a:rPr lang="ru-RU" sz="2000" kern="1200" dirty="0" smtClean="0">
                <a:solidFill>
                  <a:prstClr val="black"/>
                </a:solidFill>
                <a:latin typeface="Calibri"/>
                <a:ea typeface="+mn-ea"/>
                <a:cs typeface="+mn-cs"/>
              </a:rPr>
              <a:t>индексный дескриптор</a:t>
            </a:r>
            <a:r>
              <a:rPr lang="en-US" sz="2000" kern="1200" dirty="0" smtClean="0">
                <a:solidFill>
                  <a:prstClr val="black"/>
                </a:solidFill>
                <a:latin typeface="Calibri"/>
                <a:ea typeface="+mn-ea"/>
                <a:cs typeface="+mn-cs"/>
              </a:rPr>
              <a:t>)</a:t>
            </a:r>
            <a:r>
              <a:rPr lang="ru-RU" sz="2000" kern="1200" dirty="0" smtClean="0">
                <a:solidFill>
                  <a:prstClr val="black"/>
                </a:solidFill>
                <a:latin typeface="Calibri"/>
                <a:ea typeface="+mn-ea"/>
                <a:cs typeface="+mn-cs"/>
              </a:rPr>
              <a:t> </a:t>
            </a:r>
            <a:r>
              <a:rPr lang="ru-RU" sz="2000" kern="1200" dirty="0">
                <a:solidFill>
                  <a:prstClr val="black"/>
                </a:solidFill>
                <a:latin typeface="Calibri"/>
                <a:ea typeface="+mn-ea"/>
                <a:cs typeface="+mn-cs"/>
              </a:rPr>
              <a:t>— это структура данных в традиционных для ОС UNIX файловых </a:t>
            </a:r>
            <a:r>
              <a:rPr lang="ru-RU" sz="2000" kern="1200" dirty="0" smtClean="0">
                <a:solidFill>
                  <a:prstClr val="black"/>
                </a:solidFill>
                <a:latin typeface="Calibri"/>
                <a:ea typeface="+mn-ea"/>
                <a:cs typeface="+mn-cs"/>
              </a:rPr>
              <a:t>системах, </a:t>
            </a:r>
            <a:r>
              <a:rPr lang="ru-RU" sz="2000" kern="1200" dirty="0">
                <a:solidFill>
                  <a:prstClr val="black"/>
                </a:solidFill>
                <a:latin typeface="Calibri"/>
                <a:ea typeface="+mn-ea"/>
                <a:cs typeface="+mn-cs"/>
              </a:rPr>
              <a:t>таких как </a:t>
            </a:r>
            <a:r>
              <a:rPr lang="en-US" sz="2000" kern="1200" dirty="0" smtClean="0">
                <a:solidFill>
                  <a:prstClr val="black"/>
                </a:solidFill>
                <a:latin typeface="Calibri"/>
                <a:ea typeface="+mn-ea"/>
                <a:cs typeface="+mn-cs"/>
              </a:rPr>
              <a:t>ext2,ext3,</a:t>
            </a:r>
            <a:r>
              <a:rPr lang="ru-RU" sz="2000" kern="1200" dirty="0" smtClean="0">
                <a:solidFill>
                  <a:prstClr val="black"/>
                </a:solidFill>
                <a:latin typeface="Calibri"/>
                <a:ea typeface="+mn-ea"/>
                <a:cs typeface="+mn-cs"/>
              </a:rPr>
              <a:t>ext4</a:t>
            </a:r>
            <a:r>
              <a:rPr lang="en-US" sz="2000" kern="1200" dirty="0" smtClean="0">
                <a:solidFill>
                  <a:prstClr val="black"/>
                </a:solidFill>
                <a:latin typeface="Calibri"/>
                <a:ea typeface="+mn-ea"/>
                <a:cs typeface="+mn-cs"/>
              </a:rPr>
              <a:t>,</a:t>
            </a:r>
            <a:r>
              <a:rPr lang="en-US" sz="2000" kern="1200" dirty="0" err="1" smtClean="0">
                <a:solidFill>
                  <a:prstClr val="black"/>
                </a:solidFill>
                <a:latin typeface="Calibri"/>
                <a:ea typeface="+mn-ea"/>
                <a:cs typeface="+mn-cs"/>
              </a:rPr>
              <a:t>xfs</a:t>
            </a:r>
            <a:r>
              <a:rPr lang="ru-RU" sz="2000" kern="1200" dirty="0" smtClean="0">
                <a:solidFill>
                  <a:prstClr val="black"/>
                </a:solidFill>
                <a:latin typeface="Calibri"/>
                <a:ea typeface="+mn-ea"/>
                <a:cs typeface="+mn-cs"/>
              </a:rPr>
              <a:t>. </a:t>
            </a:r>
            <a:r>
              <a:rPr lang="ru-RU" sz="2000" kern="1200" dirty="0">
                <a:solidFill>
                  <a:prstClr val="black"/>
                </a:solidFill>
                <a:latin typeface="Calibri"/>
                <a:ea typeface="+mn-ea"/>
                <a:cs typeface="+mn-cs"/>
              </a:rPr>
              <a:t>В этой структуре хранится метаинформация о стандартных файлах, каталогах или других объектах файловой системы, кроме непосредственно данных и </a:t>
            </a:r>
            <a:r>
              <a:rPr lang="ru-RU" sz="2000" kern="1200" dirty="0" smtClean="0">
                <a:solidFill>
                  <a:prstClr val="black"/>
                </a:solidFill>
                <a:latin typeface="Calibri"/>
                <a:ea typeface="+mn-ea"/>
                <a:cs typeface="+mn-cs"/>
              </a:rPr>
              <a:t>имени</a:t>
            </a:r>
            <a:endParaRPr lang="ru-RU" sz="2000" kern="1200" dirty="0">
              <a:solidFill>
                <a:prstClr val="black"/>
              </a:solidFill>
              <a:latin typeface="Calibri"/>
              <a:ea typeface="+mn-ea"/>
              <a:cs typeface="+mn-cs"/>
            </a:endParaRPr>
          </a:p>
        </p:txBody>
      </p:sp>
      <p:cxnSp>
        <p:nvCxnSpPr>
          <p:cNvPr id="8" name="Прямая соединительная линия 7"/>
          <p:cNvCxnSpPr/>
          <p:nvPr/>
        </p:nvCxnSpPr>
        <p:spPr>
          <a:xfrm>
            <a:off x="826717" y="1222009"/>
            <a:ext cx="33403" cy="1258866"/>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Номер слайда 8"/>
          <p:cNvSpPr>
            <a:spLocks noGrp="1"/>
          </p:cNvSpPr>
          <p:nvPr>
            <p:ph type="sldNum" sz="quarter" idx="12"/>
          </p:nvPr>
        </p:nvSpPr>
        <p:spPr/>
        <p:txBody>
          <a:bodyPr/>
          <a:lstStyle/>
          <a:p>
            <a:fld id="{725C68B6-61C2-468F-89AB-4B9F7531AA68}" type="slidenum">
              <a:rPr lang="ru-RU" smtClean="0"/>
              <a:pPr/>
              <a:t>28</a:t>
            </a:fld>
            <a:r>
              <a:rPr lang="en-US" smtClean="0"/>
              <a:t> / </a:t>
            </a:r>
            <a:r>
              <a:rPr lang="ru-RU" smtClean="0"/>
              <a:t>54</a:t>
            </a:r>
            <a:endParaRPr lang="ru-RU" dirty="0"/>
          </a:p>
        </p:txBody>
      </p:sp>
    </p:spTree>
    <p:extLst>
      <p:ext uri="{BB962C8B-B14F-4D97-AF65-F5344CB8AC3E}">
        <p14:creationId xmlns:p14="http://schemas.microsoft.com/office/powerpoint/2010/main" val="195706378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Содержимое </a:t>
            </a:r>
            <a:r>
              <a:rPr lang="en-US" dirty="0" err="1" smtClean="0"/>
              <a:t>inode</a:t>
            </a:r>
            <a:endParaRPr lang="ru-RU" dirty="0"/>
          </a:p>
        </p:txBody>
      </p:sp>
      <p:sp>
        <p:nvSpPr>
          <p:cNvPr id="5" name="Прямоугольник 4"/>
          <p:cNvSpPr/>
          <p:nvPr/>
        </p:nvSpPr>
        <p:spPr>
          <a:xfrm>
            <a:off x="776613" y="980728"/>
            <a:ext cx="10738981" cy="5262979"/>
          </a:xfrm>
          <a:prstGeom prst="rect">
            <a:avLst/>
          </a:prstGeom>
        </p:spPr>
        <p:txBody>
          <a:bodyPr wrap="square">
            <a:spAutoFit/>
          </a:bodyPr>
          <a:lstStyle/>
          <a:p>
            <a:pPr lvl="0">
              <a:buClrTx/>
            </a:pPr>
            <a:r>
              <a:rPr lang="ru-RU" sz="2400" dirty="0">
                <a:latin typeface="Calibri" panose="020F0502020204030204" pitchFamily="34" charset="0"/>
                <a:ea typeface="Times New Roman"/>
                <a:cs typeface="Calibri" panose="020F0502020204030204" pitchFamily="34" charset="0"/>
                <a:sym typeface="Times New Roman"/>
              </a:rPr>
              <a:t>Стандарты POSIX описывают поведение файловой системы как потомка традиционных файловых систем UNIX — UFS. </a:t>
            </a:r>
            <a:r>
              <a:rPr lang="ru-RU" sz="2400" dirty="0" smtClean="0">
                <a:latin typeface="Calibri" panose="020F0502020204030204" pitchFamily="34" charset="0"/>
                <a:ea typeface="Times New Roman"/>
                <a:cs typeface="Calibri" panose="020F0502020204030204" pitchFamily="34" charset="0"/>
                <a:sym typeface="Times New Roman"/>
              </a:rPr>
              <a:t>В </a:t>
            </a:r>
            <a:r>
              <a:rPr lang="en-US" sz="2400" dirty="0" smtClean="0">
                <a:latin typeface="Calibri" panose="020F0502020204030204" pitchFamily="34" charset="0"/>
                <a:ea typeface="Times New Roman"/>
                <a:cs typeface="Calibri" panose="020F0502020204030204" pitchFamily="34" charset="0"/>
                <a:sym typeface="Times New Roman"/>
              </a:rPr>
              <a:t>Linux </a:t>
            </a:r>
            <a:r>
              <a:rPr lang="ru-RU" sz="2400" dirty="0" smtClean="0">
                <a:latin typeface="Calibri" panose="020F0502020204030204" pitchFamily="34" charset="0"/>
                <a:ea typeface="Times New Roman"/>
                <a:cs typeface="Calibri" panose="020F0502020204030204" pitchFamily="34" charset="0"/>
                <a:sym typeface="Times New Roman"/>
              </a:rPr>
              <a:t>индексные дескрипторы  имеют </a:t>
            </a:r>
            <a:r>
              <a:rPr lang="ru-RU" sz="2400" dirty="0">
                <a:latin typeface="Calibri" panose="020F0502020204030204" pitchFamily="34" charset="0"/>
                <a:ea typeface="Times New Roman"/>
                <a:cs typeface="Calibri" panose="020F0502020204030204" pitchFamily="34" charset="0"/>
                <a:sym typeface="Times New Roman"/>
              </a:rPr>
              <a:t>следующие атрибуты</a:t>
            </a:r>
            <a:r>
              <a:rPr lang="ru-RU" sz="2400" dirty="0" smtClean="0">
                <a:latin typeface="Calibri" panose="020F0502020204030204" pitchFamily="34" charset="0"/>
                <a:ea typeface="Times New Roman"/>
                <a:cs typeface="Calibri" panose="020F0502020204030204" pitchFamily="34" charset="0"/>
                <a:sym typeface="Times New Roman"/>
              </a:rPr>
              <a:t>:</a:t>
            </a:r>
            <a:endParaRPr lang="en-US" sz="2400" b="1" kern="1200" dirty="0" smtClean="0">
              <a:solidFill>
                <a:prstClr val="black"/>
              </a:solidFill>
              <a:latin typeface="Calibri"/>
              <a:ea typeface="+mn-ea"/>
              <a:cs typeface="+mn-cs"/>
            </a:endParaRPr>
          </a:p>
          <a:p>
            <a:pPr>
              <a:buClrTx/>
              <a:buFontTx/>
              <a:buNone/>
            </a:pPr>
            <a:r>
              <a:rPr lang="ru-RU" sz="2400" b="1" kern="1200" dirty="0" smtClean="0">
                <a:solidFill>
                  <a:prstClr val="black"/>
                </a:solidFill>
                <a:latin typeface="Calibri"/>
                <a:ea typeface="+mn-ea"/>
                <a:cs typeface="+mn-cs"/>
              </a:rPr>
              <a:t>Тип файла</a:t>
            </a:r>
            <a:r>
              <a:rPr lang="en-US" sz="2400" b="1" kern="1200" dirty="0" smtClean="0">
                <a:solidFill>
                  <a:prstClr val="black"/>
                </a:solidFill>
                <a:latin typeface="Calibri"/>
                <a:ea typeface="+mn-ea"/>
                <a:cs typeface="+mn-cs"/>
              </a:rPr>
              <a:t>:</a:t>
            </a:r>
            <a:r>
              <a:rPr lang="en-US" sz="2400" kern="1200" dirty="0" smtClean="0">
                <a:solidFill>
                  <a:prstClr val="black"/>
                </a:solidFill>
                <a:latin typeface="Calibri"/>
                <a:ea typeface="+mn-ea"/>
                <a:cs typeface="+mn-cs"/>
              </a:rPr>
              <a:t> </a:t>
            </a:r>
            <a:r>
              <a:rPr lang="ru-RU" sz="2400" kern="1200" dirty="0" smtClean="0">
                <a:solidFill>
                  <a:prstClr val="black"/>
                </a:solidFill>
                <a:latin typeface="Calibri"/>
                <a:ea typeface="+mn-ea"/>
                <a:cs typeface="+mn-cs"/>
              </a:rPr>
              <a:t>обычный файл, директория, специальный файл и т.д.</a:t>
            </a:r>
            <a:endParaRPr lang="en-US" sz="2400" kern="1200" dirty="0">
              <a:solidFill>
                <a:prstClr val="black"/>
              </a:solidFill>
              <a:latin typeface="Calibri"/>
              <a:ea typeface="+mn-ea"/>
              <a:cs typeface="+mn-cs"/>
            </a:endParaRPr>
          </a:p>
          <a:p>
            <a:pPr>
              <a:buClrTx/>
              <a:buFontTx/>
              <a:buNone/>
            </a:pPr>
            <a:r>
              <a:rPr lang="ru-RU" sz="2400" b="1" kern="1200" dirty="0" smtClean="0">
                <a:solidFill>
                  <a:prstClr val="black"/>
                </a:solidFill>
                <a:latin typeface="Calibri"/>
                <a:ea typeface="+mn-ea"/>
                <a:cs typeface="+mn-cs"/>
              </a:rPr>
              <a:t>Права доступа</a:t>
            </a:r>
            <a:r>
              <a:rPr lang="en-US" sz="2400" b="1" kern="1200" dirty="0" smtClean="0">
                <a:solidFill>
                  <a:prstClr val="black"/>
                </a:solidFill>
                <a:latin typeface="Calibri"/>
                <a:ea typeface="+mn-ea"/>
                <a:cs typeface="+mn-cs"/>
              </a:rPr>
              <a:t>:</a:t>
            </a:r>
            <a:r>
              <a:rPr lang="en-US" sz="2400" kern="1200" dirty="0">
                <a:solidFill>
                  <a:prstClr val="black"/>
                </a:solidFill>
                <a:latin typeface="Calibri"/>
                <a:ea typeface="+mn-ea"/>
                <a:cs typeface="+mn-cs"/>
              </a:rPr>
              <a:t> </a:t>
            </a:r>
            <a:r>
              <a:rPr lang="ru-RU" sz="2400" kern="1200" dirty="0" smtClean="0">
                <a:solidFill>
                  <a:prstClr val="black"/>
                </a:solidFill>
                <a:latin typeface="Calibri"/>
                <a:ea typeface="+mn-ea"/>
                <a:cs typeface="+mn-cs"/>
              </a:rPr>
              <a:t>чтение, запись, исполнение</a:t>
            </a:r>
            <a:endParaRPr lang="en-US" sz="2400" kern="1200" dirty="0">
              <a:solidFill>
                <a:prstClr val="black"/>
              </a:solidFill>
              <a:latin typeface="Calibri"/>
              <a:ea typeface="+mn-ea"/>
              <a:cs typeface="+mn-cs"/>
            </a:endParaRPr>
          </a:p>
          <a:p>
            <a:pPr>
              <a:buClrTx/>
              <a:buFontTx/>
              <a:buNone/>
            </a:pPr>
            <a:r>
              <a:rPr lang="ru-RU" sz="2400" b="1" kern="1200" dirty="0" smtClean="0">
                <a:solidFill>
                  <a:prstClr val="black"/>
                </a:solidFill>
                <a:latin typeface="Calibri"/>
                <a:ea typeface="+mn-ea"/>
                <a:cs typeface="+mn-cs"/>
              </a:rPr>
              <a:t>Счетчик ссылок</a:t>
            </a:r>
            <a:r>
              <a:rPr lang="en-US" sz="2400" b="1" kern="1200" dirty="0" smtClean="0">
                <a:solidFill>
                  <a:prstClr val="black"/>
                </a:solidFill>
                <a:latin typeface="Calibri"/>
                <a:ea typeface="+mn-ea"/>
                <a:cs typeface="+mn-cs"/>
              </a:rPr>
              <a:t>:</a:t>
            </a:r>
            <a:r>
              <a:rPr lang="en-US" sz="2400" b="1" kern="1200" dirty="0">
                <a:solidFill>
                  <a:prstClr val="black"/>
                </a:solidFill>
                <a:latin typeface="Calibri"/>
                <a:ea typeface="+mn-ea"/>
                <a:cs typeface="+mn-cs"/>
              </a:rPr>
              <a:t> </a:t>
            </a:r>
            <a:r>
              <a:rPr lang="ru-RU" sz="2400" kern="1200" dirty="0" smtClean="0">
                <a:solidFill>
                  <a:prstClr val="black"/>
                </a:solidFill>
                <a:latin typeface="Calibri"/>
                <a:ea typeface="+mn-ea"/>
                <a:cs typeface="+mn-cs"/>
              </a:rPr>
              <a:t>количество жестки</a:t>
            </a:r>
            <a:r>
              <a:rPr lang="ru-RU" sz="2400" kern="1200" dirty="0">
                <a:solidFill>
                  <a:prstClr val="black"/>
                </a:solidFill>
                <a:latin typeface="Calibri"/>
                <a:ea typeface="+mn-ea"/>
                <a:cs typeface="+mn-cs"/>
              </a:rPr>
              <a:t>х</a:t>
            </a:r>
            <a:r>
              <a:rPr lang="ru-RU" sz="2400" kern="1200" dirty="0" smtClean="0">
                <a:solidFill>
                  <a:prstClr val="black"/>
                </a:solidFill>
                <a:latin typeface="Calibri"/>
                <a:ea typeface="+mn-ea"/>
                <a:cs typeface="+mn-cs"/>
              </a:rPr>
              <a:t> ссылок на данный </a:t>
            </a:r>
            <a:r>
              <a:rPr lang="en-US" sz="2400" kern="1200" dirty="0" err="1" smtClean="0">
                <a:solidFill>
                  <a:prstClr val="black"/>
                </a:solidFill>
                <a:latin typeface="Calibri"/>
                <a:ea typeface="+mn-ea"/>
                <a:cs typeface="+mn-cs"/>
              </a:rPr>
              <a:t>inode</a:t>
            </a:r>
            <a:endParaRPr lang="en-US" sz="2400" kern="1200" dirty="0">
              <a:solidFill>
                <a:prstClr val="black"/>
              </a:solidFill>
              <a:latin typeface="Calibri"/>
              <a:ea typeface="+mn-ea"/>
              <a:cs typeface="+mn-cs"/>
            </a:endParaRPr>
          </a:p>
          <a:p>
            <a:pPr>
              <a:buClrTx/>
              <a:buFontTx/>
              <a:buNone/>
            </a:pPr>
            <a:r>
              <a:rPr lang="ru-RU" sz="2400" b="1" kern="1200" dirty="0" smtClean="0">
                <a:solidFill>
                  <a:prstClr val="black"/>
                </a:solidFill>
                <a:latin typeface="Calibri"/>
                <a:ea typeface="+mn-ea"/>
                <a:cs typeface="+mn-cs"/>
              </a:rPr>
              <a:t>Идентификатор пользователя</a:t>
            </a:r>
            <a:r>
              <a:rPr lang="en-US" sz="2400" b="1" kern="1200" dirty="0" smtClean="0">
                <a:solidFill>
                  <a:prstClr val="black"/>
                </a:solidFill>
                <a:latin typeface="Calibri"/>
                <a:ea typeface="+mn-ea"/>
                <a:cs typeface="+mn-cs"/>
              </a:rPr>
              <a:t>:</a:t>
            </a:r>
            <a:r>
              <a:rPr lang="en-US" sz="2400" kern="1200" dirty="0">
                <a:solidFill>
                  <a:prstClr val="black"/>
                </a:solidFill>
                <a:latin typeface="Calibri"/>
                <a:ea typeface="+mn-ea"/>
                <a:cs typeface="+mn-cs"/>
              </a:rPr>
              <a:t> </a:t>
            </a:r>
            <a:r>
              <a:rPr lang="ru-RU" sz="2400" kern="1200" dirty="0" smtClean="0">
                <a:solidFill>
                  <a:prstClr val="black"/>
                </a:solidFill>
                <a:latin typeface="Calibri"/>
                <a:ea typeface="+mn-ea"/>
                <a:cs typeface="+mn-cs"/>
              </a:rPr>
              <a:t>владелец файла</a:t>
            </a:r>
            <a:endParaRPr lang="en-US" sz="2400" kern="1200" dirty="0">
              <a:solidFill>
                <a:prstClr val="black"/>
              </a:solidFill>
              <a:latin typeface="Calibri"/>
              <a:ea typeface="+mn-ea"/>
              <a:cs typeface="+mn-cs"/>
            </a:endParaRPr>
          </a:p>
          <a:p>
            <a:pPr>
              <a:buClrTx/>
              <a:buFontTx/>
              <a:buNone/>
            </a:pPr>
            <a:r>
              <a:rPr lang="ru-RU" sz="2400" b="1" kern="1200" dirty="0" smtClean="0">
                <a:solidFill>
                  <a:prstClr val="black"/>
                </a:solidFill>
                <a:latin typeface="Calibri"/>
                <a:ea typeface="+mn-ea"/>
                <a:cs typeface="+mn-cs"/>
              </a:rPr>
              <a:t>Идентификатор группы</a:t>
            </a:r>
            <a:r>
              <a:rPr lang="en-US" sz="2400" b="1" kern="1200" dirty="0" smtClean="0">
                <a:solidFill>
                  <a:prstClr val="black"/>
                </a:solidFill>
                <a:latin typeface="Calibri"/>
                <a:ea typeface="+mn-ea"/>
                <a:cs typeface="+mn-cs"/>
              </a:rPr>
              <a:t>:</a:t>
            </a:r>
            <a:r>
              <a:rPr lang="en-US" sz="2400" kern="1200" dirty="0" smtClean="0">
                <a:solidFill>
                  <a:prstClr val="black"/>
                </a:solidFill>
                <a:latin typeface="Calibri"/>
                <a:ea typeface="+mn-ea"/>
                <a:cs typeface="+mn-cs"/>
              </a:rPr>
              <a:t> </a:t>
            </a:r>
            <a:r>
              <a:rPr lang="ru-RU" sz="2400" kern="1200" dirty="0" smtClean="0">
                <a:solidFill>
                  <a:prstClr val="black"/>
                </a:solidFill>
                <a:latin typeface="Calibri"/>
                <a:ea typeface="+mn-ea"/>
                <a:cs typeface="+mn-cs"/>
              </a:rPr>
              <a:t>группа-владелец файла</a:t>
            </a:r>
            <a:endParaRPr lang="en-US" sz="2400" kern="1200" dirty="0">
              <a:solidFill>
                <a:prstClr val="black"/>
              </a:solidFill>
              <a:latin typeface="Calibri"/>
              <a:ea typeface="+mn-ea"/>
              <a:cs typeface="+mn-cs"/>
            </a:endParaRPr>
          </a:p>
          <a:p>
            <a:pPr>
              <a:buClrTx/>
              <a:buFontTx/>
              <a:buNone/>
            </a:pPr>
            <a:r>
              <a:rPr lang="ru-RU" sz="2400" b="1" kern="1200" dirty="0" smtClean="0">
                <a:solidFill>
                  <a:prstClr val="black"/>
                </a:solidFill>
                <a:latin typeface="Calibri"/>
                <a:ea typeface="+mn-ea"/>
                <a:cs typeface="+mn-cs"/>
              </a:rPr>
              <a:t>Размер файла</a:t>
            </a:r>
            <a:r>
              <a:rPr lang="en-US" sz="2400" b="1" kern="1200" dirty="0" smtClean="0">
                <a:solidFill>
                  <a:prstClr val="black"/>
                </a:solidFill>
                <a:latin typeface="Calibri"/>
                <a:ea typeface="+mn-ea"/>
                <a:cs typeface="+mn-cs"/>
              </a:rPr>
              <a:t>:</a:t>
            </a:r>
            <a:r>
              <a:rPr lang="en-US" sz="2400" kern="1200" dirty="0">
                <a:solidFill>
                  <a:prstClr val="black"/>
                </a:solidFill>
                <a:latin typeface="Calibri"/>
                <a:ea typeface="+mn-ea"/>
                <a:cs typeface="+mn-cs"/>
              </a:rPr>
              <a:t> </a:t>
            </a:r>
            <a:r>
              <a:rPr lang="ru-RU" sz="2400" kern="1200" dirty="0" smtClean="0">
                <a:solidFill>
                  <a:prstClr val="black"/>
                </a:solidFill>
                <a:latin typeface="Calibri"/>
                <a:ea typeface="+mn-ea"/>
                <a:cs typeface="+mn-cs"/>
              </a:rPr>
              <a:t>или номера</a:t>
            </a:r>
            <a:r>
              <a:rPr lang="en-US" sz="2400" kern="1200" dirty="0" smtClean="0">
                <a:solidFill>
                  <a:prstClr val="black"/>
                </a:solidFill>
                <a:latin typeface="Calibri"/>
                <a:ea typeface="+mn-ea"/>
                <a:cs typeface="+mn-cs"/>
              </a:rPr>
              <a:t> </a:t>
            </a:r>
            <a:r>
              <a:rPr lang="en-US" sz="2400" kern="1200" dirty="0">
                <a:solidFill>
                  <a:prstClr val="black"/>
                </a:solidFill>
                <a:latin typeface="Calibri"/>
                <a:ea typeface="+mn-ea"/>
                <a:cs typeface="+mn-cs"/>
              </a:rPr>
              <a:t>major/minor </a:t>
            </a:r>
            <a:r>
              <a:rPr lang="ru-RU" sz="2400" kern="1200" dirty="0" smtClean="0">
                <a:solidFill>
                  <a:prstClr val="black"/>
                </a:solidFill>
                <a:latin typeface="Calibri"/>
                <a:ea typeface="+mn-ea"/>
                <a:cs typeface="+mn-cs"/>
              </a:rPr>
              <a:t>для специальных файлов</a:t>
            </a:r>
            <a:endParaRPr lang="en-US" sz="2400" kern="1200" dirty="0">
              <a:solidFill>
                <a:prstClr val="black"/>
              </a:solidFill>
              <a:latin typeface="Calibri"/>
              <a:ea typeface="+mn-ea"/>
              <a:cs typeface="+mn-cs"/>
            </a:endParaRPr>
          </a:p>
          <a:p>
            <a:pPr>
              <a:buClrTx/>
              <a:buFontTx/>
              <a:buNone/>
            </a:pPr>
            <a:r>
              <a:rPr lang="ru-RU" sz="2400" b="1" kern="1200" dirty="0" smtClean="0">
                <a:solidFill>
                  <a:prstClr val="black"/>
                </a:solidFill>
                <a:latin typeface="Calibri"/>
                <a:ea typeface="+mn-ea"/>
                <a:cs typeface="+mn-cs"/>
              </a:rPr>
              <a:t>Отметки времени</a:t>
            </a:r>
            <a:r>
              <a:rPr lang="en-US" sz="2400" kern="1200" dirty="0" smtClean="0">
                <a:solidFill>
                  <a:prstClr val="black"/>
                </a:solidFill>
                <a:latin typeface="Calibri"/>
                <a:ea typeface="+mn-ea"/>
                <a:cs typeface="+mn-cs"/>
              </a:rPr>
              <a:t>: </a:t>
            </a:r>
            <a:r>
              <a:rPr lang="ru-RU" sz="2400" kern="1200" dirty="0" smtClean="0">
                <a:solidFill>
                  <a:prstClr val="black"/>
                </a:solidFill>
                <a:latin typeface="Calibri"/>
                <a:ea typeface="+mn-ea"/>
                <a:cs typeface="+mn-cs"/>
              </a:rPr>
              <a:t>время доступа, модификации и изменения </a:t>
            </a:r>
            <a:r>
              <a:rPr lang="en-US" sz="2400" kern="1200" dirty="0" err="1" smtClean="0">
                <a:solidFill>
                  <a:prstClr val="black"/>
                </a:solidFill>
                <a:latin typeface="Calibri"/>
                <a:ea typeface="+mn-ea"/>
                <a:cs typeface="+mn-cs"/>
              </a:rPr>
              <a:t>inode</a:t>
            </a:r>
            <a:endParaRPr lang="en-US" sz="2400" kern="1200" dirty="0">
              <a:solidFill>
                <a:prstClr val="black"/>
              </a:solidFill>
              <a:latin typeface="Calibri"/>
              <a:ea typeface="+mn-ea"/>
              <a:cs typeface="+mn-cs"/>
            </a:endParaRPr>
          </a:p>
          <a:p>
            <a:pPr>
              <a:buClrTx/>
              <a:buFontTx/>
              <a:buNone/>
            </a:pPr>
            <a:r>
              <a:rPr lang="ru-RU" sz="2400" b="1" kern="1200" dirty="0" smtClean="0">
                <a:solidFill>
                  <a:prstClr val="black"/>
                </a:solidFill>
                <a:latin typeface="Calibri"/>
                <a:ea typeface="+mn-ea"/>
                <a:cs typeface="+mn-cs"/>
              </a:rPr>
              <a:t>Атрибуты</a:t>
            </a:r>
            <a:r>
              <a:rPr lang="en-US" sz="2400" b="1" kern="1200" dirty="0" smtClean="0">
                <a:solidFill>
                  <a:prstClr val="black"/>
                </a:solidFill>
                <a:latin typeface="Calibri"/>
                <a:ea typeface="+mn-ea"/>
                <a:cs typeface="+mn-cs"/>
              </a:rPr>
              <a:t>:</a:t>
            </a:r>
            <a:r>
              <a:rPr lang="en-US" sz="2400" kern="1200" dirty="0">
                <a:solidFill>
                  <a:prstClr val="black"/>
                </a:solidFill>
                <a:latin typeface="Calibri"/>
                <a:ea typeface="+mn-ea"/>
                <a:cs typeface="+mn-cs"/>
              </a:rPr>
              <a:t> </a:t>
            </a:r>
            <a:r>
              <a:rPr lang="ru-RU" sz="2400" kern="1200" dirty="0" smtClean="0">
                <a:solidFill>
                  <a:prstClr val="black"/>
                </a:solidFill>
                <a:latin typeface="Calibri"/>
                <a:ea typeface="+mn-ea"/>
                <a:cs typeface="+mn-cs"/>
              </a:rPr>
              <a:t>например, флаг </a:t>
            </a:r>
            <a:r>
              <a:rPr lang="en-US" sz="2400" kern="1200" dirty="0" smtClean="0">
                <a:solidFill>
                  <a:prstClr val="black"/>
                </a:solidFill>
                <a:latin typeface="Calibri"/>
                <a:ea typeface="+mn-ea"/>
                <a:cs typeface="+mn-cs"/>
              </a:rPr>
              <a:t>immutable</a:t>
            </a:r>
            <a:endParaRPr lang="en-US" sz="2400" kern="1200" dirty="0">
              <a:solidFill>
                <a:prstClr val="black"/>
              </a:solidFill>
              <a:latin typeface="Calibri"/>
              <a:ea typeface="+mn-ea"/>
              <a:cs typeface="+mn-cs"/>
            </a:endParaRPr>
          </a:p>
          <a:p>
            <a:pPr>
              <a:buClrTx/>
              <a:buFontTx/>
              <a:buNone/>
            </a:pPr>
            <a:r>
              <a:rPr lang="ru-RU" sz="2400" b="1" kern="1200" dirty="0" smtClean="0">
                <a:solidFill>
                  <a:prstClr val="black"/>
                </a:solidFill>
                <a:latin typeface="Calibri"/>
                <a:ea typeface="+mn-ea"/>
                <a:cs typeface="+mn-cs"/>
              </a:rPr>
              <a:t>Списки доступа</a:t>
            </a:r>
            <a:r>
              <a:rPr lang="en-US" sz="2400" b="1" kern="1200" dirty="0" smtClean="0">
                <a:solidFill>
                  <a:prstClr val="black"/>
                </a:solidFill>
                <a:latin typeface="Calibri"/>
                <a:ea typeface="+mn-ea"/>
                <a:cs typeface="+mn-cs"/>
              </a:rPr>
              <a:t>:</a:t>
            </a:r>
            <a:r>
              <a:rPr lang="en-US" sz="2400" kern="1200" dirty="0">
                <a:solidFill>
                  <a:prstClr val="black"/>
                </a:solidFill>
                <a:latin typeface="Calibri"/>
                <a:ea typeface="+mn-ea"/>
                <a:cs typeface="+mn-cs"/>
              </a:rPr>
              <a:t> </a:t>
            </a:r>
            <a:r>
              <a:rPr lang="en-US" sz="2400" kern="1200" dirty="0" smtClean="0">
                <a:solidFill>
                  <a:prstClr val="black"/>
                </a:solidFill>
                <a:latin typeface="Calibri"/>
                <a:ea typeface="+mn-ea"/>
                <a:cs typeface="+mn-cs"/>
              </a:rPr>
              <a:t>ACL </a:t>
            </a:r>
            <a:r>
              <a:rPr lang="ru-RU" sz="2400" kern="1200" dirty="0" smtClean="0">
                <a:solidFill>
                  <a:prstClr val="black"/>
                </a:solidFill>
                <a:latin typeface="Calibri"/>
                <a:ea typeface="+mn-ea"/>
                <a:cs typeface="+mn-cs"/>
              </a:rPr>
              <a:t>для расширения классической системы прав доступа</a:t>
            </a:r>
            <a:endParaRPr lang="en-US" sz="2400" kern="1200" dirty="0">
              <a:solidFill>
                <a:prstClr val="black"/>
              </a:solidFill>
              <a:latin typeface="Calibri"/>
              <a:ea typeface="+mn-ea"/>
              <a:cs typeface="+mn-cs"/>
            </a:endParaRPr>
          </a:p>
          <a:p>
            <a:pPr>
              <a:buClrTx/>
              <a:buFontTx/>
              <a:buNone/>
            </a:pPr>
            <a:r>
              <a:rPr lang="ru-RU" sz="2400" b="1" kern="1200" dirty="0" smtClean="0">
                <a:solidFill>
                  <a:prstClr val="black"/>
                </a:solidFill>
                <a:latin typeface="Calibri"/>
                <a:ea typeface="+mn-ea"/>
                <a:cs typeface="+mn-cs"/>
              </a:rPr>
              <a:t>Данные о фактическом расположении файла</a:t>
            </a:r>
            <a:endParaRPr lang="en-US" sz="2400" kern="1200" dirty="0">
              <a:solidFill>
                <a:prstClr val="black"/>
              </a:solidFill>
              <a:latin typeface="Calibri"/>
              <a:ea typeface="+mn-ea"/>
              <a:cs typeface="+mn-cs"/>
            </a:endParaRPr>
          </a:p>
          <a:p>
            <a:pPr>
              <a:buClrTx/>
              <a:buFontTx/>
              <a:buNone/>
            </a:pPr>
            <a:r>
              <a:rPr lang="ru-RU" sz="2400" b="1" kern="1200" dirty="0" smtClean="0">
                <a:solidFill>
                  <a:prstClr val="black"/>
                </a:solidFill>
                <a:latin typeface="Calibri"/>
                <a:ea typeface="+mn-ea"/>
                <a:cs typeface="+mn-cs"/>
              </a:rPr>
              <a:t>Прочие метаданные</a:t>
            </a:r>
            <a:endParaRPr lang="en-US" sz="2400" kern="1200" dirty="0">
              <a:solidFill>
                <a:prstClr val="black"/>
              </a:solidFill>
              <a:latin typeface="Calibri"/>
              <a:ea typeface="+mn-ea"/>
              <a:cs typeface="+mn-cs"/>
            </a:endParaRPr>
          </a:p>
        </p:txBody>
      </p:sp>
      <p:sp>
        <p:nvSpPr>
          <p:cNvPr id="7" name="Номер слайда 6"/>
          <p:cNvSpPr>
            <a:spLocks noGrp="1"/>
          </p:cNvSpPr>
          <p:nvPr>
            <p:ph type="sldNum" sz="quarter" idx="12"/>
          </p:nvPr>
        </p:nvSpPr>
        <p:spPr/>
        <p:txBody>
          <a:bodyPr/>
          <a:lstStyle/>
          <a:p>
            <a:fld id="{725C68B6-61C2-468F-89AB-4B9F7531AA68}" type="slidenum">
              <a:rPr lang="ru-RU" smtClean="0"/>
              <a:pPr/>
              <a:t>29</a:t>
            </a:fld>
            <a:r>
              <a:rPr lang="en-US" smtClean="0"/>
              <a:t> / </a:t>
            </a:r>
            <a:r>
              <a:rPr lang="ru-RU" smtClean="0"/>
              <a:t>54</a:t>
            </a:r>
            <a:endParaRPr lang="ru-RU" dirty="0"/>
          </a:p>
        </p:txBody>
      </p:sp>
    </p:spTree>
    <p:extLst>
      <p:ext uri="{BB962C8B-B14F-4D97-AF65-F5344CB8AC3E}">
        <p14:creationId xmlns:p14="http://schemas.microsoft.com/office/powerpoint/2010/main" val="360441096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Типы файлов в </a:t>
            </a:r>
            <a:r>
              <a:rPr lang="en-US" dirty="0" smtClean="0"/>
              <a:t>Linux</a:t>
            </a:r>
            <a:endParaRPr lang="ru-RU" dirty="0"/>
          </a:p>
        </p:txBody>
      </p:sp>
      <p:pic>
        <p:nvPicPr>
          <p:cNvPr id="1026" name="Picture 2" descr="C:\Users\Sergei\YandexDisk\Университет\Системное администрирование\Лекции\file_typ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500" y="1368858"/>
            <a:ext cx="10932005" cy="4253206"/>
          </a:xfrm>
          <a:prstGeom prst="rect">
            <a:avLst/>
          </a:prstGeom>
          <a:noFill/>
          <a:extLst>
            <a:ext uri="{909E8E84-426E-40DD-AFC4-6F175D3DCCD1}">
              <a14:hiddenFill xmlns:a14="http://schemas.microsoft.com/office/drawing/2010/main">
                <a:solidFill>
                  <a:srgbClr val="FFFFFF"/>
                </a:solidFill>
              </a14:hiddenFill>
            </a:ext>
          </a:extLst>
        </p:spPr>
      </p:pic>
      <p:sp>
        <p:nvSpPr>
          <p:cNvPr id="6" name="Номер слайда 5"/>
          <p:cNvSpPr>
            <a:spLocks noGrp="1"/>
          </p:cNvSpPr>
          <p:nvPr>
            <p:ph type="sldNum" sz="quarter" idx="12"/>
          </p:nvPr>
        </p:nvSpPr>
        <p:spPr/>
        <p:txBody>
          <a:bodyPr/>
          <a:lstStyle/>
          <a:p>
            <a:fld id="{725C68B6-61C2-468F-89AB-4B9F7531AA68}" type="slidenum">
              <a:rPr lang="ru-RU" smtClean="0"/>
              <a:pPr/>
              <a:t>30</a:t>
            </a:fld>
            <a:r>
              <a:rPr lang="en-US" smtClean="0"/>
              <a:t> / </a:t>
            </a:r>
            <a:r>
              <a:rPr lang="ru-RU" smtClean="0"/>
              <a:t>54</a:t>
            </a:r>
            <a:endParaRPr lang="ru-RU" dirty="0"/>
          </a:p>
        </p:txBody>
      </p:sp>
    </p:spTree>
    <p:extLst>
      <p:ext uri="{BB962C8B-B14F-4D97-AF65-F5344CB8AC3E}">
        <p14:creationId xmlns:p14="http://schemas.microsoft.com/office/powerpoint/2010/main" val="208066488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Блочные устройства</a:t>
            </a:r>
            <a:endParaRPr lang="ru-RU" dirty="0"/>
          </a:p>
        </p:txBody>
      </p:sp>
      <p:sp>
        <p:nvSpPr>
          <p:cNvPr id="5" name="Прямоугольник 4"/>
          <p:cNvSpPr/>
          <p:nvPr/>
        </p:nvSpPr>
        <p:spPr>
          <a:xfrm>
            <a:off x="267222" y="37683"/>
            <a:ext cx="3672408" cy="6740307"/>
          </a:xfrm>
          <a:prstGeom prst="rect">
            <a:avLst/>
          </a:prstGeom>
          <a:solidFill>
            <a:schemeClr val="bg1">
              <a:lumMod val="95000"/>
            </a:schemeClr>
          </a:solidFill>
        </p:spPr>
        <p:txBody>
          <a:bodyPr wrap="square">
            <a:spAutoFit/>
          </a:bodyPr>
          <a:lstStyle/>
          <a:p>
            <a:r>
              <a:rPr lang="en-US" sz="1800" dirty="0" err="1"/>
              <a:t>root@eltex</a:t>
            </a:r>
            <a:r>
              <a:rPr lang="en-US" sz="1800" dirty="0"/>
              <a:t>:~# find /dev -type b</a:t>
            </a:r>
          </a:p>
          <a:p>
            <a:r>
              <a:rPr lang="en-US" sz="1800" dirty="0"/>
              <a:t>/dev/loop7</a:t>
            </a:r>
          </a:p>
          <a:p>
            <a:r>
              <a:rPr lang="en-US" sz="1800" dirty="0"/>
              <a:t>/dev/loop6</a:t>
            </a:r>
          </a:p>
          <a:p>
            <a:r>
              <a:rPr lang="en-US" sz="1800" dirty="0"/>
              <a:t>/dev/loop5</a:t>
            </a:r>
          </a:p>
          <a:p>
            <a:r>
              <a:rPr lang="en-US" sz="1800" dirty="0"/>
              <a:t>/dev/loop4</a:t>
            </a:r>
          </a:p>
          <a:p>
            <a:r>
              <a:rPr lang="en-US" sz="1800" dirty="0"/>
              <a:t>/dev/loop3</a:t>
            </a:r>
          </a:p>
          <a:p>
            <a:r>
              <a:rPr lang="en-US" sz="1800" dirty="0"/>
              <a:t>/dev/loop2</a:t>
            </a:r>
          </a:p>
          <a:p>
            <a:r>
              <a:rPr lang="en-US" sz="1800" dirty="0"/>
              <a:t>/dev/loop1</a:t>
            </a:r>
          </a:p>
          <a:p>
            <a:r>
              <a:rPr lang="en-US" sz="1800" dirty="0"/>
              <a:t>/dev/loop0</a:t>
            </a:r>
          </a:p>
          <a:p>
            <a:r>
              <a:rPr lang="en-US" sz="1800" dirty="0"/>
              <a:t>/dev/dm-2</a:t>
            </a:r>
          </a:p>
          <a:p>
            <a:r>
              <a:rPr lang="en-US" sz="1800" dirty="0"/>
              <a:t>/dev/dm-1</a:t>
            </a:r>
          </a:p>
          <a:p>
            <a:r>
              <a:rPr lang="en-US" sz="1800" dirty="0"/>
              <a:t>/dev/dm-0</a:t>
            </a:r>
          </a:p>
          <a:p>
            <a:r>
              <a:rPr lang="en-US" sz="1800" dirty="0"/>
              <a:t>/dev/sda5</a:t>
            </a:r>
          </a:p>
          <a:p>
            <a:r>
              <a:rPr lang="en-US" sz="1800" dirty="0"/>
              <a:t>/dev/sda2</a:t>
            </a:r>
          </a:p>
          <a:p>
            <a:r>
              <a:rPr lang="en-US" sz="1800" dirty="0"/>
              <a:t>/dev/sda1</a:t>
            </a:r>
          </a:p>
          <a:p>
            <a:r>
              <a:rPr lang="en-US" sz="1800" dirty="0"/>
              <a:t>/dev/</a:t>
            </a:r>
            <a:r>
              <a:rPr lang="en-US" sz="1800" dirty="0" err="1"/>
              <a:t>sda</a:t>
            </a:r>
            <a:endParaRPr lang="en-US" sz="1800" dirty="0"/>
          </a:p>
          <a:p>
            <a:r>
              <a:rPr lang="en-US" sz="1800" dirty="0"/>
              <a:t>/</a:t>
            </a:r>
            <a:r>
              <a:rPr lang="en-US" sz="1800" dirty="0" smtClean="0"/>
              <a:t>dev/sr0</a:t>
            </a:r>
          </a:p>
          <a:p>
            <a:endParaRPr lang="en-US" sz="1800" dirty="0" smtClean="0"/>
          </a:p>
          <a:p>
            <a:r>
              <a:rPr lang="en-US" sz="1600" dirty="0" smtClean="0"/>
              <a:t># </a:t>
            </a:r>
            <a:r>
              <a:rPr lang="en-US" sz="1600" dirty="0"/>
              <a:t>ls -l /dev/</a:t>
            </a:r>
            <a:r>
              <a:rPr lang="en-US" sz="1600" dirty="0" err="1"/>
              <a:t>sda</a:t>
            </a:r>
            <a:endParaRPr lang="en-US" sz="1600" dirty="0"/>
          </a:p>
          <a:p>
            <a:r>
              <a:rPr lang="en-US" sz="1600" dirty="0" err="1"/>
              <a:t>brw</a:t>
            </a:r>
            <a:r>
              <a:rPr lang="en-US" sz="1600" dirty="0"/>
              <a:t>-</a:t>
            </a:r>
            <a:r>
              <a:rPr lang="en-US" sz="1600" dirty="0" err="1"/>
              <a:t>rw</a:t>
            </a:r>
            <a:r>
              <a:rPr lang="en-US" sz="1600" dirty="0"/>
              <a:t>---- 1 root disk </a:t>
            </a:r>
            <a:r>
              <a:rPr lang="en-US" sz="1600" dirty="0">
                <a:solidFill>
                  <a:srgbClr val="FF0000"/>
                </a:solidFill>
              </a:rPr>
              <a:t>8</a:t>
            </a:r>
            <a:r>
              <a:rPr lang="en-US" sz="1600" dirty="0"/>
              <a:t>, </a:t>
            </a:r>
            <a:r>
              <a:rPr lang="en-US" sz="1600" dirty="0">
                <a:solidFill>
                  <a:srgbClr val="FF0000"/>
                </a:solidFill>
              </a:rPr>
              <a:t>0</a:t>
            </a:r>
            <a:r>
              <a:rPr lang="en-US" sz="1600" dirty="0"/>
              <a:t> </a:t>
            </a:r>
            <a:r>
              <a:rPr lang="ru-RU" sz="1600" dirty="0" err="1"/>
              <a:t>мар</a:t>
            </a:r>
            <a:r>
              <a:rPr lang="ru-RU" sz="1600" dirty="0"/>
              <a:t>  6 13:22 /</a:t>
            </a:r>
            <a:r>
              <a:rPr lang="en-US" sz="1600" dirty="0" smtClean="0"/>
              <a:t>dev/</a:t>
            </a:r>
            <a:r>
              <a:rPr lang="en-US" sz="1600" dirty="0" err="1" smtClean="0"/>
              <a:t>sda</a:t>
            </a:r>
            <a:endParaRPr lang="ru-RU" sz="1600" dirty="0" smtClean="0"/>
          </a:p>
          <a:p>
            <a:r>
              <a:rPr lang="en-US" sz="1600" dirty="0" smtClean="0"/>
              <a:t># </a:t>
            </a:r>
            <a:r>
              <a:rPr lang="en-US" sz="1600" dirty="0"/>
              <a:t>ls -l /dev/sda1</a:t>
            </a:r>
          </a:p>
          <a:p>
            <a:r>
              <a:rPr lang="en-US" sz="1600" dirty="0" err="1"/>
              <a:t>brw</a:t>
            </a:r>
            <a:r>
              <a:rPr lang="en-US" sz="1600" dirty="0"/>
              <a:t>-</a:t>
            </a:r>
            <a:r>
              <a:rPr lang="en-US" sz="1600" dirty="0" err="1"/>
              <a:t>rw</a:t>
            </a:r>
            <a:r>
              <a:rPr lang="en-US" sz="1600" dirty="0"/>
              <a:t>---- 1 root disk </a:t>
            </a:r>
            <a:r>
              <a:rPr lang="en-US" sz="1600" dirty="0">
                <a:solidFill>
                  <a:srgbClr val="FF0000"/>
                </a:solidFill>
              </a:rPr>
              <a:t>8</a:t>
            </a:r>
            <a:r>
              <a:rPr lang="en-US" sz="1600" dirty="0"/>
              <a:t>, </a:t>
            </a:r>
            <a:r>
              <a:rPr lang="en-US" sz="1600" dirty="0">
                <a:solidFill>
                  <a:srgbClr val="00B050"/>
                </a:solidFill>
              </a:rPr>
              <a:t>1</a:t>
            </a:r>
            <a:r>
              <a:rPr lang="en-US" sz="1600" dirty="0"/>
              <a:t> </a:t>
            </a:r>
            <a:r>
              <a:rPr lang="ru-RU" sz="1600" dirty="0" err="1"/>
              <a:t>мар</a:t>
            </a:r>
            <a:r>
              <a:rPr lang="ru-RU" sz="1600" dirty="0"/>
              <a:t>  6 13:22 /</a:t>
            </a:r>
            <a:r>
              <a:rPr lang="en-US" sz="1600" dirty="0" smtClean="0"/>
              <a:t>dev/sda1</a:t>
            </a:r>
            <a:endParaRPr lang="en-US" sz="1600" dirty="0"/>
          </a:p>
        </p:txBody>
      </p:sp>
      <p:sp>
        <p:nvSpPr>
          <p:cNvPr id="6" name="Прямоугольник 5"/>
          <p:cNvSpPr/>
          <p:nvPr/>
        </p:nvSpPr>
        <p:spPr>
          <a:xfrm>
            <a:off x="4079006" y="836712"/>
            <a:ext cx="7921649" cy="5909310"/>
          </a:xfrm>
          <a:prstGeom prst="rect">
            <a:avLst/>
          </a:prstGeom>
        </p:spPr>
        <p:txBody>
          <a:bodyPr wrap="square">
            <a:spAutoFit/>
          </a:bodyPr>
          <a:lstStyle/>
          <a:p>
            <a:r>
              <a:rPr lang="en-US" sz="1800" dirty="0" smtClean="0"/>
              <a:t># </a:t>
            </a:r>
            <a:r>
              <a:rPr lang="en-US" sz="1800" dirty="0"/>
              <a:t>truncate -s 10M </a:t>
            </a:r>
            <a:r>
              <a:rPr lang="en-US" sz="1800" dirty="0" err="1"/>
              <a:t>file_block_device.img</a:t>
            </a:r>
            <a:endParaRPr lang="en-US" sz="1800" dirty="0"/>
          </a:p>
          <a:p>
            <a:r>
              <a:rPr lang="en-US" sz="1800" dirty="0" smtClean="0"/>
              <a:t># </a:t>
            </a:r>
            <a:r>
              <a:rPr lang="en-US" sz="1800" dirty="0"/>
              <a:t>file </a:t>
            </a:r>
            <a:r>
              <a:rPr lang="en-US" sz="1800" dirty="0" err="1"/>
              <a:t>file_block_device.img</a:t>
            </a:r>
            <a:endParaRPr lang="en-US" sz="1800" dirty="0"/>
          </a:p>
          <a:p>
            <a:r>
              <a:rPr lang="en-US" sz="1800" dirty="0" err="1"/>
              <a:t>file_block_device.img</a:t>
            </a:r>
            <a:r>
              <a:rPr lang="en-US" sz="1800" dirty="0"/>
              <a:t>: </a:t>
            </a:r>
            <a:r>
              <a:rPr lang="en-US" sz="1800" dirty="0" smtClean="0"/>
              <a:t>data</a:t>
            </a:r>
          </a:p>
          <a:p>
            <a:r>
              <a:rPr lang="en-US" sz="1800" dirty="0" smtClean="0"/>
              <a:t># </a:t>
            </a:r>
            <a:r>
              <a:rPr lang="en-US" sz="1800" dirty="0" err="1"/>
              <a:t>losetup</a:t>
            </a:r>
            <a:r>
              <a:rPr lang="en-US" sz="1800" dirty="0"/>
              <a:t> --show `</a:t>
            </a:r>
            <a:r>
              <a:rPr lang="en-US" sz="1800" dirty="0" err="1"/>
              <a:t>losetup</a:t>
            </a:r>
            <a:r>
              <a:rPr lang="en-US" sz="1800" dirty="0"/>
              <a:t> -f` </a:t>
            </a:r>
            <a:r>
              <a:rPr lang="en-US" sz="1800" dirty="0" err="1"/>
              <a:t>file_block_device.img</a:t>
            </a:r>
            <a:endParaRPr lang="en-US" sz="1800" dirty="0"/>
          </a:p>
          <a:p>
            <a:r>
              <a:rPr lang="en-US" sz="1800" dirty="0"/>
              <a:t>/dev/loop0</a:t>
            </a:r>
          </a:p>
          <a:p>
            <a:r>
              <a:rPr lang="en-US" sz="1800" dirty="0" smtClean="0"/>
              <a:t># </a:t>
            </a:r>
            <a:r>
              <a:rPr lang="en-US" sz="1800" dirty="0" err="1"/>
              <a:t>blkid</a:t>
            </a:r>
            <a:r>
              <a:rPr lang="en-US" sz="1800" dirty="0"/>
              <a:t> /</a:t>
            </a:r>
            <a:r>
              <a:rPr lang="en-US" sz="1800" dirty="0" smtClean="0"/>
              <a:t>dev/loop0</a:t>
            </a:r>
            <a:endParaRPr lang="ru-RU" sz="1800" dirty="0" smtClean="0"/>
          </a:p>
          <a:p>
            <a:r>
              <a:rPr lang="ru-RU" sz="1800" dirty="0" smtClean="0"/>
              <a:t>(пусто)</a:t>
            </a:r>
            <a:endParaRPr lang="en-US" sz="1800" dirty="0"/>
          </a:p>
          <a:p>
            <a:r>
              <a:rPr lang="en-US" sz="1800" dirty="0" smtClean="0"/>
              <a:t># </a:t>
            </a:r>
            <a:r>
              <a:rPr lang="en-US" sz="1800" dirty="0"/>
              <a:t>mkfs.ext4 /dev/loop0</a:t>
            </a:r>
          </a:p>
          <a:p>
            <a:r>
              <a:rPr lang="en-US" sz="1800" dirty="0" smtClean="0"/>
              <a:t>(</a:t>
            </a:r>
            <a:r>
              <a:rPr lang="ru-RU" sz="1800" dirty="0" smtClean="0"/>
              <a:t>вывод результатов) </a:t>
            </a:r>
            <a:endParaRPr lang="en-US" sz="1800" dirty="0" smtClean="0"/>
          </a:p>
          <a:p>
            <a:r>
              <a:rPr lang="en-US" sz="1800" dirty="0" smtClean="0"/>
              <a:t># </a:t>
            </a:r>
            <a:r>
              <a:rPr lang="en-US" sz="1800" dirty="0" err="1"/>
              <a:t>blkid</a:t>
            </a:r>
            <a:r>
              <a:rPr lang="en-US" sz="1800" dirty="0"/>
              <a:t> /dev/loop0</a:t>
            </a:r>
          </a:p>
          <a:p>
            <a:r>
              <a:rPr lang="en-US" sz="1800" dirty="0"/>
              <a:t>/dev/loop0: UUID="e807d8fa-5081-4fab-9306-58d34640eedb" BLOCK_SIZE="1024" TYPE="ext4"</a:t>
            </a:r>
          </a:p>
          <a:p>
            <a:r>
              <a:rPr lang="en-US" sz="1800" dirty="0" smtClean="0"/>
              <a:t># </a:t>
            </a:r>
            <a:r>
              <a:rPr lang="en-US" sz="1800" dirty="0" err="1"/>
              <a:t>mkdir</a:t>
            </a:r>
            <a:r>
              <a:rPr lang="en-US" sz="1800" dirty="0"/>
              <a:t> -p /</a:t>
            </a:r>
            <a:r>
              <a:rPr lang="en-US" sz="1800" dirty="0" err="1"/>
              <a:t>mnt</a:t>
            </a:r>
            <a:r>
              <a:rPr lang="en-US" sz="1800" dirty="0"/>
              <a:t>/</a:t>
            </a:r>
            <a:r>
              <a:rPr lang="en-US" sz="1800" dirty="0" err="1"/>
              <a:t>blk</a:t>
            </a:r>
            <a:r>
              <a:rPr lang="en-US" sz="1800" dirty="0"/>
              <a:t>/1</a:t>
            </a:r>
          </a:p>
          <a:p>
            <a:r>
              <a:rPr lang="en-US" sz="1800" dirty="0" smtClean="0"/>
              <a:t># </a:t>
            </a:r>
            <a:r>
              <a:rPr lang="en-US" sz="1800" dirty="0"/>
              <a:t>mount /dev/loop0 /</a:t>
            </a:r>
            <a:r>
              <a:rPr lang="en-US" sz="1800" dirty="0" err="1"/>
              <a:t>mnt</a:t>
            </a:r>
            <a:r>
              <a:rPr lang="en-US" sz="1800" dirty="0"/>
              <a:t>/</a:t>
            </a:r>
            <a:r>
              <a:rPr lang="en-US" sz="1800" dirty="0" err="1"/>
              <a:t>blk</a:t>
            </a:r>
            <a:r>
              <a:rPr lang="en-US" sz="1800" dirty="0"/>
              <a:t>/1/</a:t>
            </a:r>
          </a:p>
          <a:p>
            <a:r>
              <a:rPr lang="en-US" sz="1800" dirty="0" smtClean="0"/>
              <a:t># </a:t>
            </a:r>
            <a:r>
              <a:rPr lang="en-US" sz="1800" dirty="0"/>
              <a:t>touch /</a:t>
            </a:r>
            <a:r>
              <a:rPr lang="en-US" sz="1800" dirty="0" err="1"/>
              <a:t>mnt</a:t>
            </a:r>
            <a:r>
              <a:rPr lang="en-US" sz="1800" dirty="0"/>
              <a:t>/</a:t>
            </a:r>
            <a:r>
              <a:rPr lang="en-US" sz="1800" dirty="0" err="1"/>
              <a:t>blk</a:t>
            </a:r>
            <a:r>
              <a:rPr lang="en-US" sz="1800" dirty="0"/>
              <a:t>/1/somefile.txt</a:t>
            </a:r>
          </a:p>
          <a:p>
            <a:r>
              <a:rPr lang="en-US" sz="1800" dirty="0" smtClean="0"/>
              <a:t># </a:t>
            </a:r>
            <a:r>
              <a:rPr lang="en-US" sz="1800" dirty="0" err="1"/>
              <a:t>umount</a:t>
            </a:r>
            <a:r>
              <a:rPr lang="en-US" sz="1800" dirty="0"/>
              <a:t> /</a:t>
            </a:r>
            <a:r>
              <a:rPr lang="en-US" sz="1800" dirty="0" err="1"/>
              <a:t>mnt</a:t>
            </a:r>
            <a:r>
              <a:rPr lang="en-US" sz="1800" dirty="0"/>
              <a:t>/</a:t>
            </a:r>
            <a:r>
              <a:rPr lang="en-US" sz="1800" dirty="0" err="1"/>
              <a:t>blk</a:t>
            </a:r>
            <a:r>
              <a:rPr lang="en-US" sz="1800" dirty="0"/>
              <a:t>/1</a:t>
            </a:r>
          </a:p>
          <a:p>
            <a:r>
              <a:rPr lang="en-US" sz="1800" dirty="0" smtClean="0"/>
              <a:t># </a:t>
            </a:r>
            <a:r>
              <a:rPr lang="en-US" sz="1800" dirty="0"/>
              <a:t>file </a:t>
            </a:r>
            <a:r>
              <a:rPr lang="en-US" sz="1800" dirty="0" err="1"/>
              <a:t>file_block_device.img</a:t>
            </a:r>
            <a:endParaRPr lang="en-US" sz="1800" dirty="0"/>
          </a:p>
          <a:p>
            <a:r>
              <a:rPr lang="en-US" sz="1800" dirty="0" err="1"/>
              <a:t>file_block_device.img</a:t>
            </a:r>
            <a:r>
              <a:rPr lang="en-US" sz="1800" dirty="0"/>
              <a:t>: Linux rev 1.0 ext4 filesystem data, UUID=e807d8fa-5081-4fab-9306-58d34640eedb (extents) (64bit) (large files) (huge files)</a:t>
            </a:r>
          </a:p>
          <a:p>
            <a:r>
              <a:rPr lang="en-US" sz="1800" dirty="0" smtClean="0"/>
              <a:t># </a:t>
            </a:r>
            <a:r>
              <a:rPr lang="en-US" sz="1800" dirty="0" err="1"/>
              <a:t>losetup</a:t>
            </a:r>
            <a:r>
              <a:rPr lang="en-US" sz="1800" dirty="0"/>
              <a:t> -d /dev/loop0</a:t>
            </a:r>
          </a:p>
          <a:p>
            <a:endParaRPr lang="en-US" sz="1800" dirty="0"/>
          </a:p>
        </p:txBody>
      </p:sp>
      <p:sp>
        <p:nvSpPr>
          <p:cNvPr id="9" name="Номер слайда 8"/>
          <p:cNvSpPr>
            <a:spLocks noGrp="1"/>
          </p:cNvSpPr>
          <p:nvPr>
            <p:ph type="sldNum" sz="quarter" idx="12"/>
          </p:nvPr>
        </p:nvSpPr>
        <p:spPr/>
        <p:txBody>
          <a:bodyPr/>
          <a:lstStyle/>
          <a:p>
            <a:fld id="{725C68B6-61C2-468F-89AB-4B9F7531AA68}" type="slidenum">
              <a:rPr lang="ru-RU" smtClean="0"/>
              <a:pPr/>
              <a:t>31</a:t>
            </a:fld>
            <a:r>
              <a:rPr lang="en-US" smtClean="0"/>
              <a:t> / </a:t>
            </a:r>
            <a:r>
              <a:rPr lang="ru-RU" smtClean="0"/>
              <a:t>54</a:t>
            </a:r>
            <a:endParaRPr lang="ru-RU" dirty="0"/>
          </a:p>
        </p:txBody>
      </p:sp>
    </p:spTree>
    <p:extLst>
      <p:ext uri="{BB962C8B-B14F-4D97-AF65-F5344CB8AC3E}">
        <p14:creationId xmlns:p14="http://schemas.microsoft.com/office/powerpoint/2010/main" val="331264734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Жесткие и символьные (мягкие) ссылки</a:t>
            </a:r>
            <a:endParaRPr lang="ru-RU" dirty="0"/>
          </a:p>
        </p:txBody>
      </p:sp>
      <p:sp>
        <p:nvSpPr>
          <p:cNvPr id="5" name="Прямоугольник 4"/>
          <p:cNvSpPr/>
          <p:nvPr/>
        </p:nvSpPr>
        <p:spPr>
          <a:xfrm>
            <a:off x="652164" y="1171277"/>
            <a:ext cx="6945106" cy="5355312"/>
          </a:xfrm>
          <a:prstGeom prst="rect">
            <a:avLst/>
          </a:prstGeom>
        </p:spPr>
        <p:txBody>
          <a:bodyPr wrap="none">
            <a:spAutoFit/>
          </a:bodyPr>
          <a:lstStyle/>
          <a:p>
            <a:pPr>
              <a:buClrTx/>
              <a:buFontTx/>
              <a:buNone/>
            </a:pPr>
            <a:r>
              <a:rPr lang="en-US" sz="1800" kern="1200" dirty="0">
                <a:solidFill>
                  <a:prstClr val="black"/>
                </a:solidFill>
                <a:latin typeface="Calibri"/>
                <a:ea typeface="+mn-ea"/>
                <a:cs typeface="+mn-cs"/>
              </a:rPr>
              <a:t>[</a:t>
            </a:r>
            <a:r>
              <a:rPr lang="en-US" sz="1800" kern="1200" dirty="0" err="1">
                <a:solidFill>
                  <a:prstClr val="black"/>
                </a:solidFill>
                <a:latin typeface="Calibri"/>
                <a:ea typeface="+mn-ea"/>
                <a:cs typeface="+mn-cs"/>
              </a:rPr>
              <a:t>root@gateway</a:t>
            </a:r>
            <a:r>
              <a:rPr lang="en-US" sz="1800" kern="1200" dirty="0">
                <a:solidFill>
                  <a:prstClr val="black"/>
                </a:solidFill>
                <a:latin typeface="Calibri"/>
                <a:ea typeface="+mn-ea"/>
                <a:cs typeface="+mn-cs"/>
              </a:rPr>
              <a:t> </a:t>
            </a:r>
            <a:r>
              <a:rPr lang="en-US" sz="1800" kern="1200" dirty="0" err="1">
                <a:solidFill>
                  <a:prstClr val="black"/>
                </a:solidFill>
                <a:latin typeface="Calibri"/>
                <a:ea typeface="+mn-ea"/>
                <a:cs typeface="+mn-cs"/>
              </a:rPr>
              <a:t>testme</a:t>
            </a:r>
            <a:r>
              <a:rPr lang="en-US" sz="1800" kern="1200" dirty="0" smtClean="0">
                <a:solidFill>
                  <a:prstClr val="black"/>
                </a:solidFill>
                <a:latin typeface="Calibri"/>
                <a:ea typeface="+mn-ea"/>
                <a:cs typeface="+mn-cs"/>
              </a:rPr>
              <a:t>]# </a:t>
            </a:r>
            <a:r>
              <a:rPr lang="en-US" sz="1800" kern="1200" dirty="0">
                <a:solidFill>
                  <a:prstClr val="black"/>
                </a:solidFill>
                <a:latin typeface="Calibri"/>
                <a:ea typeface="+mn-ea"/>
                <a:cs typeface="+mn-cs"/>
              </a:rPr>
              <a:t>touch </a:t>
            </a:r>
            <a:r>
              <a:rPr lang="en-US" sz="1800" kern="1200" dirty="0" smtClean="0">
                <a:solidFill>
                  <a:prstClr val="black"/>
                </a:solidFill>
                <a:latin typeface="Calibri"/>
                <a:ea typeface="+mn-ea"/>
                <a:cs typeface="+mn-cs"/>
              </a:rPr>
              <a:t>file.txt</a:t>
            </a:r>
          </a:p>
          <a:p>
            <a:pPr>
              <a:buClrTx/>
              <a:buFontTx/>
              <a:buNone/>
            </a:pPr>
            <a:r>
              <a:rPr lang="en-US" sz="1800" kern="1200" dirty="0">
                <a:solidFill>
                  <a:prstClr val="black"/>
                </a:solidFill>
                <a:latin typeface="Calibri"/>
                <a:ea typeface="+mn-ea"/>
                <a:cs typeface="+mn-cs"/>
              </a:rPr>
              <a:t>[</a:t>
            </a:r>
            <a:r>
              <a:rPr lang="en-US" sz="1800" kern="1200" dirty="0" err="1">
                <a:solidFill>
                  <a:prstClr val="black"/>
                </a:solidFill>
                <a:latin typeface="Calibri"/>
                <a:ea typeface="+mn-ea"/>
                <a:cs typeface="+mn-cs"/>
              </a:rPr>
              <a:t>root@gateway</a:t>
            </a:r>
            <a:r>
              <a:rPr lang="en-US" sz="1800" kern="1200" dirty="0">
                <a:solidFill>
                  <a:prstClr val="black"/>
                </a:solidFill>
                <a:latin typeface="Calibri"/>
                <a:ea typeface="+mn-ea"/>
                <a:cs typeface="+mn-cs"/>
              </a:rPr>
              <a:t> </a:t>
            </a:r>
            <a:r>
              <a:rPr lang="en-US" sz="1800" kern="1200" dirty="0" err="1">
                <a:solidFill>
                  <a:prstClr val="black"/>
                </a:solidFill>
                <a:latin typeface="Calibri"/>
                <a:ea typeface="+mn-ea"/>
                <a:cs typeface="+mn-cs"/>
              </a:rPr>
              <a:t>testme</a:t>
            </a:r>
            <a:r>
              <a:rPr lang="en-US" sz="1800" kern="1200" dirty="0" smtClean="0">
                <a:solidFill>
                  <a:prstClr val="black"/>
                </a:solidFill>
                <a:latin typeface="Calibri"/>
                <a:ea typeface="+mn-ea"/>
                <a:cs typeface="+mn-cs"/>
              </a:rPr>
              <a:t>]# </a:t>
            </a:r>
            <a:r>
              <a:rPr lang="en-US" sz="1800" kern="1200" dirty="0">
                <a:solidFill>
                  <a:prstClr val="black"/>
                </a:solidFill>
                <a:latin typeface="Calibri"/>
                <a:ea typeface="+mn-ea"/>
                <a:cs typeface="+mn-cs"/>
              </a:rPr>
              <a:t>ln file.txt hardlink.txt</a:t>
            </a:r>
          </a:p>
          <a:p>
            <a:pPr>
              <a:buClrTx/>
              <a:buFontTx/>
              <a:buNone/>
            </a:pPr>
            <a:r>
              <a:rPr lang="en-US" sz="1800" kern="1200" dirty="0">
                <a:solidFill>
                  <a:prstClr val="black"/>
                </a:solidFill>
                <a:latin typeface="Calibri"/>
                <a:ea typeface="+mn-ea"/>
                <a:cs typeface="+mn-cs"/>
              </a:rPr>
              <a:t>[</a:t>
            </a:r>
            <a:r>
              <a:rPr lang="en-US" sz="1800" kern="1200" dirty="0" err="1">
                <a:solidFill>
                  <a:prstClr val="black"/>
                </a:solidFill>
                <a:latin typeface="Calibri"/>
                <a:ea typeface="+mn-ea"/>
                <a:cs typeface="+mn-cs"/>
              </a:rPr>
              <a:t>root@gateway</a:t>
            </a:r>
            <a:r>
              <a:rPr lang="en-US" sz="1800" kern="1200" dirty="0">
                <a:solidFill>
                  <a:prstClr val="black"/>
                </a:solidFill>
                <a:latin typeface="Calibri"/>
                <a:ea typeface="+mn-ea"/>
                <a:cs typeface="+mn-cs"/>
              </a:rPr>
              <a:t> </a:t>
            </a:r>
            <a:r>
              <a:rPr lang="en-US" sz="1800" kern="1200" dirty="0" err="1">
                <a:solidFill>
                  <a:prstClr val="black"/>
                </a:solidFill>
                <a:latin typeface="Calibri"/>
                <a:ea typeface="+mn-ea"/>
                <a:cs typeface="+mn-cs"/>
              </a:rPr>
              <a:t>testme</a:t>
            </a:r>
            <a:r>
              <a:rPr lang="en-US" sz="1800" kern="1200" dirty="0" smtClean="0">
                <a:solidFill>
                  <a:prstClr val="black"/>
                </a:solidFill>
                <a:latin typeface="Calibri"/>
                <a:ea typeface="+mn-ea"/>
                <a:cs typeface="+mn-cs"/>
              </a:rPr>
              <a:t>]# </a:t>
            </a:r>
            <a:r>
              <a:rPr lang="en-US" sz="1800" kern="1200" dirty="0">
                <a:solidFill>
                  <a:prstClr val="black"/>
                </a:solidFill>
                <a:latin typeface="Calibri"/>
                <a:ea typeface="+mn-ea"/>
                <a:cs typeface="+mn-cs"/>
              </a:rPr>
              <a:t>ln -s file.txt softlink.txt</a:t>
            </a:r>
          </a:p>
          <a:p>
            <a:pPr>
              <a:buClrTx/>
              <a:buFontTx/>
              <a:buNone/>
            </a:pPr>
            <a:endParaRPr lang="en-US" sz="1800" kern="1200" dirty="0" smtClean="0">
              <a:solidFill>
                <a:prstClr val="black"/>
              </a:solidFill>
              <a:latin typeface="Calibri"/>
              <a:ea typeface="+mn-ea"/>
              <a:cs typeface="+mn-cs"/>
            </a:endParaRPr>
          </a:p>
          <a:p>
            <a:pPr>
              <a:buClrTx/>
              <a:buFontTx/>
              <a:buNone/>
            </a:pPr>
            <a:r>
              <a:rPr lang="en-US" sz="1800" kern="1200" dirty="0">
                <a:solidFill>
                  <a:prstClr val="black"/>
                </a:solidFill>
                <a:latin typeface="Calibri"/>
                <a:ea typeface="+mn-ea"/>
                <a:cs typeface="+mn-cs"/>
              </a:rPr>
              <a:t>[</a:t>
            </a:r>
            <a:r>
              <a:rPr lang="en-US" sz="1800" kern="1200" dirty="0" err="1">
                <a:solidFill>
                  <a:prstClr val="black"/>
                </a:solidFill>
                <a:latin typeface="Calibri"/>
                <a:ea typeface="+mn-ea"/>
                <a:cs typeface="+mn-cs"/>
              </a:rPr>
              <a:t>root@gateway</a:t>
            </a:r>
            <a:r>
              <a:rPr lang="en-US" sz="1800" kern="1200" dirty="0">
                <a:solidFill>
                  <a:prstClr val="black"/>
                </a:solidFill>
                <a:latin typeface="Calibri"/>
                <a:ea typeface="+mn-ea"/>
                <a:cs typeface="+mn-cs"/>
              </a:rPr>
              <a:t> </a:t>
            </a:r>
            <a:r>
              <a:rPr lang="en-US" sz="1800" kern="1200" dirty="0" err="1">
                <a:solidFill>
                  <a:prstClr val="black"/>
                </a:solidFill>
                <a:latin typeface="Calibri"/>
                <a:ea typeface="+mn-ea"/>
                <a:cs typeface="+mn-cs"/>
              </a:rPr>
              <a:t>testme</a:t>
            </a:r>
            <a:r>
              <a:rPr lang="en-US" sz="1800" kern="1200" dirty="0">
                <a:solidFill>
                  <a:prstClr val="black"/>
                </a:solidFill>
                <a:latin typeface="Calibri"/>
                <a:ea typeface="+mn-ea"/>
                <a:cs typeface="+mn-cs"/>
              </a:rPr>
              <a:t>]# ls -</a:t>
            </a:r>
            <a:r>
              <a:rPr lang="en-US" sz="1800" kern="1200" dirty="0" err="1">
                <a:solidFill>
                  <a:prstClr val="black"/>
                </a:solidFill>
                <a:latin typeface="Calibri"/>
                <a:ea typeface="+mn-ea"/>
                <a:cs typeface="+mn-cs"/>
              </a:rPr>
              <a:t>ali</a:t>
            </a:r>
            <a:endParaRPr lang="en-US" sz="1800" kern="1200" dirty="0">
              <a:solidFill>
                <a:prstClr val="black"/>
              </a:solidFill>
              <a:latin typeface="Calibri"/>
              <a:ea typeface="+mn-ea"/>
              <a:cs typeface="+mn-cs"/>
            </a:endParaRPr>
          </a:p>
          <a:p>
            <a:pPr>
              <a:buClrTx/>
              <a:buFontTx/>
              <a:buNone/>
            </a:pPr>
            <a:r>
              <a:rPr lang="ru-RU" sz="1800" kern="1200" dirty="0" smtClean="0">
                <a:solidFill>
                  <a:prstClr val="black"/>
                </a:solidFill>
                <a:latin typeface="Calibri"/>
                <a:ea typeface="+mn-ea"/>
                <a:cs typeface="+mn-cs"/>
              </a:rPr>
              <a:t>2752637 </a:t>
            </a:r>
            <a:r>
              <a:rPr lang="en-US" sz="1800" kern="1200" dirty="0" err="1">
                <a:solidFill>
                  <a:prstClr val="black"/>
                </a:solidFill>
                <a:latin typeface="Calibri"/>
                <a:ea typeface="+mn-ea"/>
                <a:cs typeface="+mn-cs"/>
              </a:rPr>
              <a:t>drwxr</a:t>
            </a:r>
            <a:r>
              <a:rPr lang="en-US" sz="1800" kern="1200" dirty="0">
                <a:solidFill>
                  <a:prstClr val="black"/>
                </a:solidFill>
                <a:latin typeface="Calibri"/>
                <a:ea typeface="+mn-ea"/>
                <a:cs typeface="+mn-cs"/>
              </a:rPr>
              <a:t>-</a:t>
            </a:r>
            <a:r>
              <a:rPr lang="en-US" sz="1800" kern="1200" dirty="0" err="1">
                <a:solidFill>
                  <a:prstClr val="black"/>
                </a:solidFill>
                <a:latin typeface="Calibri"/>
                <a:ea typeface="+mn-ea"/>
                <a:cs typeface="+mn-cs"/>
              </a:rPr>
              <a:t>xr</a:t>
            </a:r>
            <a:r>
              <a:rPr lang="en-US" sz="1800" kern="1200" dirty="0">
                <a:solidFill>
                  <a:prstClr val="black"/>
                </a:solidFill>
                <a:latin typeface="Calibri"/>
                <a:ea typeface="+mn-ea"/>
                <a:cs typeface="+mn-cs"/>
              </a:rPr>
              <a:t>-x   2 root </a:t>
            </a:r>
            <a:r>
              <a:rPr lang="en-US" sz="1800" kern="1200" dirty="0" err="1">
                <a:solidFill>
                  <a:prstClr val="black"/>
                </a:solidFill>
                <a:latin typeface="Calibri"/>
                <a:ea typeface="+mn-ea"/>
                <a:cs typeface="+mn-cs"/>
              </a:rPr>
              <a:t>root</a:t>
            </a:r>
            <a:r>
              <a:rPr lang="en-US" sz="1800" kern="1200" dirty="0">
                <a:solidFill>
                  <a:prstClr val="black"/>
                </a:solidFill>
                <a:latin typeface="Calibri"/>
                <a:ea typeface="+mn-ea"/>
                <a:cs typeface="+mn-cs"/>
              </a:rPr>
              <a:t> 4096 </a:t>
            </a:r>
            <a:r>
              <a:rPr lang="ru-RU" sz="1800" kern="1200" dirty="0" err="1">
                <a:solidFill>
                  <a:prstClr val="black"/>
                </a:solidFill>
                <a:latin typeface="Calibri"/>
                <a:ea typeface="+mn-ea"/>
                <a:cs typeface="+mn-cs"/>
              </a:rPr>
              <a:t>Мар</a:t>
            </a:r>
            <a:r>
              <a:rPr lang="ru-RU" sz="1800" kern="1200" dirty="0">
                <a:solidFill>
                  <a:prstClr val="black"/>
                </a:solidFill>
                <a:latin typeface="Calibri"/>
                <a:ea typeface="+mn-ea"/>
                <a:cs typeface="+mn-cs"/>
              </a:rPr>
              <a:t> </a:t>
            </a:r>
            <a:r>
              <a:rPr lang="ru-RU" sz="1800" kern="1200" dirty="0" smtClean="0">
                <a:solidFill>
                  <a:prstClr val="black"/>
                </a:solidFill>
                <a:latin typeface="Calibri"/>
                <a:ea typeface="+mn-ea"/>
                <a:cs typeface="+mn-cs"/>
              </a:rPr>
              <a:t>1</a:t>
            </a:r>
            <a:r>
              <a:rPr lang="en-US" sz="1800" kern="1200" dirty="0" smtClean="0">
                <a:solidFill>
                  <a:prstClr val="black"/>
                </a:solidFill>
                <a:latin typeface="Calibri"/>
                <a:ea typeface="+mn-ea"/>
                <a:cs typeface="+mn-cs"/>
              </a:rPr>
              <a:t>0</a:t>
            </a:r>
            <a:r>
              <a:rPr lang="ru-RU" sz="1800" kern="1200" dirty="0" smtClean="0">
                <a:solidFill>
                  <a:prstClr val="black"/>
                </a:solidFill>
                <a:latin typeface="Calibri"/>
                <a:ea typeface="+mn-ea"/>
                <a:cs typeface="+mn-cs"/>
              </a:rPr>
              <a:t> </a:t>
            </a:r>
            <a:r>
              <a:rPr lang="ru-RU" sz="1800" kern="1200" dirty="0">
                <a:solidFill>
                  <a:prstClr val="black"/>
                </a:solidFill>
                <a:latin typeface="Calibri"/>
                <a:ea typeface="+mn-ea"/>
                <a:cs typeface="+mn-cs"/>
              </a:rPr>
              <a:t>08:19 .</a:t>
            </a:r>
          </a:p>
          <a:p>
            <a:pPr>
              <a:buClrTx/>
              <a:buFontTx/>
              <a:buNone/>
            </a:pPr>
            <a:r>
              <a:rPr lang="ru-RU" sz="1800" kern="1200" dirty="0">
                <a:solidFill>
                  <a:prstClr val="black"/>
                </a:solidFill>
                <a:latin typeface="Calibri"/>
                <a:ea typeface="+mn-ea"/>
                <a:cs typeface="+mn-cs"/>
              </a:rPr>
              <a:t>2621441 </a:t>
            </a:r>
            <a:r>
              <a:rPr lang="en-US" sz="1800" kern="1200" dirty="0" err="1">
                <a:solidFill>
                  <a:prstClr val="black"/>
                </a:solidFill>
                <a:latin typeface="Calibri"/>
                <a:ea typeface="+mn-ea"/>
                <a:cs typeface="+mn-cs"/>
              </a:rPr>
              <a:t>dr</a:t>
            </a:r>
            <a:r>
              <a:rPr lang="en-US" sz="1800" kern="1200" dirty="0">
                <a:solidFill>
                  <a:prstClr val="black"/>
                </a:solidFill>
                <a:latin typeface="Calibri"/>
                <a:ea typeface="+mn-ea"/>
                <a:cs typeface="+mn-cs"/>
              </a:rPr>
              <a:t>-</a:t>
            </a:r>
            <a:r>
              <a:rPr lang="en-US" sz="1800" kern="1200" dirty="0" err="1">
                <a:solidFill>
                  <a:prstClr val="black"/>
                </a:solidFill>
                <a:latin typeface="Calibri"/>
                <a:ea typeface="+mn-ea"/>
                <a:cs typeface="+mn-cs"/>
              </a:rPr>
              <a:t>xr</a:t>
            </a:r>
            <a:r>
              <a:rPr lang="en-US" sz="1800" kern="1200" dirty="0">
                <a:solidFill>
                  <a:prstClr val="black"/>
                </a:solidFill>
                <a:latin typeface="Calibri"/>
                <a:ea typeface="+mn-ea"/>
                <a:cs typeface="+mn-cs"/>
              </a:rPr>
              <a:t>-x---+ 34 root </a:t>
            </a:r>
            <a:r>
              <a:rPr lang="en-US" sz="1800" kern="1200" dirty="0" err="1">
                <a:solidFill>
                  <a:prstClr val="black"/>
                </a:solidFill>
                <a:latin typeface="Calibri"/>
                <a:ea typeface="+mn-ea"/>
                <a:cs typeface="+mn-cs"/>
              </a:rPr>
              <a:t>root</a:t>
            </a:r>
            <a:r>
              <a:rPr lang="en-US" sz="1800" kern="1200" dirty="0">
                <a:solidFill>
                  <a:prstClr val="black"/>
                </a:solidFill>
                <a:latin typeface="Calibri"/>
                <a:ea typeface="+mn-ea"/>
                <a:cs typeface="+mn-cs"/>
              </a:rPr>
              <a:t> 4096 </a:t>
            </a:r>
            <a:r>
              <a:rPr lang="ru-RU" sz="1800" kern="1200" dirty="0" err="1">
                <a:solidFill>
                  <a:prstClr val="black"/>
                </a:solidFill>
                <a:latin typeface="Calibri"/>
                <a:ea typeface="+mn-ea"/>
                <a:cs typeface="+mn-cs"/>
              </a:rPr>
              <a:t>Мар</a:t>
            </a:r>
            <a:r>
              <a:rPr lang="ru-RU" sz="1800" kern="1200" dirty="0">
                <a:solidFill>
                  <a:prstClr val="black"/>
                </a:solidFill>
                <a:latin typeface="Calibri"/>
                <a:ea typeface="+mn-ea"/>
                <a:cs typeface="+mn-cs"/>
              </a:rPr>
              <a:t> </a:t>
            </a:r>
            <a:r>
              <a:rPr lang="ru-RU" sz="1800" kern="1200" dirty="0" smtClean="0">
                <a:solidFill>
                  <a:prstClr val="black"/>
                </a:solidFill>
                <a:latin typeface="Calibri"/>
                <a:ea typeface="+mn-ea"/>
                <a:cs typeface="+mn-cs"/>
              </a:rPr>
              <a:t>1</a:t>
            </a:r>
            <a:r>
              <a:rPr lang="en-US" sz="1800" kern="1200" dirty="0">
                <a:solidFill>
                  <a:prstClr val="black"/>
                </a:solidFill>
                <a:latin typeface="Calibri"/>
                <a:ea typeface="+mn-ea"/>
                <a:cs typeface="+mn-cs"/>
              </a:rPr>
              <a:t>0</a:t>
            </a:r>
            <a:r>
              <a:rPr lang="ru-RU" sz="1800" kern="1200" dirty="0" smtClean="0">
                <a:solidFill>
                  <a:prstClr val="black"/>
                </a:solidFill>
                <a:latin typeface="Calibri"/>
                <a:ea typeface="+mn-ea"/>
                <a:cs typeface="+mn-cs"/>
              </a:rPr>
              <a:t> </a:t>
            </a:r>
            <a:r>
              <a:rPr lang="ru-RU" sz="1800" kern="1200" dirty="0">
                <a:solidFill>
                  <a:prstClr val="black"/>
                </a:solidFill>
                <a:latin typeface="Calibri"/>
                <a:ea typeface="+mn-ea"/>
                <a:cs typeface="+mn-cs"/>
              </a:rPr>
              <a:t>08:16 ..</a:t>
            </a:r>
          </a:p>
          <a:p>
            <a:pPr>
              <a:buClrTx/>
              <a:buFontTx/>
              <a:buNone/>
            </a:pPr>
            <a:r>
              <a:rPr lang="ru-RU" sz="1800" kern="1200" dirty="0">
                <a:solidFill>
                  <a:prstClr val="black"/>
                </a:solidFill>
                <a:latin typeface="Calibri"/>
                <a:ea typeface="+mn-ea"/>
                <a:cs typeface="+mn-cs"/>
              </a:rPr>
              <a:t>2621574 -</a:t>
            </a:r>
            <a:r>
              <a:rPr lang="en-US" sz="1800" kern="1200" dirty="0" err="1">
                <a:solidFill>
                  <a:prstClr val="black"/>
                </a:solidFill>
                <a:latin typeface="Calibri"/>
                <a:ea typeface="+mn-ea"/>
                <a:cs typeface="+mn-cs"/>
              </a:rPr>
              <a:t>rw</a:t>
            </a:r>
            <a:r>
              <a:rPr lang="en-US" sz="1800" kern="1200" dirty="0">
                <a:solidFill>
                  <a:prstClr val="black"/>
                </a:solidFill>
                <a:latin typeface="Calibri"/>
                <a:ea typeface="+mn-ea"/>
                <a:cs typeface="+mn-cs"/>
              </a:rPr>
              <a:t>-r--r--   2 root </a:t>
            </a:r>
            <a:r>
              <a:rPr lang="en-US" sz="1800" kern="1200" dirty="0" err="1">
                <a:solidFill>
                  <a:prstClr val="black"/>
                </a:solidFill>
                <a:latin typeface="Calibri"/>
                <a:ea typeface="+mn-ea"/>
                <a:cs typeface="+mn-cs"/>
              </a:rPr>
              <a:t>root</a:t>
            </a:r>
            <a:r>
              <a:rPr lang="en-US" sz="1800" kern="1200" dirty="0">
                <a:solidFill>
                  <a:prstClr val="black"/>
                </a:solidFill>
                <a:latin typeface="Calibri"/>
                <a:ea typeface="+mn-ea"/>
                <a:cs typeface="+mn-cs"/>
              </a:rPr>
              <a:t>    1 </a:t>
            </a:r>
            <a:r>
              <a:rPr lang="ru-RU" sz="1800" kern="1200" dirty="0" err="1">
                <a:solidFill>
                  <a:prstClr val="black"/>
                </a:solidFill>
                <a:latin typeface="Calibri"/>
                <a:ea typeface="+mn-ea"/>
                <a:cs typeface="+mn-cs"/>
              </a:rPr>
              <a:t>Мар</a:t>
            </a:r>
            <a:r>
              <a:rPr lang="ru-RU" sz="1800" kern="1200" dirty="0">
                <a:solidFill>
                  <a:prstClr val="black"/>
                </a:solidFill>
                <a:latin typeface="Calibri"/>
                <a:ea typeface="+mn-ea"/>
                <a:cs typeface="+mn-cs"/>
              </a:rPr>
              <a:t> </a:t>
            </a:r>
            <a:r>
              <a:rPr lang="ru-RU" sz="1800" kern="1200" dirty="0" smtClean="0">
                <a:solidFill>
                  <a:prstClr val="black"/>
                </a:solidFill>
                <a:latin typeface="Calibri"/>
                <a:ea typeface="+mn-ea"/>
                <a:cs typeface="+mn-cs"/>
              </a:rPr>
              <a:t>1</a:t>
            </a:r>
            <a:r>
              <a:rPr lang="en-US" sz="1800" kern="1200" dirty="0" smtClean="0">
                <a:solidFill>
                  <a:prstClr val="black"/>
                </a:solidFill>
                <a:latin typeface="Calibri"/>
                <a:ea typeface="+mn-ea"/>
                <a:cs typeface="+mn-cs"/>
              </a:rPr>
              <a:t>0</a:t>
            </a:r>
            <a:r>
              <a:rPr lang="ru-RU" sz="1800" kern="1200" dirty="0" smtClean="0">
                <a:solidFill>
                  <a:prstClr val="black"/>
                </a:solidFill>
                <a:latin typeface="Calibri"/>
                <a:ea typeface="+mn-ea"/>
                <a:cs typeface="+mn-cs"/>
              </a:rPr>
              <a:t> </a:t>
            </a:r>
            <a:r>
              <a:rPr lang="ru-RU" sz="1800" kern="1200" dirty="0">
                <a:solidFill>
                  <a:prstClr val="black"/>
                </a:solidFill>
                <a:latin typeface="Calibri"/>
                <a:ea typeface="+mn-ea"/>
                <a:cs typeface="+mn-cs"/>
              </a:rPr>
              <a:t>08:19 </a:t>
            </a:r>
            <a:r>
              <a:rPr lang="en-US" sz="1800" kern="1200" dirty="0">
                <a:solidFill>
                  <a:prstClr val="black"/>
                </a:solidFill>
                <a:latin typeface="Calibri"/>
                <a:ea typeface="+mn-ea"/>
                <a:cs typeface="+mn-cs"/>
              </a:rPr>
              <a:t>file.txt</a:t>
            </a:r>
          </a:p>
          <a:p>
            <a:pPr>
              <a:buClrTx/>
              <a:buFontTx/>
              <a:buNone/>
            </a:pPr>
            <a:r>
              <a:rPr lang="en-US" sz="1800" kern="1200" dirty="0">
                <a:solidFill>
                  <a:prstClr val="black"/>
                </a:solidFill>
                <a:latin typeface="Calibri"/>
                <a:ea typeface="+mn-ea"/>
                <a:cs typeface="+mn-cs"/>
              </a:rPr>
              <a:t>2621574 -</a:t>
            </a:r>
            <a:r>
              <a:rPr lang="en-US" sz="1800" kern="1200" dirty="0" err="1">
                <a:solidFill>
                  <a:prstClr val="black"/>
                </a:solidFill>
                <a:latin typeface="Calibri"/>
                <a:ea typeface="+mn-ea"/>
                <a:cs typeface="+mn-cs"/>
              </a:rPr>
              <a:t>rw</a:t>
            </a:r>
            <a:r>
              <a:rPr lang="en-US" sz="1800" kern="1200" dirty="0">
                <a:solidFill>
                  <a:prstClr val="black"/>
                </a:solidFill>
                <a:latin typeface="Calibri"/>
                <a:ea typeface="+mn-ea"/>
                <a:cs typeface="+mn-cs"/>
              </a:rPr>
              <a:t>-r--r--   2 root </a:t>
            </a:r>
            <a:r>
              <a:rPr lang="en-US" sz="1800" kern="1200" dirty="0" err="1">
                <a:solidFill>
                  <a:prstClr val="black"/>
                </a:solidFill>
                <a:latin typeface="Calibri"/>
                <a:ea typeface="+mn-ea"/>
                <a:cs typeface="+mn-cs"/>
              </a:rPr>
              <a:t>root</a:t>
            </a:r>
            <a:r>
              <a:rPr lang="en-US" sz="1800" kern="1200" dirty="0">
                <a:solidFill>
                  <a:prstClr val="black"/>
                </a:solidFill>
                <a:latin typeface="Calibri"/>
                <a:ea typeface="+mn-ea"/>
                <a:cs typeface="+mn-cs"/>
              </a:rPr>
              <a:t>    1 </a:t>
            </a:r>
            <a:r>
              <a:rPr lang="ru-RU" sz="1800" kern="1200" dirty="0" err="1">
                <a:solidFill>
                  <a:prstClr val="black"/>
                </a:solidFill>
                <a:latin typeface="Calibri"/>
                <a:ea typeface="+mn-ea"/>
                <a:cs typeface="+mn-cs"/>
              </a:rPr>
              <a:t>Мар</a:t>
            </a:r>
            <a:r>
              <a:rPr lang="ru-RU" sz="1800" kern="1200" dirty="0">
                <a:solidFill>
                  <a:prstClr val="black"/>
                </a:solidFill>
                <a:latin typeface="Calibri"/>
                <a:ea typeface="+mn-ea"/>
                <a:cs typeface="+mn-cs"/>
              </a:rPr>
              <a:t> </a:t>
            </a:r>
            <a:r>
              <a:rPr lang="ru-RU" sz="1800" kern="1200" dirty="0" smtClean="0">
                <a:solidFill>
                  <a:prstClr val="black"/>
                </a:solidFill>
                <a:latin typeface="Calibri"/>
                <a:ea typeface="+mn-ea"/>
                <a:cs typeface="+mn-cs"/>
              </a:rPr>
              <a:t>1</a:t>
            </a:r>
            <a:r>
              <a:rPr lang="en-US" sz="1800" kern="1200" dirty="0">
                <a:solidFill>
                  <a:prstClr val="black"/>
                </a:solidFill>
                <a:latin typeface="Calibri"/>
                <a:ea typeface="+mn-ea"/>
                <a:cs typeface="+mn-cs"/>
              </a:rPr>
              <a:t>0</a:t>
            </a:r>
            <a:r>
              <a:rPr lang="ru-RU" sz="1800" kern="1200" dirty="0" smtClean="0">
                <a:solidFill>
                  <a:prstClr val="black"/>
                </a:solidFill>
                <a:latin typeface="Calibri"/>
                <a:ea typeface="+mn-ea"/>
                <a:cs typeface="+mn-cs"/>
              </a:rPr>
              <a:t> </a:t>
            </a:r>
            <a:r>
              <a:rPr lang="ru-RU" sz="1800" kern="1200" dirty="0">
                <a:solidFill>
                  <a:prstClr val="black"/>
                </a:solidFill>
                <a:latin typeface="Calibri"/>
                <a:ea typeface="+mn-ea"/>
                <a:cs typeface="+mn-cs"/>
              </a:rPr>
              <a:t>08:19 </a:t>
            </a:r>
            <a:r>
              <a:rPr lang="en-US" sz="1800" kern="1200" dirty="0">
                <a:solidFill>
                  <a:prstClr val="black"/>
                </a:solidFill>
                <a:latin typeface="Calibri"/>
                <a:ea typeface="+mn-ea"/>
                <a:cs typeface="+mn-cs"/>
              </a:rPr>
              <a:t>hardlink.txt</a:t>
            </a:r>
          </a:p>
          <a:p>
            <a:pPr>
              <a:buClrTx/>
              <a:buFontTx/>
              <a:buNone/>
            </a:pPr>
            <a:r>
              <a:rPr lang="en-US" sz="1800" kern="1200" dirty="0">
                <a:solidFill>
                  <a:prstClr val="black"/>
                </a:solidFill>
                <a:latin typeface="Calibri"/>
                <a:ea typeface="+mn-ea"/>
                <a:cs typeface="+mn-cs"/>
              </a:rPr>
              <a:t>2621609 </a:t>
            </a:r>
            <a:r>
              <a:rPr lang="en-US" sz="1800" kern="1200" dirty="0" err="1">
                <a:solidFill>
                  <a:prstClr val="black"/>
                </a:solidFill>
                <a:latin typeface="Calibri"/>
                <a:ea typeface="+mn-ea"/>
                <a:cs typeface="+mn-cs"/>
              </a:rPr>
              <a:t>lrwxrwxrwx</a:t>
            </a:r>
            <a:r>
              <a:rPr lang="en-US" sz="1800" kern="1200" dirty="0">
                <a:solidFill>
                  <a:prstClr val="black"/>
                </a:solidFill>
                <a:latin typeface="Calibri"/>
                <a:ea typeface="+mn-ea"/>
                <a:cs typeface="+mn-cs"/>
              </a:rPr>
              <a:t>   1 root </a:t>
            </a:r>
            <a:r>
              <a:rPr lang="en-US" sz="1800" kern="1200" dirty="0" err="1">
                <a:solidFill>
                  <a:prstClr val="black"/>
                </a:solidFill>
                <a:latin typeface="Calibri"/>
                <a:ea typeface="+mn-ea"/>
                <a:cs typeface="+mn-cs"/>
              </a:rPr>
              <a:t>root</a:t>
            </a:r>
            <a:r>
              <a:rPr lang="en-US" sz="1800" kern="1200" dirty="0">
                <a:solidFill>
                  <a:prstClr val="black"/>
                </a:solidFill>
                <a:latin typeface="Calibri"/>
                <a:ea typeface="+mn-ea"/>
                <a:cs typeface="+mn-cs"/>
              </a:rPr>
              <a:t>    8 </a:t>
            </a:r>
            <a:r>
              <a:rPr lang="ru-RU" sz="1800" kern="1200" dirty="0" err="1">
                <a:solidFill>
                  <a:prstClr val="black"/>
                </a:solidFill>
                <a:latin typeface="Calibri"/>
                <a:ea typeface="+mn-ea"/>
                <a:cs typeface="+mn-cs"/>
              </a:rPr>
              <a:t>Мар</a:t>
            </a:r>
            <a:r>
              <a:rPr lang="ru-RU" sz="1800" kern="1200" dirty="0">
                <a:solidFill>
                  <a:prstClr val="black"/>
                </a:solidFill>
                <a:latin typeface="Calibri"/>
                <a:ea typeface="+mn-ea"/>
                <a:cs typeface="+mn-cs"/>
              </a:rPr>
              <a:t> </a:t>
            </a:r>
            <a:r>
              <a:rPr lang="ru-RU" sz="1800" kern="1200" dirty="0" smtClean="0">
                <a:solidFill>
                  <a:prstClr val="black"/>
                </a:solidFill>
                <a:latin typeface="Calibri"/>
                <a:ea typeface="+mn-ea"/>
                <a:cs typeface="+mn-cs"/>
              </a:rPr>
              <a:t>1</a:t>
            </a:r>
            <a:r>
              <a:rPr lang="en-US" sz="1800" kern="1200" dirty="0" smtClean="0">
                <a:solidFill>
                  <a:prstClr val="black"/>
                </a:solidFill>
                <a:latin typeface="Calibri"/>
                <a:ea typeface="+mn-ea"/>
                <a:cs typeface="+mn-cs"/>
              </a:rPr>
              <a:t>0</a:t>
            </a:r>
            <a:r>
              <a:rPr lang="ru-RU" sz="1800" kern="1200" dirty="0" smtClean="0">
                <a:solidFill>
                  <a:prstClr val="black"/>
                </a:solidFill>
                <a:latin typeface="Calibri"/>
                <a:ea typeface="+mn-ea"/>
                <a:cs typeface="+mn-cs"/>
              </a:rPr>
              <a:t> </a:t>
            </a:r>
            <a:r>
              <a:rPr lang="ru-RU" sz="1800" kern="1200" dirty="0">
                <a:solidFill>
                  <a:prstClr val="black"/>
                </a:solidFill>
                <a:latin typeface="Calibri"/>
                <a:ea typeface="+mn-ea"/>
                <a:cs typeface="+mn-cs"/>
              </a:rPr>
              <a:t>08:01 </a:t>
            </a:r>
            <a:r>
              <a:rPr lang="en-US" sz="1800" kern="1200" dirty="0">
                <a:solidFill>
                  <a:prstClr val="black"/>
                </a:solidFill>
                <a:latin typeface="Calibri"/>
                <a:ea typeface="+mn-ea"/>
                <a:cs typeface="+mn-cs"/>
              </a:rPr>
              <a:t>softlink.txt -&gt; </a:t>
            </a:r>
            <a:r>
              <a:rPr lang="en-US" sz="1800" kern="1200" dirty="0" smtClean="0">
                <a:solidFill>
                  <a:prstClr val="black"/>
                </a:solidFill>
                <a:latin typeface="Calibri"/>
                <a:ea typeface="+mn-ea"/>
                <a:cs typeface="+mn-cs"/>
              </a:rPr>
              <a:t>file.txt</a:t>
            </a:r>
            <a:endParaRPr lang="ru-RU" sz="1800" kern="1200" dirty="0" smtClean="0">
              <a:solidFill>
                <a:prstClr val="black"/>
              </a:solidFill>
              <a:latin typeface="Calibri"/>
              <a:ea typeface="+mn-ea"/>
              <a:cs typeface="+mn-cs"/>
            </a:endParaRPr>
          </a:p>
          <a:p>
            <a:pPr>
              <a:buClrTx/>
              <a:buFontTx/>
              <a:buNone/>
            </a:pPr>
            <a:endParaRPr lang="ru-RU" sz="1800" kern="1200" dirty="0">
              <a:solidFill>
                <a:prstClr val="black"/>
              </a:solidFill>
              <a:latin typeface="Calibri"/>
              <a:ea typeface="+mn-ea"/>
              <a:cs typeface="+mn-cs"/>
            </a:endParaRPr>
          </a:p>
          <a:p>
            <a:pPr>
              <a:buClrTx/>
              <a:buFontTx/>
              <a:buNone/>
            </a:pPr>
            <a:r>
              <a:rPr lang="en-US" sz="1800" kern="1200" dirty="0">
                <a:solidFill>
                  <a:prstClr val="black"/>
                </a:solidFill>
                <a:latin typeface="Calibri"/>
                <a:ea typeface="+mn-ea"/>
                <a:cs typeface="+mn-cs"/>
              </a:rPr>
              <a:t>[</a:t>
            </a:r>
            <a:r>
              <a:rPr lang="en-US" sz="1800" kern="1200" dirty="0" err="1">
                <a:solidFill>
                  <a:prstClr val="black"/>
                </a:solidFill>
                <a:latin typeface="Calibri"/>
                <a:ea typeface="+mn-ea"/>
                <a:cs typeface="+mn-cs"/>
              </a:rPr>
              <a:t>root@gateway</a:t>
            </a:r>
            <a:r>
              <a:rPr lang="en-US" sz="1800" kern="1200" dirty="0">
                <a:solidFill>
                  <a:prstClr val="black"/>
                </a:solidFill>
                <a:latin typeface="Calibri"/>
                <a:ea typeface="+mn-ea"/>
                <a:cs typeface="+mn-cs"/>
              </a:rPr>
              <a:t> </a:t>
            </a:r>
            <a:r>
              <a:rPr lang="en-US" sz="1800" kern="1200" dirty="0" err="1">
                <a:solidFill>
                  <a:prstClr val="black"/>
                </a:solidFill>
                <a:latin typeface="Calibri"/>
                <a:ea typeface="+mn-ea"/>
                <a:cs typeface="+mn-cs"/>
              </a:rPr>
              <a:t>testme</a:t>
            </a:r>
            <a:r>
              <a:rPr lang="en-US" sz="1800" kern="1200" dirty="0">
                <a:solidFill>
                  <a:prstClr val="black"/>
                </a:solidFill>
                <a:latin typeface="Calibri"/>
                <a:ea typeface="+mn-ea"/>
                <a:cs typeface="+mn-cs"/>
              </a:rPr>
              <a:t>]# echo "content" &gt;file.txt</a:t>
            </a:r>
          </a:p>
          <a:p>
            <a:pPr>
              <a:buClrTx/>
              <a:buFontTx/>
              <a:buNone/>
            </a:pPr>
            <a:endParaRPr lang="ru-RU" sz="1800" kern="1200" dirty="0" smtClean="0">
              <a:solidFill>
                <a:prstClr val="black"/>
              </a:solidFill>
              <a:latin typeface="Calibri"/>
              <a:ea typeface="+mn-ea"/>
              <a:cs typeface="+mn-cs"/>
            </a:endParaRPr>
          </a:p>
          <a:p>
            <a:pPr>
              <a:buClrTx/>
              <a:buFontTx/>
              <a:buNone/>
            </a:pPr>
            <a:r>
              <a:rPr lang="en-US" sz="1800" kern="1200" dirty="0" smtClean="0">
                <a:solidFill>
                  <a:prstClr val="black"/>
                </a:solidFill>
                <a:latin typeface="Calibri"/>
                <a:ea typeface="+mn-ea"/>
                <a:cs typeface="+mn-cs"/>
              </a:rPr>
              <a:t>[</a:t>
            </a:r>
            <a:r>
              <a:rPr lang="en-US" sz="1800" kern="1200" dirty="0" err="1">
                <a:solidFill>
                  <a:prstClr val="black"/>
                </a:solidFill>
                <a:latin typeface="Calibri"/>
                <a:ea typeface="+mn-ea"/>
                <a:cs typeface="+mn-cs"/>
              </a:rPr>
              <a:t>root@gateway</a:t>
            </a:r>
            <a:r>
              <a:rPr lang="en-US" sz="1800" kern="1200" dirty="0">
                <a:solidFill>
                  <a:prstClr val="black"/>
                </a:solidFill>
                <a:latin typeface="Calibri"/>
                <a:ea typeface="+mn-ea"/>
                <a:cs typeface="+mn-cs"/>
              </a:rPr>
              <a:t> </a:t>
            </a:r>
            <a:r>
              <a:rPr lang="en-US" sz="1800" kern="1200" dirty="0" err="1">
                <a:solidFill>
                  <a:prstClr val="black"/>
                </a:solidFill>
                <a:latin typeface="Calibri"/>
                <a:ea typeface="+mn-ea"/>
                <a:cs typeface="+mn-cs"/>
              </a:rPr>
              <a:t>testme</a:t>
            </a:r>
            <a:r>
              <a:rPr lang="en-US" sz="1800" kern="1200" dirty="0">
                <a:solidFill>
                  <a:prstClr val="black"/>
                </a:solidFill>
                <a:latin typeface="Calibri"/>
                <a:ea typeface="+mn-ea"/>
                <a:cs typeface="+mn-cs"/>
              </a:rPr>
              <a:t>]# cat file.txt</a:t>
            </a:r>
          </a:p>
          <a:p>
            <a:pPr>
              <a:buClrTx/>
              <a:buFontTx/>
              <a:buNone/>
            </a:pPr>
            <a:r>
              <a:rPr lang="en-US" sz="1800" kern="1200" dirty="0">
                <a:solidFill>
                  <a:prstClr val="black"/>
                </a:solidFill>
                <a:latin typeface="Calibri"/>
                <a:ea typeface="+mn-ea"/>
                <a:cs typeface="+mn-cs"/>
              </a:rPr>
              <a:t>content</a:t>
            </a:r>
          </a:p>
          <a:p>
            <a:pPr>
              <a:buClrTx/>
              <a:buFontTx/>
              <a:buNone/>
            </a:pPr>
            <a:r>
              <a:rPr lang="en-US" sz="1800" kern="1200" dirty="0">
                <a:solidFill>
                  <a:prstClr val="black"/>
                </a:solidFill>
                <a:latin typeface="Calibri"/>
                <a:ea typeface="+mn-ea"/>
                <a:cs typeface="+mn-cs"/>
              </a:rPr>
              <a:t>[</a:t>
            </a:r>
            <a:r>
              <a:rPr lang="en-US" sz="1800" kern="1200" dirty="0" err="1">
                <a:solidFill>
                  <a:prstClr val="black"/>
                </a:solidFill>
                <a:latin typeface="Calibri"/>
                <a:ea typeface="+mn-ea"/>
                <a:cs typeface="+mn-cs"/>
              </a:rPr>
              <a:t>root@gateway</a:t>
            </a:r>
            <a:r>
              <a:rPr lang="en-US" sz="1800" kern="1200" dirty="0">
                <a:solidFill>
                  <a:prstClr val="black"/>
                </a:solidFill>
                <a:latin typeface="Calibri"/>
                <a:ea typeface="+mn-ea"/>
                <a:cs typeface="+mn-cs"/>
              </a:rPr>
              <a:t> </a:t>
            </a:r>
            <a:r>
              <a:rPr lang="en-US" sz="1800" kern="1200" dirty="0" err="1">
                <a:solidFill>
                  <a:prstClr val="black"/>
                </a:solidFill>
                <a:latin typeface="Calibri"/>
                <a:ea typeface="+mn-ea"/>
                <a:cs typeface="+mn-cs"/>
              </a:rPr>
              <a:t>testme</a:t>
            </a:r>
            <a:r>
              <a:rPr lang="en-US" sz="1800" kern="1200" dirty="0">
                <a:solidFill>
                  <a:prstClr val="black"/>
                </a:solidFill>
                <a:latin typeface="Calibri"/>
                <a:ea typeface="+mn-ea"/>
                <a:cs typeface="+mn-cs"/>
              </a:rPr>
              <a:t>]# cat hardlink.txt</a:t>
            </a:r>
          </a:p>
          <a:p>
            <a:pPr>
              <a:buClrTx/>
              <a:buFontTx/>
              <a:buNone/>
            </a:pPr>
            <a:r>
              <a:rPr lang="en-US" sz="1800" kern="1200" dirty="0">
                <a:solidFill>
                  <a:prstClr val="black"/>
                </a:solidFill>
                <a:latin typeface="Calibri"/>
                <a:ea typeface="+mn-ea"/>
                <a:cs typeface="+mn-cs"/>
              </a:rPr>
              <a:t>content</a:t>
            </a:r>
          </a:p>
          <a:p>
            <a:pPr>
              <a:buClrTx/>
              <a:buFontTx/>
              <a:buNone/>
            </a:pPr>
            <a:r>
              <a:rPr lang="en-US" sz="1800" kern="1200" dirty="0">
                <a:solidFill>
                  <a:prstClr val="black"/>
                </a:solidFill>
                <a:latin typeface="Calibri"/>
                <a:ea typeface="+mn-ea"/>
                <a:cs typeface="+mn-cs"/>
              </a:rPr>
              <a:t>[</a:t>
            </a:r>
            <a:r>
              <a:rPr lang="en-US" sz="1800" kern="1200" dirty="0" err="1">
                <a:solidFill>
                  <a:prstClr val="black"/>
                </a:solidFill>
                <a:latin typeface="Calibri"/>
                <a:ea typeface="+mn-ea"/>
                <a:cs typeface="+mn-cs"/>
              </a:rPr>
              <a:t>root@gateway</a:t>
            </a:r>
            <a:r>
              <a:rPr lang="en-US" sz="1800" kern="1200" dirty="0">
                <a:solidFill>
                  <a:prstClr val="black"/>
                </a:solidFill>
                <a:latin typeface="Calibri"/>
                <a:ea typeface="+mn-ea"/>
                <a:cs typeface="+mn-cs"/>
              </a:rPr>
              <a:t> </a:t>
            </a:r>
            <a:r>
              <a:rPr lang="en-US" sz="1800" kern="1200" dirty="0" err="1">
                <a:solidFill>
                  <a:prstClr val="black"/>
                </a:solidFill>
                <a:latin typeface="Calibri"/>
                <a:ea typeface="+mn-ea"/>
                <a:cs typeface="+mn-cs"/>
              </a:rPr>
              <a:t>testme</a:t>
            </a:r>
            <a:r>
              <a:rPr lang="en-US" sz="1800" kern="1200" dirty="0">
                <a:solidFill>
                  <a:prstClr val="black"/>
                </a:solidFill>
                <a:latin typeface="Calibri"/>
                <a:ea typeface="+mn-ea"/>
                <a:cs typeface="+mn-cs"/>
              </a:rPr>
              <a:t>]# cat softlink.txt</a:t>
            </a:r>
          </a:p>
          <a:p>
            <a:pPr>
              <a:buClrTx/>
              <a:buFontTx/>
              <a:buNone/>
            </a:pPr>
            <a:r>
              <a:rPr lang="en-US" sz="1800" kern="1200" dirty="0">
                <a:solidFill>
                  <a:prstClr val="black"/>
                </a:solidFill>
                <a:latin typeface="Calibri"/>
                <a:ea typeface="+mn-ea"/>
                <a:cs typeface="+mn-cs"/>
              </a:rPr>
              <a:t>content</a:t>
            </a:r>
          </a:p>
        </p:txBody>
      </p:sp>
      <p:sp>
        <p:nvSpPr>
          <p:cNvPr id="7" name="Номер слайда 6"/>
          <p:cNvSpPr>
            <a:spLocks noGrp="1"/>
          </p:cNvSpPr>
          <p:nvPr>
            <p:ph type="sldNum" sz="quarter" idx="12"/>
          </p:nvPr>
        </p:nvSpPr>
        <p:spPr/>
        <p:txBody>
          <a:bodyPr/>
          <a:lstStyle/>
          <a:p>
            <a:fld id="{725C68B6-61C2-468F-89AB-4B9F7531AA68}" type="slidenum">
              <a:rPr lang="ru-RU" smtClean="0"/>
              <a:pPr/>
              <a:t>32</a:t>
            </a:fld>
            <a:r>
              <a:rPr lang="en-US" smtClean="0"/>
              <a:t> / </a:t>
            </a:r>
            <a:r>
              <a:rPr lang="ru-RU" smtClean="0"/>
              <a:t>54</a:t>
            </a:r>
            <a:endParaRPr lang="ru-RU" dirty="0"/>
          </a:p>
        </p:txBody>
      </p:sp>
    </p:spTree>
    <p:extLst>
      <p:ext uri="{BB962C8B-B14F-4D97-AF65-F5344CB8AC3E}">
        <p14:creationId xmlns:p14="http://schemas.microsoft.com/office/powerpoint/2010/main" val="240723054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en-US" dirty="0" err="1" smtClean="0"/>
              <a:t>inode</a:t>
            </a:r>
            <a:r>
              <a:rPr lang="en-US" dirty="0" smtClean="0"/>
              <a:t> </a:t>
            </a:r>
            <a:r>
              <a:rPr lang="ru-RU" dirty="0" smtClean="0"/>
              <a:t>жесткой ссылки</a:t>
            </a:r>
            <a:endParaRPr lang="ru-RU" dirty="0"/>
          </a:p>
        </p:txBody>
      </p:sp>
      <p:sp>
        <p:nvSpPr>
          <p:cNvPr id="5" name="Прямоугольник 4"/>
          <p:cNvSpPr/>
          <p:nvPr/>
        </p:nvSpPr>
        <p:spPr>
          <a:xfrm>
            <a:off x="676406" y="1035568"/>
            <a:ext cx="11198267" cy="5078313"/>
          </a:xfrm>
          <a:prstGeom prst="rect">
            <a:avLst/>
          </a:prstGeom>
        </p:spPr>
        <p:txBody>
          <a:bodyPr wrap="square">
            <a:spAutoFit/>
          </a:bodyPr>
          <a:lstStyle/>
          <a:p>
            <a:pPr>
              <a:buClrTx/>
              <a:buFontTx/>
              <a:buNone/>
            </a:pPr>
            <a:r>
              <a:rPr lang="en-US" sz="1800" kern="1200" dirty="0">
                <a:solidFill>
                  <a:prstClr val="black"/>
                </a:solidFill>
                <a:latin typeface="Calibri"/>
                <a:ea typeface="+mn-ea"/>
                <a:cs typeface="+mn-cs"/>
              </a:rPr>
              <a:t>[</a:t>
            </a:r>
            <a:r>
              <a:rPr lang="en-US" sz="1800" kern="1200" dirty="0" err="1">
                <a:solidFill>
                  <a:prstClr val="black"/>
                </a:solidFill>
                <a:latin typeface="Calibri"/>
                <a:ea typeface="+mn-ea"/>
                <a:cs typeface="+mn-cs"/>
              </a:rPr>
              <a:t>root@gateway</a:t>
            </a:r>
            <a:r>
              <a:rPr lang="en-US" sz="1800" kern="1200" dirty="0">
                <a:solidFill>
                  <a:prstClr val="black"/>
                </a:solidFill>
                <a:latin typeface="Calibri"/>
                <a:ea typeface="+mn-ea"/>
                <a:cs typeface="+mn-cs"/>
              </a:rPr>
              <a:t> </a:t>
            </a:r>
            <a:r>
              <a:rPr lang="en-US" sz="1800" kern="1200" dirty="0" err="1">
                <a:solidFill>
                  <a:prstClr val="black"/>
                </a:solidFill>
                <a:latin typeface="Calibri"/>
                <a:ea typeface="+mn-ea"/>
                <a:cs typeface="+mn-cs"/>
              </a:rPr>
              <a:t>testme</a:t>
            </a:r>
            <a:r>
              <a:rPr lang="en-US" sz="1800" kern="1200" dirty="0">
                <a:solidFill>
                  <a:prstClr val="black"/>
                </a:solidFill>
                <a:latin typeface="Calibri"/>
                <a:ea typeface="+mn-ea"/>
                <a:cs typeface="+mn-cs"/>
              </a:rPr>
              <a:t>]# stat file.txt</a:t>
            </a:r>
          </a:p>
          <a:p>
            <a:pPr>
              <a:buClrTx/>
              <a:buFontTx/>
              <a:buNone/>
            </a:pPr>
            <a:r>
              <a:rPr lang="en-US" sz="1800" kern="1200" dirty="0">
                <a:solidFill>
                  <a:prstClr val="black"/>
                </a:solidFill>
                <a:latin typeface="Calibri"/>
                <a:ea typeface="+mn-ea"/>
                <a:cs typeface="+mn-cs"/>
              </a:rPr>
              <a:t>  File: «file.txt»</a:t>
            </a:r>
          </a:p>
          <a:p>
            <a:pPr>
              <a:buClrTx/>
              <a:buFontTx/>
              <a:buNone/>
            </a:pPr>
            <a:r>
              <a:rPr lang="en-US" sz="1800" kern="1200" dirty="0">
                <a:solidFill>
                  <a:prstClr val="black"/>
                </a:solidFill>
                <a:latin typeface="Calibri"/>
                <a:ea typeface="+mn-ea"/>
                <a:cs typeface="+mn-cs"/>
              </a:rPr>
              <a:t>  Size: 8               Blocks: 8          IO Block: 4096   </a:t>
            </a:r>
            <a:r>
              <a:rPr lang="ru-RU" sz="1800" kern="1200" dirty="0">
                <a:solidFill>
                  <a:prstClr val="black"/>
                </a:solidFill>
                <a:latin typeface="Calibri"/>
                <a:ea typeface="+mn-ea"/>
                <a:cs typeface="+mn-cs"/>
              </a:rPr>
              <a:t>обычный файл</a:t>
            </a:r>
          </a:p>
          <a:p>
            <a:pPr>
              <a:buClrTx/>
              <a:buFontTx/>
              <a:buNone/>
            </a:pPr>
            <a:r>
              <a:rPr lang="en-US" sz="1800" kern="1200" dirty="0">
                <a:solidFill>
                  <a:prstClr val="black"/>
                </a:solidFill>
                <a:latin typeface="Calibri"/>
                <a:ea typeface="+mn-ea"/>
                <a:cs typeface="+mn-cs"/>
              </a:rPr>
              <a:t>Device: fd00h/64768d    </a:t>
            </a:r>
            <a:r>
              <a:rPr lang="en-US" sz="1800" kern="1200" dirty="0" err="1">
                <a:solidFill>
                  <a:prstClr val="black"/>
                </a:solidFill>
                <a:latin typeface="Calibri"/>
                <a:ea typeface="+mn-ea"/>
                <a:cs typeface="+mn-cs"/>
              </a:rPr>
              <a:t>Inode</a:t>
            </a:r>
            <a:r>
              <a:rPr lang="en-US" sz="1800" kern="1200" dirty="0">
                <a:solidFill>
                  <a:prstClr val="black"/>
                </a:solidFill>
                <a:latin typeface="Calibri"/>
                <a:ea typeface="+mn-ea"/>
                <a:cs typeface="+mn-cs"/>
              </a:rPr>
              <a:t>: </a:t>
            </a:r>
            <a:r>
              <a:rPr lang="en-US" sz="1800" kern="1200" dirty="0">
                <a:solidFill>
                  <a:srgbClr val="FF0000"/>
                </a:solidFill>
                <a:latin typeface="Calibri"/>
                <a:ea typeface="+mn-ea"/>
                <a:cs typeface="+mn-cs"/>
              </a:rPr>
              <a:t>2621574</a:t>
            </a:r>
            <a:r>
              <a:rPr lang="en-US" sz="1800" kern="1200" dirty="0">
                <a:solidFill>
                  <a:prstClr val="black"/>
                </a:solidFill>
                <a:latin typeface="Calibri"/>
                <a:ea typeface="+mn-ea"/>
                <a:cs typeface="+mn-cs"/>
              </a:rPr>
              <a:t>     Links: 2</a:t>
            </a:r>
          </a:p>
          <a:p>
            <a:pPr>
              <a:buClrTx/>
              <a:buFontTx/>
              <a:buNone/>
            </a:pPr>
            <a:r>
              <a:rPr lang="en-US" sz="1800" kern="1200" dirty="0">
                <a:solidFill>
                  <a:prstClr val="black"/>
                </a:solidFill>
                <a:latin typeface="Calibri"/>
                <a:ea typeface="+mn-ea"/>
                <a:cs typeface="+mn-cs"/>
              </a:rPr>
              <a:t>Access: (0644/-</a:t>
            </a:r>
            <a:r>
              <a:rPr lang="en-US" sz="1800" kern="1200" dirty="0" err="1">
                <a:solidFill>
                  <a:prstClr val="black"/>
                </a:solidFill>
                <a:latin typeface="Calibri"/>
                <a:ea typeface="+mn-ea"/>
                <a:cs typeface="+mn-cs"/>
              </a:rPr>
              <a:t>rw</a:t>
            </a:r>
            <a:r>
              <a:rPr lang="en-US" sz="1800" kern="1200" dirty="0">
                <a:solidFill>
                  <a:prstClr val="black"/>
                </a:solidFill>
                <a:latin typeface="Calibri"/>
                <a:ea typeface="+mn-ea"/>
                <a:cs typeface="+mn-cs"/>
              </a:rPr>
              <a:t>-r--r--)  </a:t>
            </a:r>
            <a:r>
              <a:rPr lang="en-US" sz="1800" kern="1200" dirty="0" err="1">
                <a:solidFill>
                  <a:prstClr val="black"/>
                </a:solidFill>
                <a:latin typeface="Calibri"/>
                <a:ea typeface="+mn-ea"/>
                <a:cs typeface="+mn-cs"/>
              </a:rPr>
              <a:t>Uid</a:t>
            </a:r>
            <a:r>
              <a:rPr lang="en-US" sz="1800" kern="1200" dirty="0">
                <a:solidFill>
                  <a:prstClr val="black"/>
                </a:solidFill>
                <a:latin typeface="Calibri"/>
                <a:ea typeface="+mn-ea"/>
                <a:cs typeface="+mn-cs"/>
              </a:rPr>
              <a:t>: (    0/    root)   </a:t>
            </a:r>
            <a:r>
              <a:rPr lang="en-US" sz="1800" kern="1200" dirty="0" err="1">
                <a:solidFill>
                  <a:prstClr val="black"/>
                </a:solidFill>
                <a:latin typeface="Calibri"/>
                <a:ea typeface="+mn-ea"/>
                <a:cs typeface="+mn-cs"/>
              </a:rPr>
              <a:t>Gid</a:t>
            </a:r>
            <a:r>
              <a:rPr lang="en-US" sz="1800" kern="1200" dirty="0">
                <a:solidFill>
                  <a:prstClr val="black"/>
                </a:solidFill>
                <a:latin typeface="Calibri"/>
                <a:ea typeface="+mn-ea"/>
                <a:cs typeface="+mn-cs"/>
              </a:rPr>
              <a:t>: (    0/    root)</a:t>
            </a:r>
          </a:p>
          <a:p>
            <a:pPr>
              <a:buClrTx/>
              <a:buFontTx/>
              <a:buNone/>
            </a:pPr>
            <a:r>
              <a:rPr lang="en-US" sz="1800" kern="1200" dirty="0">
                <a:solidFill>
                  <a:prstClr val="black"/>
                </a:solidFill>
                <a:latin typeface="Calibri"/>
                <a:ea typeface="+mn-ea"/>
                <a:cs typeface="+mn-cs"/>
              </a:rPr>
              <a:t>Access: </a:t>
            </a:r>
            <a:r>
              <a:rPr lang="en-US" sz="1800" kern="1200" dirty="0" smtClean="0">
                <a:solidFill>
                  <a:prstClr val="black"/>
                </a:solidFill>
                <a:latin typeface="Calibri"/>
                <a:ea typeface="+mn-ea"/>
                <a:cs typeface="+mn-cs"/>
              </a:rPr>
              <a:t>2025-03-10 </a:t>
            </a:r>
            <a:r>
              <a:rPr lang="en-US" sz="1800" kern="1200" dirty="0">
                <a:solidFill>
                  <a:prstClr val="black"/>
                </a:solidFill>
                <a:latin typeface="Calibri"/>
                <a:ea typeface="+mn-ea"/>
                <a:cs typeface="+mn-cs"/>
              </a:rPr>
              <a:t>08:22:56.796793030 +0700</a:t>
            </a:r>
          </a:p>
          <a:p>
            <a:pPr>
              <a:buClrTx/>
              <a:buFontTx/>
              <a:buNone/>
            </a:pPr>
            <a:r>
              <a:rPr lang="en-US" sz="1800" kern="1200" dirty="0">
                <a:solidFill>
                  <a:prstClr val="black"/>
                </a:solidFill>
                <a:latin typeface="Calibri"/>
                <a:ea typeface="+mn-ea"/>
                <a:cs typeface="+mn-cs"/>
              </a:rPr>
              <a:t>Modify: </a:t>
            </a:r>
            <a:r>
              <a:rPr lang="en-US" sz="1800" kern="1200" dirty="0" smtClean="0">
                <a:solidFill>
                  <a:prstClr val="black"/>
                </a:solidFill>
                <a:latin typeface="Calibri"/>
                <a:ea typeface="+mn-ea"/>
                <a:cs typeface="+mn-cs"/>
              </a:rPr>
              <a:t>2025-03-10 </a:t>
            </a:r>
            <a:r>
              <a:rPr lang="en-US" sz="1800" kern="1200" dirty="0">
                <a:solidFill>
                  <a:prstClr val="black"/>
                </a:solidFill>
                <a:latin typeface="Calibri"/>
                <a:ea typeface="+mn-ea"/>
                <a:cs typeface="+mn-cs"/>
              </a:rPr>
              <a:t>08:22:46.283111599 +0700</a:t>
            </a:r>
          </a:p>
          <a:p>
            <a:pPr>
              <a:buClrTx/>
              <a:buFontTx/>
              <a:buNone/>
            </a:pPr>
            <a:r>
              <a:rPr lang="en-US" sz="1800" kern="1200" dirty="0">
                <a:solidFill>
                  <a:prstClr val="black"/>
                </a:solidFill>
                <a:latin typeface="Calibri"/>
                <a:ea typeface="+mn-ea"/>
                <a:cs typeface="+mn-cs"/>
              </a:rPr>
              <a:t>Change: </a:t>
            </a:r>
            <a:r>
              <a:rPr lang="en-US" sz="1800" kern="1200" dirty="0" smtClean="0">
                <a:solidFill>
                  <a:prstClr val="black"/>
                </a:solidFill>
                <a:latin typeface="Calibri"/>
                <a:ea typeface="+mn-ea"/>
                <a:cs typeface="+mn-cs"/>
              </a:rPr>
              <a:t>2025-03-10 </a:t>
            </a:r>
            <a:r>
              <a:rPr lang="en-US" sz="1800" kern="1200" dirty="0">
                <a:solidFill>
                  <a:prstClr val="black"/>
                </a:solidFill>
                <a:latin typeface="Calibri"/>
                <a:ea typeface="+mn-ea"/>
                <a:cs typeface="+mn-cs"/>
              </a:rPr>
              <a:t>08:22:46.283111599 +0700</a:t>
            </a:r>
          </a:p>
          <a:p>
            <a:pPr>
              <a:buClrTx/>
              <a:buFontTx/>
              <a:buNone/>
            </a:pPr>
            <a:endParaRPr lang="ru-RU" sz="1800" kern="1200" dirty="0" smtClean="0">
              <a:solidFill>
                <a:prstClr val="black"/>
              </a:solidFill>
              <a:latin typeface="Calibri"/>
              <a:ea typeface="+mn-ea"/>
              <a:cs typeface="+mn-cs"/>
            </a:endParaRPr>
          </a:p>
          <a:p>
            <a:pPr>
              <a:buClrTx/>
              <a:buFontTx/>
              <a:buNone/>
            </a:pPr>
            <a:r>
              <a:rPr lang="en-US" sz="1800" kern="1200" dirty="0" smtClean="0">
                <a:solidFill>
                  <a:prstClr val="black"/>
                </a:solidFill>
                <a:latin typeface="Calibri"/>
                <a:ea typeface="+mn-ea"/>
                <a:cs typeface="+mn-cs"/>
              </a:rPr>
              <a:t>[</a:t>
            </a:r>
            <a:r>
              <a:rPr lang="en-US" sz="1800" kern="1200" dirty="0" err="1">
                <a:solidFill>
                  <a:prstClr val="black"/>
                </a:solidFill>
                <a:latin typeface="Calibri"/>
                <a:ea typeface="+mn-ea"/>
                <a:cs typeface="+mn-cs"/>
              </a:rPr>
              <a:t>root@gateway</a:t>
            </a:r>
            <a:r>
              <a:rPr lang="en-US" sz="1800" kern="1200" dirty="0">
                <a:solidFill>
                  <a:prstClr val="black"/>
                </a:solidFill>
                <a:latin typeface="Calibri"/>
                <a:ea typeface="+mn-ea"/>
                <a:cs typeface="+mn-cs"/>
              </a:rPr>
              <a:t> </a:t>
            </a:r>
            <a:r>
              <a:rPr lang="en-US" sz="1800" kern="1200" dirty="0" err="1">
                <a:solidFill>
                  <a:prstClr val="black"/>
                </a:solidFill>
                <a:latin typeface="Calibri"/>
                <a:ea typeface="+mn-ea"/>
                <a:cs typeface="+mn-cs"/>
              </a:rPr>
              <a:t>testme</a:t>
            </a:r>
            <a:r>
              <a:rPr lang="en-US" sz="1800" kern="1200" dirty="0">
                <a:solidFill>
                  <a:prstClr val="black"/>
                </a:solidFill>
                <a:latin typeface="Calibri"/>
                <a:ea typeface="+mn-ea"/>
                <a:cs typeface="+mn-cs"/>
              </a:rPr>
              <a:t>]# stat hardlink.txt</a:t>
            </a:r>
          </a:p>
          <a:p>
            <a:pPr>
              <a:buClrTx/>
              <a:buFontTx/>
              <a:buNone/>
            </a:pPr>
            <a:r>
              <a:rPr lang="en-US" sz="1800" kern="1200" dirty="0">
                <a:solidFill>
                  <a:prstClr val="black"/>
                </a:solidFill>
                <a:latin typeface="Calibri"/>
                <a:ea typeface="+mn-ea"/>
                <a:cs typeface="+mn-cs"/>
              </a:rPr>
              <a:t>  File: «hardlink.txt»</a:t>
            </a:r>
          </a:p>
          <a:p>
            <a:pPr>
              <a:buClrTx/>
              <a:buFontTx/>
              <a:buNone/>
            </a:pPr>
            <a:r>
              <a:rPr lang="en-US" sz="1800" kern="1200" dirty="0">
                <a:solidFill>
                  <a:prstClr val="black"/>
                </a:solidFill>
                <a:latin typeface="Calibri"/>
                <a:ea typeface="+mn-ea"/>
                <a:cs typeface="+mn-cs"/>
              </a:rPr>
              <a:t>  Size: 8               Blocks: 8          IO Block: 4096   </a:t>
            </a:r>
            <a:r>
              <a:rPr lang="ru-RU" sz="1800" kern="1200" dirty="0">
                <a:solidFill>
                  <a:prstClr val="black"/>
                </a:solidFill>
                <a:latin typeface="Calibri"/>
                <a:ea typeface="+mn-ea"/>
                <a:cs typeface="+mn-cs"/>
              </a:rPr>
              <a:t>обычный файл</a:t>
            </a:r>
          </a:p>
          <a:p>
            <a:pPr>
              <a:buClrTx/>
              <a:buFontTx/>
              <a:buNone/>
            </a:pPr>
            <a:r>
              <a:rPr lang="en-US" sz="1800" kern="1200" dirty="0">
                <a:solidFill>
                  <a:prstClr val="black"/>
                </a:solidFill>
                <a:latin typeface="Calibri"/>
                <a:ea typeface="+mn-ea"/>
                <a:cs typeface="+mn-cs"/>
              </a:rPr>
              <a:t>Device: fd00h/64768d    </a:t>
            </a:r>
            <a:r>
              <a:rPr lang="en-US" sz="1800" kern="1200" dirty="0" err="1">
                <a:solidFill>
                  <a:prstClr val="black"/>
                </a:solidFill>
                <a:latin typeface="Calibri"/>
                <a:ea typeface="+mn-ea"/>
                <a:cs typeface="+mn-cs"/>
              </a:rPr>
              <a:t>Inode</a:t>
            </a:r>
            <a:r>
              <a:rPr lang="en-US" sz="1800" kern="1200" dirty="0">
                <a:solidFill>
                  <a:prstClr val="black"/>
                </a:solidFill>
                <a:latin typeface="Calibri"/>
                <a:ea typeface="+mn-ea"/>
                <a:cs typeface="+mn-cs"/>
              </a:rPr>
              <a:t>: </a:t>
            </a:r>
            <a:r>
              <a:rPr lang="en-US" sz="1800" kern="1200" dirty="0">
                <a:solidFill>
                  <a:srgbClr val="FF0000"/>
                </a:solidFill>
                <a:latin typeface="Calibri"/>
                <a:ea typeface="+mn-ea"/>
                <a:cs typeface="+mn-cs"/>
              </a:rPr>
              <a:t>2621574</a:t>
            </a:r>
            <a:r>
              <a:rPr lang="en-US" sz="1800" kern="1200" dirty="0">
                <a:solidFill>
                  <a:prstClr val="black"/>
                </a:solidFill>
                <a:latin typeface="Calibri"/>
                <a:ea typeface="+mn-ea"/>
                <a:cs typeface="+mn-cs"/>
              </a:rPr>
              <a:t>     Links: 2</a:t>
            </a:r>
          </a:p>
          <a:p>
            <a:pPr>
              <a:buClrTx/>
              <a:buFontTx/>
              <a:buNone/>
            </a:pPr>
            <a:r>
              <a:rPr lang="en-US" sz="1800" kern="1200" dirty="0">
                <a:solidFill>
                  <a:prstClr val="black"/>
                </a:solidFill>
                <a:latin typeface="Calibri"/>
                <a:ea typeface="+mn-ea"/>
                <a:cs typeface="+mn-cs"/>
              </a:rPr>
              <a:t>Access: (0644/-</a:t>
            </a:r>
            <a:r>
              <a:rPr lang="en-US" sz="1800" kern="1200" dirty="0" err="1">
                <a:solidFill>
                  <a:prstClr val="black"/>
                </a:solidFill>
                <a:latin typeface="Calibri"/>
                <a:ea typeface="+mn-ea"/>
                <a:cs typeface="+mn-cs"/>
              </a:rPr>
              <a:t>rw</a:t>
            </a:r>
            <a:r>
              <a:rPr lang="en-US" sz="1800" kern="1200" dirty="0">
                <a:solidFill>
                  <a:prstClr val="black"/>
                </a:solidFill>
                <a:latin typeface="Calibri"/>
                <a:ea typeface="+mn-ea"/>
                <a:cs typeface="+mn-cs"/>
              </a:rPr>
              <a:t>-r--r--)  </a:t>
            </a:r>
            <a:r>
              <a:rPr lang="en-US" sz="1800" kern="1200" dirty="0" err="1">
                <a:solidFill>
                  <a:prstClr val="black"/>
                </a:solidFill>
                <a:latin typeface="Calibri"/>
                <a:ea typeface="+mn-ea"/>
                <a:cs typeface="+mn-cs"/>
              </a:rPr>
              <a:t>Uid</a:t>
            </a:r>
            <a:r>
              <a:rPr lang="en-US" sz="1800" kern="1200" dirty="0">
                <a:solidFill>
                  <a:prstClr val="black"/>
                </a:solidFill>
                <a:latin typeface="Calibri"/>
                <a:ea typeface="+mn-ea"/>
                <a:cs typeface="+mn-cs"/>
              </a:rPr>
              <a:t>: (    0/    root)   </a:t>
            </a:r>
            <a:r>
              <a:rPr lang="en-US" sz="1800" kern="1200" dirty="0" err="1">
                <a:solidFill>
                  <a:prstClr val="black"/>
                </a:solidFill>
                <a:latin typeface="Calibri"/>
                <a:ea typeface="+mn-ea"/>
                <a:cs typeface="+mn-cs"/>
              </a:rPr>
              <a:t>Gid</a:t>
            </a:r>
            <a:r>
              <a:rPr lang="en-US" sz="1800" kern="1200" dirty="0">
                <a:solidFill>
                  <a:prstClr val="black"/>
                </a:solidFill>
                <a:latin typeface="Calibri"/>
                <a:ea typeface="+mn-ea"/>
                <a:cs typeface="+mn-cs"/>
              </a:rPr>
              <a:t>: (    0/    root)</a:t>
            </a:r>
          </a:p>
          <a:p>
            <a:pPr>
              <a:buClrTx/>
              <a:buFontTx/>
              <a:buNone/>
            </a:pPr>
            <a:r>
              <a:rPr lang="en-US" sz="1800" kern="1200" dirty="0" smtClean="0">
                <a:solidFill>
                  <a:prstClr val="black"/>
                </a:solidFill>
                <a:latin typeface="Calibri"/>
                <a:ea typeface="+mn-ea"/>
                <a:cs typeface="+mn-cs"/>
              </a:rPr>
              <a:t>Access: 2025-03-10 08:22:56.796793030 +0700</a:t>
            </a:r>
          </a:p>
          <a:p>
            <a:pPr>
              <a:buClrTx/>
              <a:buFontTx/>
              <a:buNone/>
            </a:pPr>
            <a:r>
              <a:rPr lang="en-US" sz="1800" kern="1200" dirty="0" smtClean="0">
                <a:solidFill>
                  <a:prstClr val="black"/>
                </a:solidFill>
                <a:latin typeface="Calibri"/>
                <a:ea typeface="+mn-ea"/>
                <a:cs typeface="+mn-cs"/>
              </a:rPr>
              <a:t>Modify: 2025-03-10 08:22:46.283111599 +0700</a:t>
            </a:r>
          </a:p>
          <a:p>
            <a:pPr>
              <a:buClrTx/>
              <a:buFontTx/>
              <a:buNone/>
            </a:pPr>
            <a:r>
              <a:rPr lang="en-US" sz="1800" kern="1200" dirty="0" smtClean="0">
                <a:solidFill>
                  <a:prstClr val="black"/>
                </a:solidFill>
                <a:latin typeface="Calibri"/>
                <a:ea typeface="+mn-ea"/>
                <a:cs typeface="+mn-cs"/>
              </a:rPr>
              <a:t>Change: 2025-03-10 08:22:46.283111599 +0700</a:t>
            </a:r>
          </a:p>
          <a:p>
            <a:pPr>
              <a:buClrTx/>
              <a:buFontTx/>
              <a:buNone/>
            </a:pPr>
            <a:endParaRPr lang="en-US" sz="1800" kern="1200" dirty="0">
              <a:solidFill>
                <a:prstClr val="black"/>
              </a:solidFill>
              <a:latin typeface="Calibri"/>
              <a:ea typeface="+mn-ea"/>
              <a:cs typeface="+mn-cs"/>
            </a:endParaRPr>
          </a:p>
        </p:txBody>
      </p:sp>
      <p:sp>
        <p:nvSpPr>
          <p:cNvPr id="7" name="Номер слайда 6"/>
          <p:cNvSpPr>
            <a:spLocks noGrp="1"/>
          </p:cNvSpPr>
          <p:nvPr>
            <p:ph type="sldNum" sz="quarter" idx="12"/>
          </p:nvPr>
        </p:nvSpPr>
        <p:spPr/>
        <p:txBody>
          <a:bodyPr/>
          <a:lstStyle/>
          <a:p>
            <a:fld id="{725C68B6-61C2-468F-89AB-4B9F7531AA68}" type="slidenum">
              <a:rPr lang="ru-RU" smtClean="0"/>
              <a:pPr/>
              <a:t>33</a:t>
            </a:fld>
            <a:r>
              <a:rPr lang="en-US" smtClean="0"/>
              <a:t> / </a:t>
            </a:r>
            <a:r>
              <a:rPr lang="ru-RU" smtClean="0"/>
              <a:t>54</a:t>
            </a:r>
            <a:endParaRPr lang="ru-RU" dirty="0"/>
          </a:p>
        </p:txBody>
      </p:sp>
    </p:spTree>
    <p:extLst>
      <p:ext uri="{BB962C8B-B14F-4D97-AF65-F5344CB8AC3E}">
        <p14:creationId xmlns:p14="http://schemas.microsoft.com/office/powerpoint/2010/main" val="360868787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en-US" dirty="0" err="1"/>
              <a:t>inode</a:t>
            </a:r>
            <a:r>
              <a:rPr lang="en-US" dirty="0"/>
              <a:t> </a:t>
            </a:r>
            <a:r>
              <a:rPr lang="ru-RU" dirty="0" smtClean="0"/>
              <a:t>мягкой </a:t>
            </a:r>
            <a:r>
              <a:rPr lang="ru-RU" dirty="0"/>
              <a:t>ссылки</a:t>
            </a:r>
          </a:p>
        </p:txBody>
      </p:sp>
      <p:sp>
        <p:nvSpPr>
          <p:cNvPr id="5" name="Прямоугольник 4"/>
          <p:cNvSpPr/>
          <p:nvPr/>
        </p:nvSpPr>
        <p:spPr>
          <a:xfrm>
            <a:off x="684755" y="1055534"/>
            <a:ext cx="10997852" cy="4801314"/>
          </a:xfrm>
          <a:prstGeom prst="rect">
            <a:avLst/>
          </a:prstGeom>
        </p:spPr>
        <p:txBody>
          <a:bodyPr wrap="square">
            <a:spAutoFit/>
          </a:bodyPr>
          <a:lstStyle/>
          <a:p>
            <a:pPr>
              <a:buClrTx/>
              <a:buFontTx/>
              <a:buNone/>
            </a:pPr>
            <a:r>
              <a:rPr lang="en-US" sz="1800" kern="1200" dirty="0">
                <a:solidFill>
                  <a:prstClr val="black"/>
                </a:solidFill>
                <a:latin typeface="Calibri"/>
                <a:ea typeface="+mn-ea"/>
                <a:cs typeface="+mn-cs"/>
              </a:rPr>
              <a:t>[</a:t>
            </a:r>
            <a:r>
              <a:rPr lang="en-US" sz="1800" kern="1200" dirty="0" err="1">
                <a:solidFill>
                  <a:prstClr val="black"/>
                </a:solidFill>
                <a:latin typeface="Calibri"/>
                <a:ea typeface="+mn-ea"/>
                <a:cs typeface="+mn-cs"/>
              </a:rPr>
              <a:t>root@gateway</a:t>
            </a:r>
            <a:r>
              <a:rPr lang="en-US" sz="1800" kern="1200" dirty="0">
                <a:solidFill>
                  <a:prstClr val="black"/>
                </a:solidFill>
                <a:latin typeface="Calibri"/>
                <a:ea typeface="+mn-ea"/>
                <a:cs typeface="+mn-cs"/>
              </a:rPr>
              <a:t> </a:t>
            </a:r>
            <a:r>
              <a:rPr lang="en-US" sz="1800" kern="1200" dirty="0" err="1">
                <a:solidFill>
                  <a:prstClr val="black"/>
                </a:solidFill>
                <a:latin typeface="Calibri"/>
                <a:ea typeface="+mn-ea"/>
                <a:cs typeface="+mn-cs"/>
              </a:rPr>
              <a:t>testme</a:t>
            </a:r>
            <a:r>
              <a:rPr lang="en-US" sz="1800" kern="1200" dirty="0">
                <a:solidFill>
                  <a:prstClr val="black"/>
                </a:solidFill>
                <a:latin typeface="Calibri"/>
                <a:ea typeface="+mn-ea"/>
                <a:cs typeface="+mn-cs"/>
              </a:rPr>
              <a:t>]# stat file.txt</a:t>
            </a:r>
          </a:p>
          <a:p>
            <a:pPr>
              <a:buClrTx/>
              <a:buFontTx/>
              <a:buNone/>
            </a:pPr>
            <a:r>
              <a:rPr lang="en-US" sz="1800" kern="1200" dirty="0">
                <a:solidFill>
                  <a:prstClr val="black"/>
                </a:solidFill>
                <a:latin typeface="Calibri"/>
                <a:ea typeface="+mn-ea"/>
                <a:cs typeface="+mn-cs"/>
              </a:rPr>
              <a:t>  File: «file.txt»</a:t>
            </a:r>
          </a:p>
          <a:p>
            <a:pPr>
              <a:buClrTx/>
              <a:buFontTx/>
              <a:buNone/>
            </a:pPr>
            <a:r>
              <a:rPr lang="en-US" sz="1800" kern="1200" dirty="0">
                <a:solidFill>
                  <a:prstClr val="black"/>
                </a:solidFill>
                <a:latin typeface="Calibri"/>
                <a:ea typeface="+mn-ea"/>
                <a:cs typeface="+mn-cs"/>
              </a:rPr>
              <a:t>  Size: 8               Blocks: 8          IO Block: 4096   </a:t>
            </a:r>
            <a:r>
              <a:rPr lang="ru-RU" sz="1800" kern="1200" dirty="0">
                <a:solidFill>
                  <a:prstClr val="black"/>
                </a:solidFill>
                <a:latin typeface="Calibri"/>
                <a:ea typeface="+mn-ea"/>
                <a:cs typeface="+mn-cs"/>
              </a:rPr>
              <a:t>обычный файл</a:t>
            </a:r>
          </a:p>
          <a:p>
            <a:pPr>
              <a:buClrTx/>
              <a:buFontTx/>
              <a:buNone/>
            </a:pPr>
            <a:r>
              <a:rPr lang="en-US" sz="1800" kern="1200" dirty="0">
                <a:solidFill>
                  <a:prstClr val="black"/>
                </a:solidFill>
                <a:latin typeface="Calibri"/>
                <a:ea typeface="+mn-ea"/>
                <a:cs typeface="+mn-cs"/>
              </a:rPr>
              <a:t>Device: fd00h/64768d    </a:t>
            </a:r>
            <a:r>
              <a:rPr lang="en-US" sz="1800" kern="1200" dirty="0" err="1">
                <a:solidFill>
                  <a:prstClr val="black"/>
                </a:solidFill>
                <a:latin typeface="Calibri"/>
                <a:ea typeface="+mn-ea"/>
                <a:cs typeface="+mn-cs"/>
              </a:rPr>
              <a:t>Inode</a:t>
            </a:r>
            <a:r>
              <a:rPr lang="en-US" sz="1800" kern="1200" dirty="0">
                <a:solidFill>
                  <a:prstClr val="black"/>
                </a:solidFill>
                <a:latin typeface="Calibri"/>
                <a:ea typeface="+mn-ea"/>
                <a:cs typeface="+mn-cs"/>
              </a:rPr>
              <a:t>: </a:t>
            </a:r>
            <a:r>
              <a:rPr lang="en-US" sz="1800" kern="1200" dirty="0">
                <a:solidFill>
                  <a:srgbClr val="FF0000"/>
                </a:solidFill>
                <a:latin typeface="Calibri"/>
                <a:ea typeface="+mn-ea"/>
                <a:cs typeface="+mn-cs"/>
              </a:rPr>
              <a:t>2621574</a:t>
            </a:r>
            <a:r>
              <a:rPr lang="en-US" sz="1800" kern="1200" dirty="0">
                <a:solidFill>
                  <a:prstClr val="black"/>
                </a:solidFill>
                <a:latin typeface="Calibri"/>
                <a:ea typeface="+mn-ea"/>
                <a:cs typeface="+mn-cs"/>
              </a:rPr>
              <a:t>     Links: 2</a:t>
            </a:r>
          </a:p>
          <a:p>
            <a:pPr>
              <a:buClrTx/>
              <a:buFontTx/>
              <a:buNone/>
            </a:pPr>
            <a:r>
              <a:rPr lang="en-US" sz="1800" kern="1200" dirty="0">
                <a:solidFill>
                  <a:prstClr val="black"/>
                </a:solidFill>
                <a:latin typeface="Calibri"/>
                <a:ea typeface="+mn-ea"/>
                <a:cs typeface="+mn-cs"/>
              </a:rPr>
              <a:t>Access: (0644/-</a:t>
            </a:r>
            <a:r>
              <a:rPr lang="en-US" sz="1800" kern="1200" dirty="0" err="1">
                <a:solidFill>
                  <a:prstClr val="black"/>
                </a:solidFill>
                <a:latin typeface="Calibri"/>
                <a:ea typeface="+mn-ea"/>
                <a:cs typeface="+mn-cs"/>
              </a:rPr>
              <a:t>rw</a:t>
            </a:r>
            <a:r>
              <a:rPr lang="en-US" sz="1800" kern="1200" dirty="0">
                <a:solidFill>
                  <a:prstClr val="black"/>
                </a:solidFill>
                <a:latin typeface="Calibri"/>
                <a:ea typeface="+mn-ea"/>
                <a:cs typeface="+mn-cs"/>
              </a:rPr>
              <a:t>-r--r--)  </a:t>
            </a:r>
            <a:r>
              <a:rPr lang="en-US" sz="1800" kern="1200" dirty="0" err="1">
                <a:solidFill>
                  <a:prstClr val="black"/>
                </a:solidFill>
                <a:latin typeface="Calibri"/>
                <a:ea typeface="+mn-ea"/>
                <a:cs typeface="+mn-cs"/>
              </a:rPr>
              <a:t>Uid</a:t>
            </a:r>
            <a:r>
              <a:rPr lang="en-US" sz="1800" kern="1200" dirty="0">
                <a:solidFill>
                  <a:prstClr val="black"/>
                </a:solidFill>
                <a:latin typeface="Calibri"/>
                <a:ea typeface="+mn-ea"/>
                <a:cs typeface="+mn-cs"/>
              </a:rPr>
              <a:t>: (    0/    root)   </a:t>
            </a:r>
            <a:r>
              <a:rPr lang="en-US" sz="1800" kern="1200" dirty="0" err="1">
                <a:solidFill>
                  <a:prstClr val="black"/>
                </a:solidFill>
                <a:latin typeface="Calibri"/>
                <a:ea typeface="+mn-ea"/>
                <a:cs typeface="+mn-cs"/>
              </a:rPr>
              <a:t>Gid</a:t>
            </a:r>
            <a:r>
              <a:rPr lang="en-US" sz="1800" kern="1200" dirty="0">
                <a:solidFill>
                  <a:prstClr val="black"/>
                </a:solidFill>
                <a:latin typeface="Calibri"/>
                <a:ea typeface="+mn-ea"/>
                <a:cs typeface="+mn-cs"/>
              </a:rPr>
              <a:t>: (    0/    root)</a:t>
            </a:r>
          </a:p>
          <a:p>
            <a:pPr>
              <a:buClrTx/>
              <a:buFontTx/>
              <a:buNone/>
            </a:pPr>
            <a:r>
              <a:rPr lang="en-US" sz="1800" kern="1200" dirty="0">
                <a:solidFill>
                  <a:prstClr val="black"/>
                </a:solidFill>
                <a:latin typeface="Calibri"/>
                <a:ea typeface="+mn-ea"/>
                <a:cs typeface="+mn-cs"/>
              </a:rPr>
              <a:t>Access: </a:t>
            </a:r>
            <a:r>
              <a:rPr lang="en-US" sz="1800" kern="1200" dirty="0" smtClean="0">
                <a:solidFill>
                  <a:prstClr val="black"/>
                </a:solidFill>
                <a:latin typeface="Calibri"/>
                <a:ea typeface="+mn-ea"/>
                <a:cs typeface="+mn-cs"/>
              </a:rPr>
              <a:t>2025-03-10 </a:t>
            </a:r>
            <a:r>
              <a:rPr lang="en-US" sz="1800" kern="1200" dirty="0">
                <a:solidFill>
                  <a:prstClr val="black"/>
                </a:solidFill>
                <a:latin typeface="Calibri"/>
                <a:ea typeface="+mn-ea"/>
                <a:cs typeface="+mn-cs"/>
              </a:rPr>
              <a:t>08:22:56.796793030 +0700</a:t>
            </a:r>
          </a:p>
          <a:p>
            <a:pPr>
              <a:buClrTx/>
              <a:buFontTx/>
              <a:buNone/>
            </a:pPr>
            <a:r>
              <a:rPr lang="en-US" sz="1800" kern="1200" dirty="0">
                <a:solidFill>
                  <a:prstClr val="black"/>
                </a:solidFill>
                <a:latin typeface="Calibri"/>
                <a:ea typeface="+mn-ea"/>
                <a:cs typeface="+mn-cs"/>
              </a:rPr>
              <a:t>Modify: </a:t>
            </a:r>
            <a:r>
              <a:rPr lang="en-US" sz="1800" kern="1200" dirty="0" smtClean="0">
                <a:solidFill>
                  <a:prstClr val="black"/>
                </a:solidFill>
                <a:latin typeface="Calibri"/>
                <a:ea typeface="+mn-ea"/>
                <a:cs typeface="+mn-cs"/>
              </a:rPr>
              <a:t>2025-03-10 </a:t>
            </a:r>
            <a:r>
              <a:rPr lang="en-US" sz="1800" kern="1200" dirty="0">
                <a:solidFill>
                  <a:prstClr val="black"/>
                </a:solidFill>
                <a:latin typeface="Calibri"/>
                <a:ea typeface="+mn-ea"/>
                <a:cs typeface="+mn-cs"/>
              </a:rPr>
              <a:t>08:22:46.283111599 +0700</a:t>
            </a:r>
          </a:p>
          <a:p>
            <a:pPr>
              <a:buClrTx/>
              <a:buFontTx/>
              <a:buNone/>
            </a:pPr>
            <a:r>
              <a:rPr lang="en-US" sz="1800" kern="1200" dirty="0">
                <a:solidFill>
                  <a:prstClr val="black"/>
                </a:solidFill>
                <a:latin typeface="Calibri"/>
                <a:ea typeface="+mn-ea"/>
                <a:cs typeface="+mn-cs"/>
              </a:rPr>
              <a:t>Change: </a:t>
            </a:r>
            <a:r>
              <a:rPr lang="en-US" sz="1800" kern="1200" dirty="0" smtClean="0">
                <a:solidFill>
                  <a:prstClr val="black"/>
                </a:solidFill>
                <a:latin typeface="Calibri"/>
                <a:ea typeface="+mn-ea"/>
                <a:cs typeface="+mn-cs"/>
              </a:rPr>
              <a:t>2025-03-10 </a:t>
            </a:r>
            <a:r>
              <a:rPr lang="en-US" sz="1800" kern="1200" dirty="0">
                <a:solidFill>
                  <a:prstClr val="black"/>
                </a:solidFill>
                <a:latin typeface="Calibri"/>
                <a:ea typeface="+mn-ea"/>
                <a:cs typeface="+mn-cs"/>
              </a:rPr>
              <a:t>08:22:46.283111599 +0700</a:t>
            </a:r>
          </a:p>
          <a:p>
            <a:pPr>
              <a:buClrTx/>
              <a:buFontTx/>
              <a:buNone/>
            </a:pPr>
            <a:endParaRPr lang="ru-RU" sz="1800" kern="1200" dirty="0" smtClean="0">
              <a:solidFill>
                <a:prstClr val="black"/>
              </a:solidFill>
              <a:latin typeface="Calibri"/>
              <a:ea typeface="+mn-ea"/>
              <a:cs typeface="+mn-cs"/>
            </a:endParaRPr>
          </a:p>
          <a:p>
            <a:pPr>
              <a:buClrTx/>
              <a:buFontTx/>
              <a:buNone/>
            </a:pPr>
            <a:r>
              <a:rPr lang="en-US" sz="1800" kern="1200" dirty="0" smtClean="0">
                <a:solidFill>
                  <a:prstClr val="black"/>
                </a:solidFill>
                <a:latin typeface="Calibri"/>
                <a:ea typeface="+mn-ea"/>
                <a:cs typeface="+mn-cs"/>
              </a:rPr>
              <a:t>[</a:t>
            </a:r>
            <a:r>
              <a:rPr lang="en-US" sz="1800" kern="1200" dirty="0" err="1">
                <a:solidFill>
                  <a:prstClr val="black"/>
                </a:solidFill>
                <a:latin typeface="Calibri"/>
                <a:ea typeface="+mn-ea"/>
                <a:cs typeface="+mn-cs"/>
              </a:rPr>
              <a:t>root@gateway</a:t>
            </a:r>
            <a:r>
              <a:rPr lang="en-US" sz="1800" kern="1200" dirty="0">
                <a:solidFill>
                  <a:prstClr val="black"/>
                </a:solidFill>
                <a:latin typeface="Calibri"/>
                <a:ea typeface="+mn-ea"/>
                <a:cs typeface="+mn-cs"/>
              </a:rPr>
              <a:t> </a:t>
            </a:r>
            <a:r>
              <a:rPr lang="en-US" sz="1800" kern="1200" dirty="0" err="1">
                <a:solidFill>
                  <a:prstClr val="black"/>
                </a:solidFill>
                <a:latin typeface="Calibri"/>
                <a:ea typeface="+mn-ea"/>
                <a:cs typeface="+mn-cs"/>
              </a:rPr>
              <a:t>testme</a:t>
            </a:r>
            <a:r>
              <a:rPr lang="en-US" sz="1800" kern="1200" dirty="0">
                <a:solidFill>
                  <a:prstClr val="black"/>
                </a:solidFill>
                <a:latin typeface="Calibri"/>
                <a:ea typeface="+mn-ea"/>
                <a:cs typeface="+mn-cs"/>
              </a:rPr>
              <a:t>]# stat softlink.txt</a:t>
            </a:r>
          </a:p>
          <a:p>
            <a:pPr>
              <a:buClrTx/>
              <a:buFontTx/>
              <a:buNone/>
            </a:pPr>
            <a:r>
              <a:rPr lang="en-US" sz="1800" kern="1200" dirty="0">
                <a:solidFill>
                  <a:prstClr val="black"/>
                </a:solidFill>
                <a:latin typeface="Calibri"/>
                <a:ea typeface="+mn-ea"/>
                <a:cs typeface="+mn-cs"/>
              </a:rPr>
              <a:t>  File: «softlink.txt» -&gt; «file.txt»</a:t>
            </a:r>
          </a:p>
          <a:p>
            <a:pPr>
              <a:buClrTx/>
              <a:buFontTx/>
              <a:buNone/>
            </a:pPr>
            <a:r>
              <a:rPr lang="en-US" sz="1800" kern="1200" dirty="0">
                <a:solidFill>
                  <a:prstClr val="black"/>
                </a:solidFill>
                <a:latin typeface="Calibri"/>
                <a:ea typeface="+mn-ea"/>
                <a:cs typeface="+mn-cs"/>
              </a:rPr>
              <a:t>  Size: 8               Blocks: 0          IO Block: 4096   </a:t>
            </a:r>
            <a:r>
              <a:rPr lang="ru-RU" sz="1800" kern="1200" dirty="0">
                <a:solidFill>
                  <a:prstClr val="black"/>
                </a:solidFill>
                <a:latin typeface="Calibri"/>
                <a:ea typeface="+mn-ea"/>
                <a:cs typeface="+mn-cs"/>
              </a:rPr>
              <a:t>символьная ссылка</a:t>
            </a:r>
          </a:p>
          <a:p>
            <a:pPr>
              <a:buClrTx/>
              <a:buFontTx/>
              <a:buNone/>
            </a:pPr>
            <a:r>
              <a:rPr lang="en-US" sz="1800" kern="1200" dirty="0">
                <a:solidFill>
                  <a:prstClr val="black"/>
                </a:solidFill>
                <a:latin typeface="Calibri"/>
                <a:ea typeface="+mn-ea"/>
                <a:cs typeface="+mn-cs"/>
              </a:rPr>
              <a:t>Device: fd00h/64768d    </a:t>
            </a:r>
            <a:r>
              <a:rPr lang="en-US" sz="1800" kern="1200" dirty="0" err="1">
                <a:solidFill>
                  <a:prstClr val="black"/>
                </a:solidFill>
                <a:latin typeface="Calibri"/>
                <a:ea typeface="+mn-ea"/>
                <a:cs typeface="+mn-cs"/>
              </a:rPr>
              <a:t>Inode</a:t>
            </a:r>
            <a:r>
              <a:rPr lang="en-US" sz="1800" kern="1200" dirty="0">
                <a:solidFill>
                  <a:prstClr val="black"/>
                </a:solidFill>
                <a:latin typeface="Calibri"/>
                <a:ea typeface="+mn-ea"/>
                <a:cs typeface="+mn-cs"/>
              </a:rPr>
              <a:t>: 2621609     Links: 1</a:t>
            </a:r>
          </a:p>
          <a:p>
            <a:pPr>
              <a:buClrTx/>
              <a:buFontTx/>
              <a:buNone/>
            </a:pPr>
            <a:r>
              <a:rPr lang="en-US" sz="1800" kern="1200" dirty="0">
                <a:solidFill>
                  <a:prstClr val="black"/>
                </a:solidFill>
                <a:latin typeface="Calibri"/>
                <a:ea typeface="+mn-ea"/>
                <a:cs typeface="+mn-cs"/>
              </a:rPr>
              <a:t>Access: (0777/</a:t>
            </a:r>
            <a:r>
              <a:rPr lang="en-US" sz="1800" kern="1200" dirty="0" err="1">
                <a:solidFill>
                  <a:prstClr val="black"/>
                </a:solidFill>
                <a:latin typeface="Calibri"/>
                <a:ea typeface="+mn-ea"/>
                <a:cs typeface="+mn-cs"/>
              </a:rPr>
              <a:t>lrwxrwxrwx</a:t>
            </a:r>
            <a:r>
              <a:rPr lang="en-US" sz="1800" kern="1200" dirty="0">
                <a:solidFill>
                  <a:prstClr val="black"/>
                </a:solidFill>
                <a:latin typeface="Calibri"/>
                <a:ea typeface="+mn-ea"/>
                <a:cs typeface="+mn-cs"/>
              </a:rPr>
              <a:t>)  </a:t>
            </a:r>
            <a:r>
              <a:rPr lang="en-US" sz="1800" kern="1200" dirty="0" err="1">
                <a:solidFill>
                  <a:prstClr val="black"/>
                </a:solidFill>
                <a:latin typeface="Calibri"/>
                <a:ea typeface="+mn-ea"/>
                <a:cs typeface="+mn-cs"/>
              </a:rPr>
              <a:t>Uid</a:t>
            </a:r>
            <a:r>
              <a:rPr lang="en-US" sz="1800" kern="1200" dirty="0">
                <a:solidFill>
                  <a:prstClr val="black"/>
                </a:solidFill>
                <a:latin typeface="Calibri"/>
                <a:ea typeface="+mn-ea"/>
                <a:cs typeface="+mn-cs"/>
              </a:rPr>
              <a:t>: (    0/    root)   </a:t>
            </a:r>
            <a:r>
              <a:rPr lang="en-US" sz="1800" kern="1200" dirty="0" err="1">
                <a:solidFill>
                  <a:prstClr val="black"/>
                </a:solidFill>
                <a:latin typeface="Calibri"/>
                <a:ea typeface="+mn-ea"/>
                <a:cs typeface="+mn-cs"/>
              </a:rPr>
              <a:t>Gid</a:t>
            </a:r>
            <a:r>
              <a:rPr lang="en-US" sz="1800" kern="1200" dirty="0">
                <a:solidFill>
                  <a:prstClr val="black"/>
                </a:solidFill>
                <a:latin typeface="Calibri"/>
                <a:ea typeface="+mn-ea"/>
                <a:cs typeface="+mn-cs"/>
              </a:rPr>
              <a:t>: (    0/    root)</a:t>
            </a:r>
          </a:p>
          <a:p>
            <a:pPr>
              <a:buClrTx/>
              <a:buFontTx/>
              <a:buNone/>
            </a:pPr>
            <a:r>
              <a:rPr lang="en-US" sz="1800" kern="1200" dirty="0">
                <a:solidFill>
                  <a:prstClr val="black"/>
                </a:solidFill>
                <a:latin typeface="Calibri"/>
                <a:ea typeface="+mn-ea"/>
                <a:cs typeface="+mn-cs"/>
              </a:rPr>
              <a:t>Access: </a:t>
            </a:r>
            <a:r>
              <a:rPr lang="en-US" sz="1800" kern="1200" dirty="0" smtClean="0">
                <a:solidFill>
                  <a:prstClr val="black"/>
                </a:solidFill>
                <a:latin typeface="Calibri"/>
                <a:ea typeface="+mn-ea"/>
                <a:cs typeface="+mn-cs"/>
              </a:rPr>
              <a:t>2025-03-10 </a:t>
            </a:r>
            <a:r>
              <a:rPr lang="en-US" sz="1800" kern="1200" dirty="0">
                <a:solidFill>
                  <a:prstClr val="black"/>
                </a:solidFill>
                <a:latin typeface="Calibri"/>
                <a:ea typeface="+mn-ea"/>
                <a:cs typeface="+mn-cs"/>
              </a:rPr>
              <a:t>08:16:18.160879894 +0700</a:t>
            </a:r>
          </a:p>
          <a:p>
            <a:pPr>
              <a:buClrTx/>
              <a:buFontTx/>
              <a:buNone/>
            </a:pPr>
            <a:r>
              <a:rPr lang="en-US" sz="1800" kern="1200" dirty="0">
                <a:solidFill>
                  <a:prstClr val="black"/>
                </a:solidFill>
                <a:latin typeface="Calibri"/>
                <a:ea typeface="+mn-ea"/>
                <a:cs typeface="+mn-cs"/>
              </a:rPr>
              <a:t>Modify: </a:t>
            </a:r>
            <a:r>
              <a:rPr lang="en-US" sz="1800" kern="1200" dirty="0" smtClean="0">
                <a:solidFill>
                  <a:prstClr val="black"/>
                </a:solidFill>
                <a:latin typeface="Calibri"/>
                <a:ea typeface="+mn-ea"/>
                <a:cs typeface="+mn-cs"/>
              </a:rPr>
              <a:t>2025-03-10 </a:t>
            </a:r>
            <a:r>
              <a:rPr lang="en-US" sz="1800" kern="1200" dirty="0">
                <a:solidFill>
                  <a:prstClr val="black"/>
                </a:solidFill>
                <a:latin typeface="Calibri"/>
                <a:ea typeface="+mn-ea"/>
                <a:cs typeface="+mn-cs"/>
              </a:rPr>
              <a:t>08:01:04.832553257 +0700</a:t>
            </a:r>
          </a:p>
          <a:p>
            <a:pPr>
              <a:buClrTx/>
              <a:buFontTx/>
              <a:buNone/>
            </a:pPr>
            <a:r>
              <a:rPr lang="en-US" sz="1800" kern="1200" dirty="0">
                <a:solidFill>
                  <a:prstClr val="black"/>
                </a:solidFill>
                <a:latin typeface="Calibri"/>
                <a:ea typeface="+mn-ea"/>
                <a:cs typeface="+mn-cs"/>
              </a:rPr>
              <a:t>Change: </a:t>
            </a:r>
            <a:r>
              <a:rPr lang="en-US" sz="1800" kern="1200" dirty="0" smtClean="0">
                <a:solidFill>
                  <a:prstClr val="black"/>
                </a:solidFill>
                <a:latin typeface="Calibri"/>
                <a:ea typeface="+mn-ea"/>
                <a:cs typeface="+mn-cs"/>
              </a:rPr>
              <a:t>2025-03-10 </a:t>
            </a:r>
            <a:r>
              <a:rPr lang="en-US" sz="1800" kern="1200" dirty="0">
                <a:solidFill>
                  <a:prstClr val="black"/>
                </a:solidFill>
                <a:latin typeface="Calibri"/>
                <a:ea typeface="+mn-ea"/>
                <a:cs typeface="+mn-cs"/>
              </a:rPr>
              <a:t>08:16:18.156880023 +0700</a:t>
            </a:r>
            <a:endParaRPr lang="ru-RU" sz="1800" kern="1200" dirty="0">
              <a:solidFill>
                <a:prstClr val="black"/>
              </a:solidFill>
              <a:latin typeface="Calibri"/>
              <a:ea typeface="+mn-ea"/>
              <a:cs typeface="+mn-cs"/>
            </a:endParaRPr>
          </a:p>
        </p:txBody>
      </p:sp>
      <p:sp>
        <p:nvSpPr>
          <p:cNvPr id="7" name="Номер слайда 6"/>
          <p:cNvSpPr>
            <a:spLocks noGrp="1"/>
          </p:cNvSpPr>
          <p:nvPr>
            <p:ph type="sldNum" sz="quarter" idx="12"/>
          </p:nvPr>
        </p:nvSpPr>
        <p:spPr/>
        <p:txBody>
          <a:bodyPr/>
          <a:lstStyle/>
          <a:p>
            <a:fld id="{725C68B6-61C2-468F-89AB-4B9F7531AA68}" type="slidenum">
              <a:rPr lang="ru-RU" smtClean="0"/>
              <a:pPr/>
              <a:t>34</a:t>
            </a:fld>
            <a:r>
              <a:rPr lang="en-US" smtClean="0"/>
              <a:t> / </a:t>
            </a:r>
            <a:r>
              <a:rPr lang="ru-RU" smtClean="0"/>
              <a:t>54</a:t>
            </a:r>
            <a:endParaRPr lang="ru-RU" dirty="0"/>
          </a:p>
        </p:txBody>
      </p:sp>
    </p:spTree>
    <p:extLst>
      <p:ext uri="{BB962C8B-B14F-4D97-AF65-F5344CB8AC3E}">
        <p14:creationId xmlns:p14="http://schemas.microsoft.com/office/powerpoint/2010/main" val="249874035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Удаление файла</a:t>
            </a:r>
            <a:endParaRPr lang="ru-RU" dirty="0"/>
          </a:p>
        </p:txBody>
      </p:sp>
      <p:sp>
        <p:nvSpPr>
          <p:cNvPr id="5" name="Прямоугольник 4"/>
          <p:cNvSpPr/>
          <p:nvPr/>
        </p:nvSpPr>
        <p:spPr>
          <a:xfrm>
            <a:off x="668056" y="1020809"/>
            <a:ext cx="11014553" cy="5755422"/>
          </a:xfrm>
          <a:prstGeom prst="rect">
            <a:avLst/>
          </a:prstGeom>
          <a:noFill/>
        </p:spPr>
        <p:txBody>
          <a:bodyPr wrap="square">
            <a:spAutoFit/>
          </a:bodyPr>
          <a:lstStyle/>
          <a:p>
            <a:pPr>
              <a:buClrTx/>
              <a:buFontTx/>
              <a:buNone/>
            </a:pPr>
            <a:r>
              <a:rPr lang="en-US" sz="1600" kern="1200" dirty="0">
                <a:solidFill>
                  <a:prstClr val="black"/>
                </a:solidFill>
                <a:latin typeface="Calibri"/>
                <a:ea typeface="+mn-ea"/>
                <a:cs typeface="+mn-cs"/>
              </a:rPr>
              <a:t>[</a:t>
            </a:r>
            <a:r>
              <a:rPr lang="en-US" sz="1600" kern="1200" dirty="0" err="1">
                <a:solidFill>
                  <a:prstClr val="black"/>
                </a:solidFill>
                <a:latin typeface="Calibri"/>
                <a:ea typeface="+mn-ea"/>
                <a:cs typeface="+mn-cs"/>
              </a:rPr>
              <a:t>root@gateway</a:t>
            </a:r>
            <a:r>
              <a:rPr lang="en-US" sz="1600" kern="1200" dirty="0">
                <a:solidFill>
                  <a:prstClr val="black"/>
                </a:solidFill>
                <a:latin typeface="Calibri"/>
                <a:ea typeface="+mn-ea"/>
                <a:cs typeface="+mn-cs"/>
              </a:rPr>
              <a:t> </a:t>
            </a:r>
            <a:r>
              <a:rPr lang="en-US" sz="1600" kern="1200" dirty="0" err="1">
                <a:solidFill>
                  <a:prstClr val="black"/>
                </a:solidFill>
                <a:latin typeface="Calibri"/>
                <a:ea typeface="+mn-ea"/>
                <a:cs typeface="+mn-cs"/>
              </a:rPr>
              <a:t>testme</a:t>
            </a:r>
            <a:r>
              <a:rPr lang="en-US" sz="1600" kern="1200" dirty="0">
                <a:solidFill>
                  <a:prstClr val="black"/>
                </a:solidFill>
                <a:latin typeface="Calibri"/>
                <a:ea typeface="+mn-ea"/>
                <a:cs typeface="+mn-cs"/>
              </a:rPr>
              <a:t>]# ls -li</a:t>
            </a:r>
          </a:p>
          <a:p>
            <a:pPr>
              <a:buClrTx/>
              <a:buFontTx/>
              <a:buNone/>
            </a:pPr>
            <a:r>
              <a:rPr lang="ru-RU" sz="1600" kern="1200" dirty="0" smtClean="0">
                <a:solidFill>
                  <a:prstClr val="black"/>
                </a:solidFill>
                <a:latin typeface="Calibri"/>
                <a:ea typeface="+mn-ea"/>
                <a:cs typeface="+mn-cs"/>
              </a:rPr>
              <a:t>2621574 </a:t>
            </a:r>
            <a:r>
              <a:rPr lang="ru-RU" sz="1600" kern="1200" dirty="0">
                <a:solidFill>
                  <a:prstClr val="black"/>
                </a:solidFill>
                <a:latin typeface="Calibri"/>
                <a:ea typeface="+mn-ea"/>
                <a:cs typeface="+mn-cs"/>
              </a:rPr>
              <a:t>-</a:t>
            </a:r>
            <a:r>
              <a:rPr lang="en-US" sz="1600" kern="1200" dirty="0" err="1">
                <a:solidFill>
                  <a:prstClr val="black"/>
                </a:solidFill>
                <a:latin typeface="Calibri"/>
                <a:ea typeface="+mn-ea"/>
                <a:cs typeface="+mn-cs"/>
              </a:rPr>
              <a:t>rw</a:t>
            </a:r>
            <a:r>
              <a:rPr lang="en-US" sz="1600" kern="1200" dirty="0">
                <a:solidFill>
                  <a:prstClr val="black"/>
                </a:solidFill>
                <a:latin typeface="Calibri"/>
                <a:ea typeface="+mn-ea"/>
                <a:cs typeface="+mn-cs"/>
              </a:rPr>
              <a:t>-r--r-- 1 root </a:t>
            </a:r>
            <a:r>
              <a:rPr lang="en-US" sz="1600" kern="1200" dirty="0" err="1">
                <a:solidFill>
                  <a:prstClr val="black"/>
                </a:solidFill>
                <a:latin typeface="Calibri"/>
                <a:ea typeface="+mn-ea"/>
                <a:cs typeface="+mn-cs"/>
              </a:rPr>
              <a:t>root</a:t>
            </a:r>
            <a:r>
              <a:rPr lang="en-US" sz="1600" kern="1200" dirty="0">
                <a:solidFill>
                  <a:prstClr val="black"/>
                </a:solidFill>
                <a:latin typeface="Calibri"/>
                <a:ea typeface="+mn-ea"/>
                <a:cs typeface="+mn-cs"/>
              </a:rPr>
              <a:t> </a:t>
            </a:r>
            <a:r>
              <a:rPr lang="en-US" sz="1600" kern="1200" dirty="0" smtClean="0">
                <a:solidFill>
                  <a:prstClr val="black"/>
                </a:solidFill>
                <a:latin typeface="Calibri"/>
                <a:ea typeface="+mn-ea"/>
                <a:cs typeface="+mn-cs"/>
              </a:rPr>
              <a:t>10 </a:t>
            </a:r>
            <a:r>
              <a:rPr lang="ru-RU" sz="1600" kern="1200" dirty="0" err="1">
                <a:solidFill>
                  <a:prstClr val="black"/>
                </a:solidFill>
                <a:latin typeface="Calibri"/>
                <a:ea typeface="+mn-ea"/>
                <a:cs typeface="+mn-cs"/>
              </a:rPr>
              <a:t>Мар</a:t>
            </a:r>
            <a:r>
              <a:rPr lang="ru-RU" sz="1600" kern="1200" dirty="0">
                <a:solidFill>
                  <a:prstClr val="black"/>
                </a:solidFill>
                <a:latin typeface="Calibri"/>
                <a:ea typeface="+mn-ea"/>
                <a:cs typeface="+mn-cs"/>
              </a:rPr>
              <a:t> </a:t>
            </a:r>
            <a:r>
              <a:rPr lang="ru-RU" sz="1600" kern="1200" dirty="0" smtClean="0">
                <a:solidFill>
                  <a:prstClr val="black"/>
                </a:solidFill>
                <a:latin typeface="Calibri"/>
                <a:ea typeface="+mn-ea"/>
                <a:cs typeface="+mn-cs"/>
              </a:rPr>
              <a:t>1</a:t>
            </a:r>
            <a:r>
              <a:rPr lang="en-US" sz="1600" kern="1200" dirty="0" smtClean="0">
                <a:solidFill>
                  <a:prstClr val="black"/>
                </a:solidFill>
                <a:latin typeface="Calibri"/>
                <a:ea typeface="+mn-ea"/>
                <a:cs typeface="+mn-cs"/>
              </a:rPr>
              <a:t>2</a:t>
            </a:r>
            <a:r>
              <a:rPr lang="ru-RU" sz="1600" kern="1200" dirty="0" smtClean="0">
                <a:solidFill>
                  <a:prstClr val="black"/>
                </a:solidFill>
                <a:latin typeface="Calibri"/>
                <a:ea typeface="+mn-ea"/>
                <a:cs typeface="+mn-cs"/>
              </a:rPr>
              <a:t> </a:t>
            </a:r>
            <a:r>
              <a:rPr lang="ru-RU" sz="1600" kern="1200" dirty="0">
                <a:solidFill>
                  <a:prstClr val="black"/>
                </a:solidFill>
                <a:latin typeface="Calibri"/>
                <a:ea typeface="+mn-ea"/>
                <a:cs typeface="+mn-cs"/>
              </a:rPr>
              <a:t>08:22 </a:t>
            </a:r>
            <a:r>
              <a:rPr lang="en-US" sz="1600" kern="1200" dirty="0">
                <a:solidFill>
                  <a:prstClr val="black"/>
                </a:solidFill>
                <a:latin typeface="Calibri"/>
                <a:ea typeface="+mn-ea"/>
                <a:cs typeface="+mn-cs"/>
              </a:rPr>
              <a:t>hardlink.txt</a:t>
            </a:r>
          </a:p>
          <a:p>
            <a:pPr>
              <a:buClrTx/>
              <a:buFontTx/>
              <a:buNone/>
            </a:pPr>
            <a:r>
              <a:rPr lang="en-US" sz="1600" kern="1200" dirty="0">
                <a:solidFill>
                  <a:prstClr val="black"/>
                </a:solidFill>
                <a:latin typeface="Calibri"/>
                <a:ea typeface="+mn-ea"/>
                <a:cs typeface="+mn-cs"/>
              </a:rPr>
              <a:t>2621609 </a:t>
            </a:r>
            <a:r>
              <a:rPr lang="en-US" sz="1600" kern="1200" dirty="0" err="1">
                <a:solidFill>
                  <a:prstClr val="black"/>
                </a:solidFill>
                <a:latin typeface="Calibri"/>
                <a:ea typeface="+mn-ea"/>
                <a:cs typeface="+mn-cs"/>
              </a:rPr>
              <a:t>lrwxrwxrwx</a:t>
            </a:r>
            <a:r>
              <a:rPr lang="en-US" sz="1600" kern="1200" dirty="0">
                <a:solidFill>
                  <a:prstClr val="black"/>
                </a:solidFill>
                <a:latin typeface="Calibri"/>
                <a:ea typeface="+mn-ea"/>
                <a:cs typeface="+mn-cs"/>
              </a:rPr>
              <a:t> 1 root </a:t>
            </a:r>
            <a:r>
              <a:rPr lang="en-US" sz="1600" kern="1200" dirty="0" err="1">
                <a:solidFill>
                  <a:prstClr val="black"/>
                </a:solidFill>
                <a:latin typeface="Calibri"/>
                <a:ea typeface="+mn-ea"/>
                <a:cs typeface="+mn-cs"/>
              </a:rPr>
              <a:t>root</a:t>
            </a:r>
            <a:r>
              <a:rPr lang="en-US" sz="1600" kern="1200" dirty="0">
                <a:solidFill>
                  <a:prstClr val="black"/>
                </a:solidFill>
                <a:latin typeface="Calibri"/>
                <a:ea typeface="+mn-ea"/>
                <a:cs typeface="+mn-cs"/>
              </a:rPr>
              <a:t> </a:t>
            </a:r>
            <a:r>
              <a:rPr lang="en-US" sz="1600" kern="1200" dirty="0" smtClean="0">
                <a:solidFill>
                  <a:prstClr val="black"/>
                </a:solidFill>
                <a:latin typeface="Calibri"/>
                <a:ea typeface="+mn-ea"/>
                <a:cs typeface="+mn-cs"/>
              </a:rPr>
              <a:t>10 </a:t>
            </a:r>
            <a:r>
              <a:rPr lang="ru-RU" sz="1600" kern="1200" dirty="0" err="1">
                <a:solidFill>
                  <a:prstClr val="black"/>
                </a:solidFill>
                <a:latin typeface="Calibri"/>
                <a:ea typeface="+mn-ea"/>
                <a:cs typeface="+mn-cs"/>
              </a:rPr>
              <a:t>Мар</a:t>
            </a:r>
            <a:r>
              <a:rPr lang="ru-RU" sz="1600" kern="1200" dirty="0">
                <a:solidFill>
                  <a:prstClr val="black"/>
                </a:solidFill>
                <a:latin typeface="Calibri"/>
                <a:ea typeface="+mn-ea"/>
                <a:cs typeface="+mn-cs"/>
              </a:rPr>
              <a:t> </a:t>
            </a:r>
            <a:r>
              <a:rPr lang="ru-RU" sz="1600" kern="1200" dirty="0" smtClean="0">
                <a:solidFill>
                  <a:prstClr val="black"/>
                </a:solidFill>
                <a:latin typeface="Calibri"/>
                <a:ea typeface="+mn-ea"/>
                <a:cs typeface="+mn-cs"/>
              </a:rPr>
              <a:t>1</a:t>
            </a:r>
            <a:r>
              <a:rPr lang="en-US" sz="1600" kern="1200" dirty="0" smtClean="0">
                <a:solidFill>
                  <a:prstClr val="black"/>
                </a:solidFill>
                <a:latin typeface="Calibri"/>
                <a:ea typeface="+mn-ea"/>
                <a:cs typeface="+mn-cs"/>
              </a:rPr>
              <a:t>2</a:t>
            </a:r>
            <a:r>
              <a:rPr lang="ru-RU" sz="1600" kern="1200" dirty="0" smtClean="0">
                <a:solidFill>
                  <a:prstClr val="black"/>
                </a:solidFill>
                <a:latin typeface="Calibri"/>
                <a:ea typeface="+mn-ea"/>
                <a:cs typeface="+mn-cs"/>
              </a:rPr>
              <a:t> </a:t>
            </a:r>
            <a:r>
              <a:rPr lang="ru-RU" sz="1600" kern="1200" dirty="0">
                <a:solidFill>
                  <a:prstClr val="black"/>
                </a:solidFill>
                <a:latin typeface="Calibri"/>
                <a:ea typeface="+mn-ea"/>
                <a:cs typeface="+mn-cs"/>
              </a:rPr>
              <a:t>08:01 </a:t>
            </a:r>
            <a:r>
              <a:rPr lang="en-US" sz="1600" kern="1200" dirty="0">
                <a:solidFill>
                  <a:srgbClr val="FF0000"/>
                </a:solidFill>
                <a:latin typeface="Calibri"/>
                <a:ea typeface="+mn-ea"/>
                <a:cs typeface="+mn-cs"/>
              </a:rPr>
              <a:t>softlink.txt</a:t>
            </a:r>
            <a:r>
              <a:rPr lang="en-US" sz="1600" kern="1200" dirty="0">
                <a:solidFill>
                  <a:prstClr val="black"/>
                </a:solidFill>
                <a:latin typeface="Calibri"/>
                <a:ea typeface="+mn-ea"/>
                <a:cs typeface="+mn-cs"/>
              </a:rPr>
              <a:t> -&gt; </a:t>
            </a:r>
            <a:r>
              <a:rPr lang="en-US" sz="1600" strike="sngStrike" kern="1200" dirty="0" smtClean="0">
                <a:solidFill>
                  <a:srgbClr val="FF0000"/>
                </a:solidFill>
                <a:latin typeface="Calibri"/>
                <a:ea typeface="+mn-ea"/>
                <a:cs typeface="+mn-cs"/>
              </a:rPr>
              <a:t>file.tx</a:t>
            </a:r>
            <a:r>
              <a:rPr lang="en-US" sz="1600" kern="1200" dirty="0" smtClean="0">
                <a:solidFill>
                  <a:srgbClr val="FF0000"/>
                </a:solidFill>
                <a:latin typeface="Calibri"/>
                <a:ea typeface="+mn-ea"/>
                <a:cs typeface="+mn-cs"/>
              </a:rPr>
              <a:t>t</a:t>
            </a:r>
          </a:p>
          <a:p>
            <a:pPr>
              <a:buClrTx/>
              <a:buFontTx/>
              <a:buNone/>
            </a:pPr>
            <a:r>
              <a:rPr lang="en-US" sz="1600" kern="1200" dirty="0" smtClean="0">
                <a:solidFill>
                  <a:prstClr val="black"/>
                </a:solidFill>
                <a:latin typeface="Calibri"/>
                <a:ea typeface="+mn-ea"/>
                <a:cs typeface="+mn-cs"/>
              </a:rPr>
              <a:t>[</a:t>
            </a:r>
            <a:r>
              <a:rPr lang="en-US" sz="1600" kern="1200" dirty="0" err="1">
                <a:solidFill>
                  <a:prstClr val="black"/>
                </a:solidFill>
                <a:latin typeface="Calibri"/>
                <a:ea typeface="+mn-ea"/>
                <a:cs typeface="+mn-cs"/>
              </a:rPr>
              <a:t>root@gateway</a:t>
            </a:r>
            <a:r>
              <a:rPr lang="en-US" sz="1600" kern="1200" dirty="0">
                <a:solidFill>
                  <a:prstClr val="black"/>
                </a:solidFill>
                <a:latin typeface="Calibri"/>
                <a:ea typeface="+mn-ea"/>
                <a:cs typeface="+mn-cs"/>
              </a:rPr>
              <a:t> </a:t>
            </a:r>
            <a:r>
              <a:rPr lang="en-US" sz="1600" kern="1200" dirty="0" err="1">
                <a:solidFill>
                  <a:prstClr val="black"/>
                </a:solidFill>
                <a:latin typeface="Calibri"/>
                <a:ea typeface="+mn-ea"/>
                <a:cs typeface="+mn-cs"/>
              </a:rPr>
              <a:t>testme</a:t>
            </a:r>
            <a:r>
              <a:rPr lang="en-US" sz="1600" kern="1200" dirty="0">
                <a:solidFill>
                  <a:prstClr val="black"/>
                </a:solidFill>
                <a:latin typeface="Calibri"/>
                <a:ea typeface="+mn-ea"/>
                <a:cs typeface="+mn-cs"/>
              </a:rPr>
              <a:t>]# cat hardlink.txt</a:t>
            </a:r>
          </a:p>
          <a:p>
            <a:pPr>
              <a:buClrTx/>
              <a:buFontTx/>
              <a:buNone/>
            </a:pPr>
            <a:r>
              <a:rPr lang="en-US" sz="1600" kern="1200" dirty="0">
                <a:solidFill>
                  <a:prstClr val="black"/>
                </a:solidFill>
                <a:latin typeface="Calibri"/>
                <a:ea typeface="+mn-ea"/>
                <a:cs typeface="+mn-cs"/>
              </a:rPr>
              <a:t>content</a:t>
            </a:r>
          </a:p>
          <a:p>
            <a:pPr>
              <a:buClrTx/>
              <a:buFontTx/>
              <a:buNone/>
            </a:pPr>
            <a:r>
              <a:rPr lang="en-US" sz="1600" kern="1200" dirty="0">
                <a:solidFill>
                  <a:prstClr val="black"/>
                </a:solidFill>
                <a:latin typeface="Calibri"/>
                <a:ea typeface="+mn-ea"/>
                <a:cs typeface="+mn-cs"/>
              </a:rPr>
              <a:t>[</a:t>
            </a:r>
            <a:r>
              <a:rPr lang="en-US" sz="1600" kern="1200" dirty="0" err="1">
                <a:solidFill>
                  <a:prstClr val="black"/>
                </a:solidFill>
                <a:latin typeface="Calibri"/>
                <a:ea typeface="+mn-ea"/>
                <a:cs typeface="+mn-cs"/>
              </a:rPr>
              <a:t>root@gateway</a:t>
            </a:r>
            <a:r>
              <a:rPr lang="en-US" sz="1600" kern="1200" dirty="0">
                <a:solidFill>
                  <a:prstClr val="black"/>
                </a:solidFill>
                <a:latin typeface="Calibri"/>
                <a:ea typeface="+mn-ea"/>
                <a:cs typeface="+mn-cs"/>
              </a:rPr>
              <a:t> </a:t>
            </a:r>
            <a:r>
              <a:rPr lang="en-US" sz="1600" kern="1200" dirty="0" err="1">
                <a:solidFill>
                  <a:prstClr val="black"/>
                </a:solidFill>
                <a:latin typeface="Calibri"/>
                <a:ea typeface="+mn-ea"/>
                <a:cs typeface="+mn-cs"/>
              </a:rPr>
              <a:t>testme</a:t>
            </a:r>
            <a:r>
              <a:rPr lang="en-US" sz="1600" kern="1200" dirty="0">
                <a:solidFill>
                  <a:prstClr val="black"/>
                </a:solidFill>
                <a:latin typeface="Calibri"/>
                <a:ea typeface="+mn-ea"/>
                <a:cs typeface="+mn-cs"/>
              </a:rPr>
              <a:t>]# cat softlink.txt</a:t>
            </a:r>
          </a:p>
          <a:p>
            <a:pPr>
              <a:buClrTx/>
              <a:buFontTx/>
              <a:buNone/>
            </a:pPr>
            <a:r>
              <a:rPr lang="en-US" sz="1600" kern="1200" dirty="0">
                <a:solidFill>
                  <a:prstClr val="black"/>
                </a:solidFill>
                <a:latin typeface="Calibri"/>
                <a:ea typeface="+mn-ea"/>
                <a:cs typeface="+mn-cs"/>
              </a:rPr>
              <a:t>cat: softlink.txt: </a:t>
            </a:r>
            <a:r>
              <a:rPr lang="ru-RU" sz="1600" kern="1200" dirty="0">
                <a:solidFill>
                  <a:prstClr val="black"/>
                </a:solidFill>
                <a:latin typeface="Calibri"/>
                <a:ea typeface="+mn-ea"/>
                <a:cs typeface="+mn-cs"/>
              </a:rPr>
              <a:t>Нет такого файла или каталога</a:t>
            </a:r>
          </a:p>
          <a:p>
            <a:pPr>
              <a:buClrTx/>
              <a:buFontTx/>
              <a:buNone/>
            </a:pPr>
            <a:r>
              <a:rPr lang="ru-RU" sz="1600" kern="1200" dirty="0">
                <a:solidFill>
                  <a:prstClr val="black"/>
                </a:solidFill>
                <a:latin typeface="Calibri"/>
                <a:ea typeface="+mn-ea"/>
                <a:cs typeface="+mn-cs"/>
              </a:rPr>
              <a:t>[</a:t>
            </a:r>
            <a:r>
              <a:rPr lang="en-US" sz="1600" kern="1200" dirty="0" err="1">
                <a:solidFill>
                  <a:prstClr val="black"/>
                </a:solidFill>
                <a:latin typeface="Calibri"/>
                <a:ea typeface="+mn-ea"/>
                <a:cs typeface="+mn-cs"/>
              </a:rPr>
              <a:t>root@gateway</a:t>
            </a:r>
            <a:r>
              <a:rPr lang="en-US" sz="1600" kern="1200" dirty="0">
                <a:solidFill>
                  <a:prstClr val="black"/>
                </a:solidFill>
                <a:latin typeface="Calibri"/>
                <a:ea typeface="+mn-ea"/>
                <a:cs typeface="+mn-cs"/>
              </a:rPr>
              <a:t> </a:t>
            </a:r>
            <a:r>
              <a:rPr lang="en-US" sz="1600" kern="1200" dirty="0" err="1">
                <a:solidFill>
                  <a:prstClr val="black"/>
                </a:solidFill>
                <a:latin typeface="Calibri"/>
                <a:ea typeface="+mn-ea"/>
                <a:cs typeface="+mn-cs"/>
              </a:rPr>
              <a:t>testme</a:t>
            </a:r>
            <a:r>
              <a:rPr lang="en-US" sz="1600" kern="1200" dirty="0">
                <a:solidFill>
                  <a:prstClr val="black"/>
                </a:solidFill>
                <a:latin typeface="Calibri"/>
                <a:ea typeface="+mn-ea"/>
                <a:cs typeface="+mn-cs"/>
              </a:rPr>
              <a:t>]# stat hardlink.txt</a:t>
            </a:r>
          </a:p>
          <a:p>
            <a:pPr>
              <a:buClrTx/>
              <a:buFontTx/>
              <a:buNone/>
            </a:pPr>
            <a:r>
              <a:rPr lang="en-US" sz="1600" kern="1200" dirty="0">
                <a:solidFill>
                  <a:prstClr val="black"/>
                </a:solidFill>
                <a:latin typeface="Calibri"/>
                <a:ea typeface="+mn-ea"/>
                <a:cs typeface="+mn-cs"/>
              </a:rPr>
              <a:t>  File: «hardlink.txt»</a:t>
            </a:r>
          </a:p>
          <a:p>
            <a:pPr>
              <a:buClrTx/>
              <a:buFontTx/>
              <a:buNone/>
            </a:pPr>
            <a:r>
              <a:rPr lang="en-US" sz="1600" kern="1200" dirty="0">
                <a:solidFill>
                  <a:prstClr val="black"/>
                </a:solidFill>
                <a:latin typeface="Calibri"/>
                <a:ea typeface="+mn-ea"/>
                <a:cs typeface="+mn-cs"/>
              </a:rPr>
              <a:t>  Size: 8               Blocks: 8          IO Block: 4096   </a:t>
            </a:r>
            <a:r>
              <a:rPr lang="ru-RU" sz="1600" kern="1200" dirty="0">
                <a:solidFill>
                  <a:prstClr val="black"/>
                </a:solidFill>
                <a:latin typeface="Calibri"/>
                <a:ea typeface="+mn-ea"/>
                <a:cs typeface="+mn-cs"/>
              </a:rPr>
              <a:t>обычный файл</a:t>
            </a:r>
          </a:p>
          <a:p>
            <a:pPr>
              <a:buClrTx/>
              <a:buFontTx/>
              <a:buNone/>
            </a:pPr>
            <a:r>
              <a:rPr lang="en-US" sz="1600" kern="1200" dirty="0">
                <a:solidFill>
                  <a:prstClr val="black"/>
                </a:solidFill>
                <a:latin typeface="Calibri"/>
                <a:ea typeface="+mn-ea"/>
                <a:cs typeface="+mn-cs"/>
              </a:rPr>
              <a:t>Device: fd00h/64768d    </a:t>
            </a:r>
            <a:r>
              <a:rPr lang="en-US" sz="1600" kern="1200" dirty="0" err="1">
                <a:solidFill>
                  <a:prstClr val="black"/>
                </a:solidFill>
                <a:latin typeface="Calibri"/>
                <a:ea typeface="+mn-ea"/>
                <a:cs typeface="+mn-cs"/>
              </a:rPr>
              <a:t>Inode</a:t>
            </a:r>
            <a:r>
              <a:rPr lang="en-US" sz="1600" kern="1200" dirty="0">
                <a:solidFill>
                  <a:prstClr val="black"/>
                </a:solidFill>
                <a:latin typeface="Calibri"/>
                <a:ea typeface="+mn-ea"/>
                <a:cs typeface="+mn-cs"/>
              </a:rPr>
              <a:t>: 2621574     Links: 1</a:t>
            </a:r>
          </a:p>
          <a:p>
            <a:pPr>
              <a:buClrTx/>
              <a:buFontTx/>
              <a:buNone/>
            </a:pPr>
            <a:r>
              <a:rPr lang="en-US" sz="1600" kern="1200" dirty="0">
                <a:solidFill>
                  <a:prstClr val="black"/>
                </a:solidFill>
                <a:latin typeface="Calibri"/>
                <a:ea typeface="+mn-ea"/>
                <a:cs typeface="+mn-cs"/>
              </a:rPr>
              <a:t>Access: (0644/-</a:t>
            </a:r>
            <a:r>
              <a:rPr lang="en-US" sz="1600" kern="1200" dirty="0" err="1">
                <a:solidFill>
                  <a:prstClr val="black"/>
                </a:solidFill>
                <a:latin typeface="Calibri"/>
                <a:ea typeface="+mn-ea"/>
                <a:cs typeface="+mn-cs"/>
              </a:rPr>
              <a:t>rw</a:t>
            </a:r>
            <a:r>
              <a:rPr lang="en-US" sz="1600" kern="1200" dirty="0">
                <a:solidFill>
                  <a:prstClr val="black"/>
                </a:solidFill>
                <a:latin typeface="Calibri"/>
                <a:ea typeface="+mn-ea"/>
                <a:cs typeface="+mn-cs"/>
              </a:rPr>
              <a:t>-r--r--)  </a:t>
            </a:r>
            <a:r>
              <a:rPr lang="en-US" sz="1600" kern="1200" dirty="0" err="1">
                <a:solidFill>
                  <a:prstClr val="black"/>
                </a:solidFill>
                <a:latin typeface="Calibri"/>
                <a:ea typeface="+mn-ea"/>
                <a:cs typeface="+mn-cs"/>
              </a:rPr>
              <a:t>Uid</a:t>
            </a:r>
            <a:r>
              <a:rPr lang="en-US" sz="1600" kern="1200" dirty="0">
                <a:solidFill>
                  <a:prstClr val="black"/>
                </a:solidFill>
                <a:latin typeface="Calibri"/>
                <a:ea typeface="+mn-ea"/>
                <a:cs typeface="+mn-cs"/>
              </a:rPr>
              <a:t>: (    0/    root)   </a:t>
            </a:r>
            <a:r>
              <a:rPr lang="en-US" sz="1600" kern="1200" dirty="0" err="1">
                <a:solidFill>
                  <a:prstClr val="black"/>
                </a:solidFill>
                <a:latin typeface="Calibri"/>
                <a:ea typeface="+mn-ea"/>
                <a:cs typeface="+mn-cs"/>
              </a:rPr>
              <a:t>Gid</a:t>
            </a:r>
            <a:r>
              <a:rPr lang="en-US" sz="1600" kern="1200" dirty="0">
                <a:solidFill>
                  <a:prstClr val="black"/>
                </a:solidFill>
                <a:latin typeface="Calibri"/>
                <a:ea typeface="+mn-ea"/>
                <a:cs typeface="+mn-cs"/>
              </a:rPr>
              <a:t>: (    0/    root)</a:t>
            </a:r>
          </a:p>
          <a:p>
            <a:pPr>
              <a:buClrTx/>
              <a:buFontTx/>
              <a:buNone/>
            </a:pPr>
            <a:r>
              <a:rPr lang="en-US" sz="1600" kern="1200" dirty="0">
                <a:solidFill>
                  <a:prstClr val="black"/>
                </a:solidFill>
                <a:latin typeface="Calibri"/>
                <a:ea typeface="+mn-ea"/>
                <a:cs typeface="+mn-cs"/>
              </a:rPr>
              <a:t>Access: </a:t>
            </a:r>
            <a:r>
              <a:rPr lang="en-US" sz="1600" kern="1200" dirty="0" smtClean="0">
                <a:solidFill>
                  <a:prstClr val="black"/>
                </a:solidFill>
                <a:latin typeface="Calibri"/>
                <a:ea typeface="+mn-ea"/>
                <a:cs typeface="+mn-cs"/>
              </a:rPr>
              <a:t>202</a:t>
            </a:r>
            <a:r>
              <a:rPr lang="ru-RU" sz="1600" kern="1200" dirty="0" smtClean="0">
                <a:solidFill>
                  <a:prstClr val="black"/>
                </a:solidFill>
                <a:latin typeface="Calibri"/>
                <a:ea typeface="+mn-ea"/>
                <a:cs typeface="+mn-cs"/>
              </a:rPr>
              <a:t>5</a:t>
            </a:r>
            <a:r>
              <a:rPr lang="en-US" sz="1600" kern="1200" dirty="0" smtClean="0">
                <a:solidFill>
                  <a:prstClr val="black"/>
                </a:solidFill>
                <a:latin typeface="Calibri"/>
                <a:ea typeface="+mn-ea"/>
                <a:cs typeface="+mn-cs"/>
              </a:rPr>
              <a:t>-03-1</a:t>
            </a:r>
            <a:r>
              <a:rPr lang="ru-RU" sz="1600" kern="1200" dirty="0" smtClean="0">
                <a:solidFill>
                  <a:prstClr val="black"/>
                </a:solidFill>
                <a:latin typeface="Calibri"/>
                <a:ea typeface="+mn-ea"/>
                <a:cs typeface="+mn-cs"/>
              </a:rPr>
              <a:t>0</a:t>
            </a:r>
            <a:r>
              <a:rPr lang="en-US" sz="1600" kern="1200" dirty="0" smtClean="0">
                <a:solidFill>
                  <a:prstClr val="black"/>
                </a:solidFill>
                <a:latin typeface="Calibri"/>
                <a:ea typeface="+mn-ea"/>
                <a:cs typeface="+mn-cs"/>
              </a:rPr>
              <a:t> </a:t>
            </a:r>
            <a:r>
              <a:rPr lang="en-US" sz="1600" kern="1200" dirty="0">
                <a:solidFill>
                  <a:prstClr val="black"/>
                </a:solidFill>
                <a:latin typeface="Calibri"/>
                <a:ea typeface="+mn-ea"/>
                <a:cs typeface="+mn-cs"/>
              </a:rPr>
              <a:t>09:14:36.130224326 +0700</a:t>
            </a:r>
          </a:p>
          <a:p>
            <a:pPr>
              <a:buClrTx/>
              <a:buFontTx/>
              <a:buNone/>
            </a:pPr>
            <a:r>
              <a:rPr lang="en-US" sz="1600" kern="1200" dirty="0">
                <a:solidFill>
                  <a:prstClr val="black"/>
                </a:solidFill>
                <a:latin typeface="Calibri"/>
                <a:ea typeface="+mn-ea"/>
                <a:cs typeface="+mn-cs"/>
              </a:rPr>
              <a:t>Modify: </a:t>
            </a:r>
            <a:r>
              <a:rPr lang="en-US" sz="1600" kern="1200" dirty="0" smtClean="0">
                <a:solidFill>
                  <a:prstClr val="black"/>
                </a:solidFill>
                <a:latin typeface="Calibri"/>
                <a:ea typeface="+mn-ea"/>
                <a:cs typeface="+mn-cs"/>
              </a:rPr>
              <a:t>202</a:t>
            </a:r>
            <a:r>
              <a:rPr lang="ru-RU" sz="1600" kern="1200" dirty="0" smtClean="0">
                <a:solidFill>
                  <a:prstClr val="black"/>
                </a:solidFill>
                <a:latin typeface="Calibri"/>
                <a:ea typeface="+mn-ea"/>
                <a:cs typeface="+mn-cs"/>
              </a:rPr>
              <a:t>5</a:t>
            </a:r>
            <a:r>
              <a:rPr lang="en-US" sz="1600" kern="1200" dirty="0" smtClean="0">
                <a:solidFill>
                  <a:prstClr val="black"/>
                </a:solidFill>
                <a:latin typeface="Calibri"/>
                <a:ea typeface="+mn-ea"/>
                <a:cs typeface="+mn-cs"/>
              </a:rPr>
              <a:t>-03-1</a:t>
            </a:r>
            <a:r>
              <a:rPr lang="ru-RU" sz="1600" kern="1200" dirty="0" smtClean="0">
                <a:solidFill>
                  <a:prstClr val="black"/>
                </a:solidFill>
                <a:latin typeface="Calibri"/>
                <a:ea typeface="+mn-ea"/>
                <a:cs typeface="+mn-cs"/>
              </a:rPr>
              <a:t>0</a:t>
            </a:r>
            <a:r>
              <a:rPr lang="en-US" sz="1600" kern="1200" dirty="0" smtClean="0">
                <a:solidFill>
                  <a:prstClr val="black"/>
                </a:solidFill>
                <a:latin typeface="Calibri"/>
                <a:ea typeface="+mn-ea"/>
                <a:cs typeface="+mn-cs"/>
              </a:rPr>
              <a:t> </a:t>
            </a:r>
            <a:r>
              <a:rPr lang="en-US" sz="1600" kern="1200" dirty="0">
                <a:solidFill>
                  <a:prstClr val="black"/>
                </a:solidFill>
                <a:latin typeface="Calibri"/>
                <a:ea typeface="+mn-ea"/>
                <a:cs typeface="+mn-cs"/>
              </a:rPr>
              <a:t>08:22:46.283111599 +0700</a:t>
            </a:r>
          </a:p>
          <a:p>
            <a:pPr>
              <a:buClrTx/>
              <a:buFontTx/>
              <a:buNone/>
            </a:pPr>
            <a:r>
              <a:rPr lang="en-US" sz="1600" kern="1200" dirty="0">
                <a:solidFill>
                  <a:prstClr val="black"/>
                </a:solidFill>
                <a:latin typeface="Calibri"/>
                <a:ea typeface="+mn-ea"/>
                <a:cs typeface="+mn-cs"/>
              </a:rPr>
              <a:t>Change: </a:t>
            </a:r>
            <a:r>
              <a:rPr lang="en-US" sz="1600" kern="1200" dirty="0" smtClean="0">
                <a:solidFill>
                  <a:prstClr val="black"/>
                </a:solidFill>
                <a:latin typeface="Calibri"/>
                <a:ea typeface="+mn-ea"/>
                <a:cs typeface="+mn-cs"/>
              </a:rPr>
              <a:t>202</a:t>
            </a:r>
            <a:r>
              <a:rPr lang="ru-RU" sz="1600" kern="1200" dirty="0" smtClean="0">
                <a:solidFill>
                  <a:prstClr val="black"/>
                </a:solidFill>
                <a:latin typeface="Calibri"/>
                <a:ea typeface="+mn-ea"/>
                <a:cs typeface="+mn-cs"/>
              </a:rPr>
              <a:t>5</a:t>
            </a:r>
            <a:r>
              <a:rPr lang="en-US" sz="1600" kern="1200" dirty="0" smtClean="0">
                <a:solidFill>
                  <a:prstClr val="black"/>
                </a:solidFill>
                <a:latin typeface="Calibri"/>
                <a:ea typeface="+mn-ea"/>
                <a:cs typeface="+mn-cs"/>
              </a:rPr>
              <a:t>-03-1</a:t>
            </a:r>
            <a:r>
              <a:rPr lang="ru-RU" sz="1600" kern="1200" dirty="0" smtClean="0">
                <a:solidFill>
                  <a:prstClr val="black"/>
                </a:solidFill>
                <a:latin typeface="Calibri"/>
                <a:ea typeface="+mn-ea"/>
                <a:cs typeface="+mn-cs"/>
              </a:rPr>
              <a:t>0</a:t>
            </a:r>
            <a:r>
              <a:rPr lang="en-US" sz="1600" kern="1200" dirty="0" smtClean="0">
                <a:solidFill>
                  <a:prstClr val="black"/>
                </a:solidFill>
                <a:latin typeface="Calibri"/>
                <a:ea typeface="+mn-ea"/>
                <a:cs typeface="+mn-cs"/>
              </a:rPr>
              <a:t> </a:t>
            </a:r>
            <a:r>
              <a:rPr lang="en-US" sz="1600" kern="1200" dirty="0">
                <a:solidFill>
                  <a:prstClr val="black"/>
                </a:solidFill>
                <a:latin typeface="Calibri"/>
                <a:ea typeface="+mn-ea"/>
                <a:cs typeface="+mn-cs"/>
              </a:rPr>
              <a:t>09:14:26.850508792 +0700</a:t>
            </a:r>
          </a:p>
          <a:p>
            <a:pPr>
              <a:buClrTx/>
              <a:buFontTx/>
              <a:buNone/>
            </a:pPr>
            <a:r>
              <a:rPr lang="en-US" sz="1600" kern="1200" dirty="0">
                <a:solidFill>
                  <a:prstClr val="black"/>
                </a:solidFill>
                <a:latin typeface="Calibri"/>
                <a:ea typeface="+mn-ea"/>
                <a:cs typeface="+mn-cs"/>
              </a:rPr>
              <a:t>[</a:t>
            </a:r>
            <a:r>
              <a:rPr lang="en-US" sz="1600" kern="1200" dirty="0" err="1">
                <a:solidFill>
                  <a:prstClr val="black"/>
                </a:solidFill>
                <a:latin typeface="Calibri"/>
                <a:ea typeface="+mn-ea"/>
                <a:cs typeface="+mn-cs"/>
              </a:rPr>
              <a:t>root@gateway</a:t>
            </a:r>
            <a:r>
              <a:rPr lang="en-US" sz="1600" kern="1200" dirty="0">
                <a:solidFill>
                  <a:prstClr val="black"/>
                </a:solidFill>
                <a:latin typeface="Calibri"/>
                <a:ea typeface="+mn-ea"/>
                <a:cs typeface="+mn-cs"/>
              </a:rPr>
              <a:t> </a:t>
            </a:r>
            <a:r>
              <a:rPr lang="en-US" sz="1600" kern="1200" dirty="0" err="1">
                <a:solidFill>
                  <a:prstClr val="black"/>
                </a:solidFill>
                <a:latin typeface="Calibri"/>
                <a:ea typeface="+mn-ea"/>
                <a:cs typeface="+mn-cs"/>
              </a:rPr>
              <a:t>testme</a:t>
            </a:r>
            <a:r>
              <a:rPr lang="en-US" sz="1600" kern="1200" dirty="0">
                <a:solidFill>
                  <a:prstClr val="black"/>
                </a:solidFill>
                <a:latin typeface="Calibri"/>
                <a:ea typeface="+mn-ea"/>
                <a:cs typeface="+mn-cs"/>
              </a:rPr>
              <a:t>]# stat softlink.txt</a:t>
            </a:r>
          </a:p>
          <a:p>
            <a:pPr>
              <a:buClrTx/>
              <a:buFontTx/>
              <a:buNone/>
            </a:pPr>
            <a:r>
              <a:rPr lang="en-US" sz="1600" kern="1200" dirty="0">
                <a:solidFill>
                  <a:prstClr val="black"/>
                </a:solidFill>
                <a:latin typeface="Calibri"/>
                <a:ea typeface="+mn-ea"/>
                <a:cs typeface="+mn-cs"/>
              </a:rPr>
              <a:t>  File: «softlink.txt» -&gt; «file.txt»</a:t>
            </a:r>
          </a:p>
          <a:p>
            <a:pPr>
              <a:buClrTx/>
              <a:buFontTx/>
              <a:buNone/>
            </a:pPr>
            <a:r>
              <a:rPr lang="en-US" sz="1600" kern="1200" dirty="0">
                <a:solidFill>
                  <a:prstClr val="black"/>
                </a:solidFill>
                <a:latin typeface="Calibri"/>
                <a:ea typeface="+mn-ea"/>
                <a:cs typeface="+mn-cs"/>
              </a:rPr>
              <a:t>  Size: 8               Blocks: 0          IO Block: 4096   </a:t>
            </a:r>
            <a:r>
              <a:rPr lang="ru-RU" sz="1600" kern="1200" dirty="0">
                <a:solidFill>
                  <a:prstClr val="black"/>
                </a:solidFill>
                <a:latin typeface="Calibri"/>
                <a:ea typeface="+mn-ea"/>
                <a:cs typeface="+mn-cs"/>
              </a:rPr>
              <a:t>символьная ссылка</a:t>
            </a:r>
          </a:p>
          <a:p>
            <a:pPr>
              <a:buClrTx/>
              <a:buFontTx/>
              <a:buNone/>
            </a:pPr>
            <a:r>
              <a:rPr lang="en-US" sz="1600" kern="1200" dirty="0">
                <a:solidFill>
                  <a:prstClr val="black"/>
                </a:solidFill>
                <a:latin typeface="Calibri"/>
                <a:ea typeface="+mn-ea"/>
                <a:cs typeface="+mn-cs"/>
              </a:rPr>
              <a:t>Device: fd00h/64768d    </a:t>
            </a:r>
            <a:r>
              <a:rPr lang="en-US" sz="1600" kern="1200" dirty="0" err="1">
                <a:solidFill>
                  <a:prstClr val="black"/>
                </a:solidFill>
                <a:latin typeface="Calibri"/>
                <a:ea typeface="+mn-ea"/>
                <a:cs typeface="+mn-cs"/>
              </a:rPr>
              <a:t>Inode</a:t>
            </a:r>
            <a:r>
              <a:rPr lang="en-US" sz="1600" kern="1200" dirty="0">
                <a:solidFill>
                  <a:prstClr val="black"/>
                </a:solidFill>
                <a:latin typeface="Calibri"/>
                <a:ea typeface="+mn-ea"/>
                <a:cs typeface="+mn-cs"/>
              </a:rPr>
              <a:t>: 2621609     Links: 1</a:t>
            </a:r>
          </a:p>
          <a:p>
            <a:pPr>
              <a:buClrTx/>
              <a:buFontTx/>
              <a:buNone/>
            </a:pPr>
            <a:r>
              <a:rPr lang="en-US" sz="1600" kern="1200" dirty="0">
                <a:solidFill>
                  <a:prstClr val="black"/>
                </a:solidFill>
                <a:latin typeface="Calibri"/>
                <a:ea typeface="+mn-ea"/>
                <a:cs typeface="+mn-cs"/>
              </a:rPr>
              <a:t>Access: (0777/</a:t>
            </a:r>
            <a:r>
              <a:rPr lang="en-US" sz="1600" kern="1200" dirty="0" err="1">
                <a:solidFill>
                  <a:prstClr val="black"/>
                </a:solidFill>
                <a:latin typeface="Calibri"/>
                <a:ea typeface="+mn-ea"/>
                <a:cs typeface="+mn-cs"/>
              </a:rPr>
              <a:t>lrwxrwxrwx</a:t>
            </a:r>
            <a:r>
              <a:rPr lang="en-US" sz="1600" kern="1200" dirty="0">
                <a:solidFill>
                  <a:prstClr val="black"/>
                </a:solidFill>
                <a:latin typeface="Calibri"/>
                <a:ea typeface="+mn-ea"/>
                <a:cs typeface="+mn-cs"/>
              </a:rPr>
              <a:t>)  </a:t>
            </a:r>
            <a:r>
              <a:rPr lang="en-US" sz="1600" kern="1200" dirty="0" err="1">
                <a:solidFill>
                  <a:prstClr val="black"/>
                </a:solidFill>
                <a:latin typeface="Calibri"/>
                <a:ea typeface="+mn-ea"/>
                <a:cs typeface="+mn-cs"/>
              </a:rPr>
              <a:t>Uid</a:t>
            </a:r>
            <a:r>
              <a:rPr lang="en-US" sz="1600" kern="1200" dirty="0">
                <a:solidFill>
                  <a:prstClr val="black"/>
                </a:solidFill>
                <a:latin typeface="Calibri"/>
                <a:ea typeface="+mn-ea"/>
                <a:cs typeface="+mn-cs"/>
              </a:rPr>
              <a:t>: (    0/    root)   </a:t>
            </a:r>
            <a:r>
              <a:rPr lang="en-US" sz="1600" kern="1200" dirty="0" err="1">
                <a:solidFill>
                  <a:prstClr val="black"/>
                </a:solidFill>
                <a:latin typeface="Calibri"/>
                <a:ea typeface="+mn-ea"/>
                <a:cs typeface="+mn-cs"/>
              </a:rPr>
              <a:t>Gid</a:t>
            </a:r>
            <a:r>
              <a:rPr lang="en-US" sz="1600" kern="1200" dirty="0">
                <a:solidFill>
                  <a:prstClr val="black"/>
                </a:solidFill>
                <a:latin typeface="Calibri"/>
                <a:ea typeface="+mn-ea"/>
                <a:cs typeface="+mn-cs"/>
              </a:rPr>
              <a:t>: (    0/    root)</a:t>
            </a:r>
          </a:p>
          <a:p>
            <a:pPr>
              <a:buClrTx/>
              <a:buFontTx/>
              <a:buNone/>
            </a:pPr>
            <a:r>
              <a:rPr lang="en-US" sz="1600" kern="1200" dirty="0">
                <a:solidFill>
                  <a:prstClr val="black"/>
                </a:solidFill>
                <a:latin typeface="Calibri"/>
                <a:ea typeface="+mn-ea"/>
                <a:cs typeface="+mn-cs"/>
              </a:rPr>
              <a:t>Access: </a:t>
            </a:r>
            <a:r>
              <a:rPr lang="en-US" sz="1600" kern="1200" dirty="0" smtClean="0">
                <a:solidFill>
                  <a:prstClr val="black"/>
                </a:solidFill>
                <a:latin typeface="Calibri"/>
                <a:ea typeface="+mn-ea"/>
                <a:cs typeface="+mn-cs"/>
              </a:rPr>
              <a:t>202</a:t>
            </a:r>
            <a:r>
              <a:rPr lang="ru-RU" sz="1600" kern="1200" dirty="0" smtClean="0">
                <a:solidFill>
                  <a:prstClr val="black"/>
                </a:solidFill>
                <a:latin typeface="Calibri"/>
                <a:ea typeface="+mn-ea"/>
                <a:cs typeface="+mn-cs"/>
              </a:rPr>
              <a:t>5</a:t>
            </a:r>
            <a:r>
              <a:rPr lang="en-US" sz="1600" kern="1200" dirty="0" smtClean="0">
                <a:solidFill>
                  <a:prstClr val="black"/>
                </a:solidFill>
                <a:latin typeface="Calibri"/>
                <a:ea typeface="+mn-ea"/>
                <a:cs typeface="+mn-cs"/>
              </a:rPr>
              <a:t>-03-1</a:t>
            </a:r>
            <a:r>
              <a:rPr lang="ru-RU" sz="1600" kern="1200" dirty="0" smtClean="0">
                <a:solidFill>
                  <a:prstClr val="black"/>
                </a:solidFill>
                <a:latin typeface="Calibri"/>
                <a:ea typeface="+mn-ea"/>
                <a:cs typeface="+mn-cs"/>
              </a:rPr>
              <a:t>0</a:t>
            </a:r>
            <a:r>
              <a:rPr lang="en-US" sz="1600" kern="1200" dirty="0" smtClean="0">
                <a:solidFill>
                  <a:prstClr val="black"/>
                </a:solidFill>
                <a:latin typeface="Calibri"/>
                <a:ea typeface="+mn-ea"/>
                <a:cs typeface="+mn-cs"/>
              </a:rPr>
              <a:t> </a:t>
            </a:r>
            <a:r>
              <a:rPr lang="en-US" sz="1600" kern="1200" dirty="0">
                <a:solidFill>
                  <a:prstClr val="black"/>
                </a:solidFill>
                <a:latin typeface="Calibri"/>
                <a:ea typeface="+mn-ea"/>
                <a:cs typeface="+mn-cs"/>
              </a:rPr>
              <a:t>08:16:18.160879894 +0700</a:t>
            </a:r>
          </a:p>
          <a:p>
            <a:pPr>
              <a:buClrTx/>
              <a:buFontTx/>
              <a:buNone/>
            </a:pPr>
            <a:r>
              <a:rPr lang="en-US" sz="1600" kern="1200" dirty="0">
                <a:solidFill>
                  <a:prstClr val="black"/>
                </a:solidFill>
                <a:latin typeface="Calibri"/>
                <a:ea typeface="+mn-ea"/>
                <a:cs typeface="+mn-cs"/>
              </a:rPr>
              <a:t>Modify: </a:t>
            </a:r>
            <a:r>
              <a:rPr lang="en-US" sz="1600" kern="1200" dirty="0" smtClean="0">
                <a:solidFill>
                  <a:prstClr val="black"/>
                </a:solidFill>
                <a:latin typeface="Calibri"/>
                <a:ea typeface="+mn-ea"/>
                <a:cs typeface="+mn-cs"/>
              </a:rPr>
              <a:t>202</a:t>
            </a:r>
            <a:r>
              <a:rPr lang="ru-RU" sz="1600" kern="1200" dirty="0" smtClean="0">
                <a:solidFill>
                  <a:prstClr val="black"/>
                </a:solidFill>
                <a:latin typeface="Calibri"/>
                <a:ea typeface="+mn-ea"/>
                <a:cs typeface="+mn-cs"/>
              </a:rPr>
              <a:t>5</a:t>
            </a:r>
            <a:r>
              <a:rPr lang="en-US" sz="1600" kern="1200" dirty="0" smtClean="0">
                <a:solidFill>
                  <a:prstClr val="black"/>
                </a:solidFill>
                <a:latin typeface="Calibri"/>
                <a:ea typeface="+mn-ea"/>
                <a:cs typeface="+mn-cs"/>
              </a:rPr>
              <a:t>-03-1</a:t>
            </a:r>
            <a:r>
              <a:rPr lang="ru-RU" sz="1600" kern="1200" dirty="0" smtClean="0">
                <a:solidFill>
                  <a:prstClr val="black"/>
                </a:solidFill>
                <a:latin typeface="Calibri"/>
                <a:ea typeface="+mn-ea"/>
                <a:cs typeface="+mn-cs"/>
              </a:rPr>
              <a:t>0</a:t>
            </a:r>
            <a:r>
              <a:rPr lang="en-US" sz="1600" kern="1200" dirty="0" smtClean="0">
                <a:solidFill>
                  <a:prstClr val="black"/>
                </a:solidFill>
                <a:latin typeface="Calibri"/>
                <a:ea typeface="+mn-ea"/>
                <a:cs typeface="+mn-cs"/>
              </a:rPr>
              <a:t> </a:t>
            </a:r>
            <a:r>
              <a:rPr lang="en-US" sz="1600" kern="1200" dirty="0">
                <a:solidFill>
                  <a:prstClr val="black"/>
                </a:solidFill>
                <a:latin typeface="Calibri"/>
                <a:ea typeface="+mn-ea"/>
                <a:cs typeface="+mn-cs"/>
              </a:rPr>
              <a:t>08:01:04.832553257 +0700</a:t>
            </a:r>
          </a:p>
          <a:p>
            <a:pPr>
              <a:buClrTx/>
              <a:buFontTx/>
              <a:buNone/>
            </a:pPr>
            <a:r>
              <a:rPr lang="en-US" sz="1600" kern="1200" dirty="0">
                <a:solidFill>
                  <a:prstClr val="black"/>
                </a:solidFill>
                <a:latin typeface="Calibri"/>
                <a:ea typeface="+mn-ea"/>
                <a:cs typeface="+mn-cs"/>
              </a:rPr>
              <a:t>Change: </a:t>
            </a:r>
            <a:r>
              <a:rPr lang="en-US" sz="1600" kern="1200" dirty="0" smtClean="0">
                <a:solidFill>
                  <a:prstClr val="black"/>
                </a:solidFill>
                <a:latin typeface="Calibri"/>
                <a:ea typeface="+mn-ea"/>
                <a:cs typeface="+mn-cs"/>
              </a:rPr>
              <a:t>202</a:t>
            </a:r>
            <a:r>
              <a:rPr lang="ru-RU" sz="1600" kern="1200" dirty="0" smtClean="0">
                <a:solidFill>
                  <a:prstClr val="black"/>
                </a:solidFill>
                <a:latin typeface="Calibri"/>
                <a:ea typeface="+mn-ea"/>
                <a:cs typeface="+mn-cs"/>
              </a:rPr>
              <a:t>5</a:t>
            </a:r>
            <a:r>
              <a:rPr lang="en-US" sz="1600" kern="1200" dirty="0" smtClean="0">
                <a:solidFill>
                  <a:prstClr val="black"/>
                </a:solidFill>
                <a:latin typeface="Calibri"/>
                <a:ea typeface="+mn-ea"/>
                <a:cs typeface="+mn-cs"/>
              </a:rPr>
              <a:t>-03-1</a:t>
            </a:r>
            <a:r>
              <a:rPr lang="ru-RU" sz="1600" kern="1200" dirty="0" smtClean="0">
                <a:solidFill>
                  <a:prstClr val="black"/>
                </a:solidFill>
                <a:latin typeface="Calibri"/>
                <a:ea typeface="+mn-ea"/>
                <a:cs typeface="+mn-cs"/>
              </a:rPr>
              <a:t>0</a:t>
            </a:r>
            <a:r>
              <a:rPr lang="en-US" sz="1600" kern="1200" dirty="0" smtClean="0">
                <a:solidFill>
                  <a:prstClr val="black"/>
                </a:solidFill>
                <a:latin typeface="Calibri"/>
                <a:ea typeface="+mn-ea"/>
                <a:cs typeface="+mn-cs"/>
              </a:rPr>
              <a:t> </a:t>
            </a:r>
            <a:r>
              <a:rPr lang="en-US" sz="1600" kern="1200" dirty="0">
                <a:solidFill>
                  <a:prstClr val="black"/>
                </a:solidFill>
                <a:latin typeface="Calibri"/>
                <a:ea typeface="+mn-ea"/>
                <a:cs typeface="+mn-cs"/>
              </a:rPr>
              <a:t>08:16:18.156880023 +</a:t>
            </a:r>
            <a:r>
              <a:rPr lang="en-US" sz="1600" kern="1200" dirty="0" smtClean="0">
                <a:solidFill>
                  <a:prstClr val="black"/>
                </a:solidFill>
                <a:latin typeface="Calibri"/>
                <a:ea typeface="+mn-ea"/>
                <a:cs typeface="+mn-cs"/>
              </a:rPr>
              <a:t>0700</a:t>
            </a:r>
            <a:endParaRPr lang="en-US" sz="1600" kern="1200" dirty="0">
              <a:solidFill>
                <a:prstClr val="black"/>
              </a:solidFill>
              <a:latin typeface="Calibri"/>
              <a:ea typeface="+mn-ea"/>
              <a:cs typeface="+mn-cs"/>
            </a:endParaRPr>
          </a:p>
        </p:txBody>
      </p:sp>
      <p:sp>
        <p:nvSpPr>
          <p:cNvPr id="7" name="Номер слайда 6"/>
          <p:cNvSpPr>
            <a:spLocks noGrp="1"/>
          </p:cNvSpPr>
          <p:nvPr>
            <p:ph type="sldNum" sz="quarter" idx="12"/>
          </p:nvPr>
        </p:nvSpPr>
        <p:spPr/>
        <p:txBody>
          <a:bodyPr/>
          <a:lstStyle/>
          <a:p>
            <a:fld id="{725C68B6-61C2-468F-89AB-4B9F7531AA68}" type="slidenum">
              <a:rPr lang="ru-RU" smtClean="0"/>
              <a:pPr/>
              <a:t>35</a:t>
            </a:fld>
            <a:r>
              <a:rPr lang="en-US" smtClean="0"/>
              <a:t> / </a:t>
            </a:r>
            <a:r>
              <a:rPr lang="ru-RU" smtClean="0"/>
              <a:t>54</a:t>
            </a:r>
            <a:endParaRPr lang="ru-RU" dirty="0"/>
          </a:p>
        </p:txBody>
      </p:sp>
    </p:spTree>
    <p:extLst>
      <p:ext uri="{BB962C8B-B14F-4D97-AF65-F5344CB8AC3E}">
        <p14:creationId xmlns:p14="http://schemas.microsoft.com/office/powerpoint/2010/main" val="65397277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2"/>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ru-RU"/>
              <a:t>Различия между символической и жесткой ссылкой</a:t>
            </a:r>
            <a:endParaRPr/>
          </a:p>
        </p:txBody>
      </p:sp>
      <p:sp>
        <p:nvSpPr>
          <p:cNvPr id="385" name="Google Shape;385;p5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ru-RU" dirty="0">
                <a:latin typeface="Calibri" panose="020F0502020204030204" pitchFamily="34" charset="0"/>
                <a:ea typeface="Times New Roman"/>
                <a:cs typeface="Calibri" panose="020F0502020204030204" pitchFamily="34" charset="0"/>
                <a:sym typeface="Times New Roman"/>
              </a:rPr>
              <a:t>можно создать символическую ссылку на файл, который не существует, а сделать то же самое с жесткой ссылкой нельзя</a:t>
            </a:r>
            <a:endParaRPr dirty="0">
              <a:latin typeface="Calibri" panose="020F0502020204030204" pitchFamily="34" charset="0"/>
              <a:cs typeface="Calibri" panose="020F0502020204030204" pitchFamily="34" charset="0"/>
            </a:endParaRPr>
          </a:p>
          <a:p>
            <a:pPr marL="228600" lvl="0" indent="-228600" algn="l" rtl="0">
              <a:lnSpc>
                <a:spcPct val="90000"/>
              </a:lnSpc>
              <a:spcBef>
                <a:spcPts val="1000"/>
              </a:spcBef>
              <a:spcAft>
                <a:spcPts val="0"/>
              </a:spcAft>
              <a:buClr>
                <a:schemeClr val="dk1"/>
              </a:buClr>
              <a:buSzPts val="2800"/>
              <a:buChar char="•"/>
            </a:pPr>
            <a:r>
              <a:rPr lang="ru-RU" dirty="0" smtClean="0">
                <a:latin typeface="Calibri" panose="020F0502020204030204" pitchFamily="34" charset="0"/>
                <a:ea typeface="Times New Roman"/>
                <a:cs typeface="Calibri" panose="020F0502020204030204" pitchFamily="34" charset="0"/>
                <a:sym typeface="Times New Roman"/>
              </a:rPr>
              <a:t>с помощью </a:t>
            </a:r>
            <a:r>
              <a:rPr lang="ru-RU" dirty="0">
                <a:latin typeface="Calibri" panose="020F0502020204030204" pitchFamily="34" charset="0"/>
                <a:ea typeface="Times New Roman"/>
                <a:cs typeface="Calibri" panose="020F0502020204030204" pitchFamily="34" charset="0"/>
                <a:sym typeface="Times New Roman"/>
              </a:rPr>
              <a:t>символических ссылок просто установить, на какой файл они </a:t>
            </a:r>
            <a:r>
              <a:rPr lang="ru-RU" dirty="0" smtClean="0">
                <a:latin typeface="Calibri" panose="020F0502020204030204" pitchFamily="34" charset="0"/>
                <a:ea typeface="Times New Roman"/>
                <a:cs typeface="Calibri" panose="020F0502020204030204" pitchFamily="34" charset="0"/>
                <a:sym typeface="Times New Roman"/>
              </a:rPr>
              <a:t>ссылаются, </a:t>
            </a:r>
            <a:r>
              <a:rPr lang="ru-RU" dirty="0">
                <a:latin typeface="Calibri" panose="020F0502020204030204" pitchFamily="34" charset="0"/>
                <a:ea typeface="Times New Roman"/>
                <a:cs typeface="Calibri" panose="020F0502020204030204" pitchFamily="34" charset="0"/>
                <a:sym typeface="Times New Roman"/>
              </a:rPr>
              <a:t>а с жёсткими ссылками простого способа определить, какие ещё файлы связаны с данным индексным дескриптором, </a:t>
            </a:r>
            <a:r>
              <a:rPr lang="ru-RU" dirty="0" smtClean="0">
                <a:latin typeface="Calibri" panose="020F0502020204030204" pitchFamily="34" charset="0"/>
                <a:ea typeface="Times New Roman"/>
                <a:cs typeface="Calibri" panose="020F0502020204030204" pitchFamily="34" charset="0"/>
                <a:sym typeface="Times New Roman"/>
              </a:rPr>
              <a:t>нет</a:t>
            </a:r>
            <a:endParaRPr lang="en-US" dirty="0" smtClean="0">
              <a:latin typeface="Calibri" panose="020F0502020204030204" pitchFamily="34" charset="0"/>
              <a:ea typeface="Times New Roman"/>
              <a:cs typeface="Calibri" panose="020F0502020204030204" pitchFamily="34" charset="0"/>
              <a:sym typeface="Times New Roman"/>
            </a:endParaRPr>
          </a:p>
          <a:p>
            <a:pPr marL="228600" lvl="0" indent="-228600" algn="l" rtl="0">
              <a:lnSpc>
                <a:spcPct val="90000"/>
              </a:lnSpc>
              <a:spcBef>
                <a:spcPts val="1000"/>
              </a:spcBef>
              <a:spcAft>
                <a:spcPts val="0"/>
              </a:spcAft>
              <a:buClr>
                <a:schemeClr val="dk1"/>
              </a:buClr>
              <a:buSzPts val="2800"/>
              <a:buChar char="•"/>
            </a:pPr>
            <a:r>
              <a:rPr lang="ru-RU" dirty="0" smtClean="0">
                <a:latin typeface="Calibri" panose="020F0502020204030204" pitchFamily="34" charset="0"/>
                <a:cs typeface="Calibri" panose="020F0502020204030204" pitchFamily="34" charset="0"/>
                <a:sym typeface="Times New Roman"/>
              </a:rPr>
              <a:t>жесткая ссылка существует только в пределах файловой системы, в отличии от символической</a:t>
            </a:r>
            <a:endParaRPr dirty="0">
              <a:latin typeface="Calibri" panose="020F0502020204030204" pitchFamily="34" charset="0"/>
              <a:cs typeface="Calibri" panose="020F0502020204030204" pitchFamily="34" charset="0"/>
            </a:endParaRPr>
          </a:p>
          <a:p>
            <a:pPr marL="228600" lvl="0" indent="-50800" algn="l" rtl="0">
              <a:lnSpc>
                <a:spcPct val="90000"/>
              </a:lnSpc>
              <a:spcBef>
                <a:spcPts val="1000"/>
              </a:spcBef>
              <a:spcAft>
                <a:spcPts val="0"/>
              </a:spcAft>
              <a:buClr>
                <a:schemeClr val="dk1"/>
              </a:buClr>
              <a:buSzPts val="2800"/>
              <a:buNone/>
            </a:pPr>
            <a:endParaRPr dirty="0">
              <a:latin typeface="Calibri" panose="020F0502020204030204" pitchFamily="34" charset="0"/>
              <a:ea typeface="Times New Roman"/>
              <a:cs typeface="Calibri" panose="020F0502020204030204" pitchFamily="34" charset="0"/>
              <a:sym typeface="Times New Roman"/>
            </a:endParaRPr>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36</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54"/>
          <p:cNvSpPr txBox="1">
            <a:spLocks noGrp="1"/>
          </p:cNvSpPr>
          <p:nvPr>
            <p:ph type="title"/>
          </p:nvPr>
        </p:nvSpPr>
        <p:spPr>
          <a:xfrm>
            <a:off x="838200" y="18257"/>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ru-RU"/>
              <a:t>Значение дескриптора + ссылки</a:t>
            </a:r>
            <a:endParaRPr/>
          </a:p>
        </p:txBody>
      </p:sp>
      <p:sp>
        <p:nvSpPr>
          <p:cNvPr id="396" name="Google Shape;396;p54"/>
          <p:cNvSpPr txBox="1">
            <a:spLocks noGrp="1"/>
          </p:cNvSpPr>
          <p:nvPr>
            <p:ph type="body" idx="1"/>
          </p:nvPr>
        </p:nvSpPr>
        <p:spPr>
          <a:xfrm>
            <a:off x="426720" y="1195756"/>
            <a:ext cx="11338560" cy="5643991"/>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ru-RU" dirty="0"/>
              <a:t>Если несколько имен указывают на один и тот же индексный дескриптор (жёсткие ссылки), то все имена считаются эквивалентными. Первое созданное имя никаким особым положением не обладает. Это отличается от поведения похожих символьных ссылок, которые зависят от первоначального имени.</a:t>
            </a:r>
            <a:endParaRPr dirty="0"/>
          </a:p>
          <a:p>
            <a:pPr marL="228600" lvl="0" indent="-228600">
              <a:buSzPct val="100000"/>
            </a:pPr>
            <a:r>
              <a:rPr lang="ru-RU" dirty="0"/>
              <a:t>Индексный дескриптор может совсем не иметь </a:t>
            </a:r>
            <a:r>
              <a:rPr lang="ru-RU" dirty="0" smtClean="0"/>
              <a:t>ссылок</a:t>
            </a:r>
            <a:r>
              <a:rPr lang="en-US" dirty="0" smtClean="0"/>
              <a:t> (</a:t>
            </a:r>
            <a:r>
              <a:rPr lang="en-US" b="1" dirty="0" err="1" smtClean="0"/>
              <a:t>vfs_unlink</a:t>
            </a:r>
            <a:r>
              <a:rPr lang="en-US" dirty="0"/>
              <a:t>)</a:t>
            </a:r>
            <a:r>
              <a:rPr lang="ru-RU" dirty="0" smtClean="0"/>
              <a:t>. </a:t>
            </a:r>
            <a:r>
              <a:rPr lang="ru-RU" dirty="0"/>
              <a:t>Обычно такой файл должен быть удален с диска (именно поэтому программы типа </a:t>
            </a:r>
            <a:r>
              <a:rPr lang="ru-RU" dirty="0" err="1"/>
              <a:t>undelete</a:t>
            </a:r>
            <a:r>
              <a:rPr lang="ru-RU" dirty="0"/>
              <a:t> в </a:t>
            </a:r>
            <a:r>
              <a:rPr lang="ru-RU" dirty="0" err="1"/>
              <a:t>Unix</a:t>
            </a:r>
            <a:r>
              <a:rPr lang="ru-RU" dirty="0"/>
              <a:t> не позволяют установить точное имя удалённого файла), а его ресурсы должны освободиться (это нормальный процесс удаления файла), но если какие-либо процессы ещё не закрыли файл, то они могут удерживать доступ к нему, а файл будет окончательно удален только после того, как будет закрыто последнее обращение к нему. Это относится и к исполняемым копиям, которые удерживаются открытыми процессами, их выполняющими. По этой причине при обновлении программы рекомендуется удалять старую копию и создавать новый индексный дескриптор для обновлённой версии, чтобы никакие экземпляры старой версии не продолжали выполняться.</a:t>
            </a: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37</a:t>
            </a:fld>
            <a:r>
              <a:rPr lang="ru-RU" smtClean="0">
                <a:latin typeface="Arial"/>
                <a:cs typeface="Arial"/>
                <a:sym typeface="Arial"/>
              </a:rPr>
              <a:t> / 54</a:t>
            </a:r>
            <a:endParaRPr lang="ru-RU" dirty="0" smtClean="0">
              <a:latin typeface="Arial"/>
              <a:cs typeface="Arial"/>
              <a:sym typeface="Aria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title"/>
          </p:nvPr>
        </p:nvSpPr>
        <p:spPr/>
        <p:txBody>
          <a:bodyPr/>
          <a:lstStyle/>
          <a:p>
            <a:r>
              <a:rPr lang="ru-RU" dirty="0" smtClean="0"/>
              <a:t>Команды</a:t>
            </a:r>
            <a:endParaRPr lang="ru-RU" dirty="0"/>
          </a:p>
        </p:txBody>
      </p:sp>
      <p:sp>
        <p:nvSpPr>
          <p:cNvPr id="6" name="Текст 5"/>
          <p:cNvSpPr>
            <a:spLocks noGrp="1"/>
          </p:cNvSpPr>
          <p:nvPr>
            <p:ph type="body" idx="1"/>
          </p:nvPr>
        </p:nvSpPr>
        <p:spPr/>
        <p:txBody>
          <a:bodyPr/>
          <a:lstStyle/>
          <a:p>
            <a:endParaRPr lang="ru-RU"/>
          </a:p>
        </p:txBody>
      </p:sp>
      <p:sp>
        <p:nvSpPr>
          <p:cNvPr id="4" name="Номер слайда 3"/>
          <p:cNvSpPr>
            <a:spLocks noGrp="1"/>
          </p:cNvSpPr>
          <p:nvPr>
            <p:ph type="sldNum" idx="12"/>
          </p:nvPr>
        </p:nvSpPr>
        <p:spPr/>
        <p:txBody>
          <a:bodyPr/>
          <a:lstStyle/>
          <a:p>
            <a:fld id="{725C68B6-61C2-468F-89AB-4B9F7531AA68}" type="slidenum">
              <a:rPr lang="ru-RU" smtClean="0">
                <a:latin typeface="Arial"/>
                <a:cs typeface="Arial"/>
                <a:sym typeface="Arial"/>
              </a:rPr>
              <a:pPr/>
              <a:t>38</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10372568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5"/>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ru-RU"/>
              <a:t>Команды для ОС</a:t>
            </a:r>
            <a:endParaRPr/>
          </a:p>
        </p:txBody>
      </p:sp>
      <p:sp>
        <p:nvSpPr>
          <p:cNvPr id="169" name="Google Shape;169;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ru-RU" b="1" dirty="0" err="1">
                <a:latin typeface="Arial"/>
                <a:ea typeface="Arial"/>
                <a:cs typeface="Arial"/>
                <a:sym typeface="Arial"/>
              </a:rPr>
              <a:t>id</a:t>
            </a:r>
            <a:r>
              <a:rPr lang="ru-RU" b="0" dirty="0">
                <a:latin typeface="Arial"/>
                <a:ea typeface="Arial"/>
                <a:cs typeface="Arial"/>
                <a:sym typeface="Arial"/>
              </a:rPr>
              <a:t> — если вы хотите получить информацию о вашей учётной </a:t>
            </a:r>
            <a:r>
              <a:rPr lang="ru-RU" b="0" dirty="0" smtClean="0">
                <a:latin typeface="Arial"/>
                <a:ea typeface="Arial"/>
                <a:cs typeface="Arial"/>
                <a:sym typeface="Arial"/>
              </a:rPr>
              <a:t>записи</a:t>
            </a:r>
            <a:r>
              <a:rPr lang="en-US" b="0" dirty="0" smtClean="0">
                <a:latin typeface="Arial"/>
                <a:ea typeface="Arial"/>
                <a:cs typeface="Arial"/>
                <a:sym typeface="Arial"/>
              </a:rPr>
              <a:t> (</a:t>
            </a:r>
            <a:r>
              <a:rPr lang="en-US" dirty="0" err="1" smtClean="0">
                <a:latin typeface="Arial"/>
                <a:ea typeface="Arial"/>
                <a:cs typeface="Arial"/>
                <a:sym typeface="Arial"/>
              </a:rPr>
              <a:t>uid</a:t>
            </a:r>
            <a:r>
              <a:rPr lang="en-US" dirty="0" smtClean="0">
                <a:latin typeface="Arial"/>
                <a:ea typeface="Arial"/>
                <a:cs typeface="Arial"/>
                <a:sym typeface="Arial"/>
              </a:rPr>
              <a:t>/</a:t>
            </a:r>
            <a:r>
              <a:rPr lang="en-US" dirty="0" err="1" smtClean="0">
                <a:latin typeface="Arial"/>
                <a:ea typeface="Arial"/>
                <a:cs typeface="Arial"/>
                <a:sym typeface="Arial"/>
              </a:rPr>
              <a:t>guid</a:t>
            </a:r>
            <a:r>
              <a:rPr lang="en-US" dirty="0" smtClean="0">
                <a:latin typeface="Arial"/>
                <a:ea typeface="Arial"/>
                <a:cs typeface="Arial"/>
                <a:sym typeface="Arial"/>
              </a:rPr>
              <a:t>)</a:t>
            </a:r>
            <a:r>
              <a:rPr lang="ru-RU" b="0" dirty="0" smtClean="0">
                <a:latin typeface="Arial"/>
                <a:ea typeface="Arial"/>
                <a:cs typeface="Arial"/>
                <a:sym typeface="Arial"/>
              </a:rPr>
              <a:t>.</a:t>
            </a:r>
            <a:endParaRPr dirty="0"/>
          </a:p>
          <a:p>
            <a:pPr marL="228600" lvl="0" indent="-228600" algn="l" rtl="0">
              <a:lnSpc>
                <a:spcPct val="90000"/>
              </a:lnSpc>
              <a:spcBef>
                <a:spcPts val="1000"/>
              </a:spcBef>
              <a:spcAft>
                <a:spcPts val="0"/>
              </a:spcAft>
              <a:buClr>
                <a:schemeClr val="dk1"/>
              </a:buClr>
              <a:buSzPct val="100000"/>
              <a:buChar char="•"/>
            </a:pPr>
            <a:r>
              <a:rPr lang="ru-RU" b="1" dirty="0">
                <a:latin typeface="Arial"/>
                <a:ea typeface="Arial"/>
                <a:cs typeface="Arial"/>
                <a:sym typeface="Arial"/>
              </a:rPr>
              <a:t>w</a:t>
            </a:r>
            <a:r>
              <a:rPr lang="ru-RU" b="0" dirty="0">
                <a:latin typeface="Arial"/>
                <a:ea typeface="Arial"/>
                <a:cs typeface="Arial"/>
                <a:sym typeface="Arial"/>
              </a:rPr>
              <a:t> — если вам нужно узнать, какой пользователь сейчас находится в системе (или команда </a:t>
            </a:r>
            <a:r>
              <a:rPr lang="ru-RU" b="1" dirty="0">
                <a:latin typeface="Arial"/>
                <a:ea typeface="Arial"/>
                <a:cs typeface="Arial"/>
                <a:sym typeface="Arial"/>
              </a:rPr>
              <a:t>-f</a:t>
            </a:r>
            <a:r>
              <a:rPr lang="ru-RU" b="0" dirty="0">
                <a:latin typeface="Arial"/>
                <a:ea typeface="Arial"/>
                <a:cs typeface="Arial"/>
                <a:sym typeface="Arial"/>
              </a:rPr>
              <a:t> — для того, чтобы узнать, откуда был совершён вход).</a:t>
            </a:r>
            <a:endParaRPr dirty="0"/>
          </a:p>
          <a:p>
            <a:pPr marL="228600" lvl="0" indent="-228600" algn="l" rtl="0">
              <a:lnSpc>
                <a:spcPct val="90000"/>
              </a:lnSpc>
              <a:spcBef>
                <a:spcPts val="1000"/>
              </a:spcBef>
              <a:spcAft>
                <a:spcPts val="0"/>
              </a:spcAft>
              <a:buClr>
                <a:schemeClr val="dk1"/>
              </a:buClr>
              <a:buSzPct val="100000"/>
              <a:buChar char="•"/>
            </a:pPr>
            <a:r>
              <a:rPr lang="ru-RU" b="1" dirty="0" err="1">
                <a:latin typeface="Arial"/>
                <a:ea typeface="Arial"/>
                <a:cs typeface="Arial"/>
                <a:sym typeface="Arial"/>
              </a:rPr>
              <a:t>lsblk</a:t>
            </a:r>
            <a:r>
              <a:rPr lang="ru-RU" b="0" dirty="0">
                <a:latin typeface="Arial"/>
                <a:ea typeface="Arial"/>
                <a:cs typeface="Arial"/>
                <a:sym typeface="Arial"/>
              </a:rPr>
              <a:t> — если вы хотите открыть список блочных устройств хранения данных.</a:t>
            </a:r>
            <a:endParaRPr dirty="0"/>
          </a:p>
          <a:p>
            <a:pPr marL="228600" lvl="0" indent="-228600" algn="l" rtl="0">
              <a:lnSpc>
                <a:spcPct val="90000"/>
              </a:lnSpc>
              <a:spcBef>
                <a:spcPts val="1000"/>
              </a:spcBef>
              <a:spcAft>
                <a:spcPts val="0"/>
              </a:spcAft>
              <a:buClr>
                <a:schemeClr val="dk1"/>
              </a:buClr>
              <a:buSzPct val="100000"/>
              <a:buChar char="•"/>
            </a:pPr>
            <a:r>
              <a:rPr lang="ru-RU" b="1" dirty="0" err="1">
                <a:latin typeface="Arial"/>
                <a:ea typeface="Arial"/>
                <a:cs typeface="Arial"/>
                <a:sym typeface="Arial"/>
              </a:rPr>
              <a:t>lscpu</a:t>
            </a:r>
            <a:r>
              <a:rPr lang="ru-RU" b="1" dirty="0">
                <a:latin typeface="Arial"/>
                <a:ea typeface="Arial"/>
                <a:cs typeface="Arial"/>
                <a:sym typeface="Arial"/>
              </a:rPr>
              <a:t> </a:t>
            </a:r>
            <a:r>
              <a:rPr lang="ru-RU" b="0" dirty="0">
                <a:latin typeface="Arial"/>
                <a:ea typeface="Arial"/>
                <a:cs typeface="Arial"/>
                <a:sym typeface="Arial"/>
              </a:rPr>
              <a:t>— отображает информацию о процессорах.</a:t>
            </a:r>
            <a:endParaRPr dirty="0"/>
          </a:p>
          <a:p>
            <a:pPr marL="228600" lvl="0" indent="-228600" algn="l" rtl="0">
              <a:lnSpc>
                <a:spcPct val="90000"/>
              </a:lnSpc>
              <a:spcBef>
                <a:spcPts val="1000"/>
              </a:spcBef>
              <a:spcAft>
                <a:spcPts val="0"/>
              </a:spcAft>
              <a:buClr>
                <a:schemeClr val="dk1"/>
              </a:buClr>
              <a:buSzPct val="100000"/>
              <a:buChar char="•"/>
            </a:pPr>
            <a:r>
              <a:rPr lang="ru-RU" b="1" dirty="0" err="1">
                <a:latin typeface="Arial"/>
                <a:ea typeface="Arial"/>
                <a:cs typeface="Arial"/>
                <a:sym typeface="Arial"/>
              </a:rPr>
              <a:t>free</a:t>
            </a:r>
            <a:r>
              <a:rPr lang="ru-RU" b="0" dirty="0">
                <a:latin typeface="Arial"/>
                <a:ea typeface="Arial"/>
                <a:cs typeface="Arial"/>
                <a:sym typeface="Arial"/>
              </a:rPr>
              <a:t> — показывает объём свободной и уже используемой памяти (альтернативная команда — </a:t>
            </a:r>
            <a:r>
              <a:rPr lang="ru-RU" b="0" dirty="0" err="1">
                <a:latin typeface="Arial"/>
                <a:ea typeface="Arial"/>
                <a:cs typeface="Arial"/>
                <a:sym typeface="Arial"/>
              </a:rPr>
              <a:t>free</a:t>
            </a:r>
            <a:r>
              <a:rPr lang="ru-RU" b="0" dirty="0">
                <a:latin typeface="Arial"/>
                <a:ea typeface="Arial"/>
                <a:cs typeface="Arial"/>
                <a:sym typeface="Arial"/>
              </a:rPr>
              <a:t> -g).</a:t>
            </a:r>
            <a:endParaRPr dirty="0"/>
          </a:p>
          <a:p>
            <a:pPr marL="228600" lvl="0" indent="-228600" algn="l" rtl="0">
              <a:lnSpc>
                <a:spcPct val="90000"/>
              </a:lnSpc>
              <a:spcBef>
                <a:spcPts val="1000"/>
              </a:spcBef>
              <a:spcAft>
                <a:spcPts val="0"/>
              </a:spcAft>
              <a:buClr>
                <a:schemeClr val="dk1"/>
              </a:buClr>
              <a:buSzPct val="100000"/>
              <a:buChar char="•"/>
            </a:pPr>
            <a:r>
              <a:rPr lang="ru-RU" b="1" dirty="0" err="1">
                <a:latin typeface="Arial"/>
                <a:ea typeface="Arial"/>
                <a:cs typeface="Arial"/>
                <a:sym typeface="Arial"/>
              </a:rPr>
              <a:t>lsb_release</a:t>
            </a:r>
            <a:r>
              <a:rPr lang="ru-RU" b="1" dirty="0">
                <a:latin typeface="Arial"/>
                <a:ea typeface="Arial"/>
                <a:cs typeface="Arial"/>
                <a:sym typeface="Arial"/>
              </a:rPr>
              <a:t> -a </a:t>
            </a:r>
            <a:r>
              <a:rPr lang="ru-RU" b="0" dirty="0">
                <a:latin typeface="Arial"/>
                <a:ea typeface="Arial"/>
                <a:cs typeface="Arial"/>
                <a:sym typeface="Arial"/>
              </a:rPr>
              <a:t>— если вы хотите получить информацию о версии вашей ОС. </a:t>
            </a:r>
            <a:endParaRPr dirty="0"/>
          </a:p>
          <a:p>
            <a:pPr marL="228600" lvl="0" indent="-64135" algn="l" rtl="0">
              <a:lnSpc>
                <a:spcPct val="90000"/>
              </a:lnSpc>
              <a:spcBef>
                <a:spcPts val="1000"/>
              </a:spcBef>
              <a:spcAft>
                <a:spcPts val="0"/>
              </a:spcAft>
              <a:buClr>
                <a:schemeClr val="dk1"/>
              </a:buClr>
              <a:buSzPct val="100000"/>
              <a:buNone/>
            </a:pP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39</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95919163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ru-RU"/>
              <a:t>Некоторые основные команды</a:t>
            </a:r>
            <a:endParaRPr/>
          </a:p>
        </p:txBody>
      </p:sp>
      <p:sp>
        <p:nvSpPr>
          <p:cNvPr id="175" name="Google Shape;175;p16"/>
          <p:cNvSpPr txBox="1">
            <a:spLocks noGrp="1"/>
          </p:cNvSpPr>
          <p:nvPr>
            <p:ph type="body" idx="1"/>
          </p:nvPr>
        </p:nvSpPr>
        <p:spPr>
          <a:xfrm>
            <a:off x="838200" y="1575583"/>
            <a:ext cx="10515600" cy="4601381"/>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l" rtl="0">
              <a:lnSpc>
                <a:spcPct val="90000"/>
              </a:lnSpc>
              <a:spcBef>
                <a:spcPts val="0"/>
              </a:spcBef>
              <a:spcAft>
                <a:spcPts val="0"/>
              </a:spcAft>
              <a:buClr>
                <a:schemeClr val="dk1"/>
              </a:buClr>
              <a:buSzPct val="100000"/>
              <a:buChar char="•"/>
            </a:pPr>
            <a:r>
              <a:rPr lang="ru-RU" b="1" dirty="0" err="1"/>
              <a:t>sudo</a:t>
            </a:r>
            <a:endParaRPr b="1" dirty="0"/>
          </a:p>
          <a:p>
            <a:pPr marL="0" lvl="0" indent="0" algn="l" rtl="0">
              <a:lnSpc>
                <a:spcPct val="90000"/>
              </a:lnSpc>
              <a:spcBef>
                <a:spcPts val="1000"/>
              </a:spcBef>
              <a:spcAft>
                <a:spcPts val="0"/>
              </a:spcAft>
              <a:buClr>
                <a:schemeClr val="dk1"/>
              </a:buClr>
              <a:buSzPct val="100000"/>
              <a:buNone/>
            </a:pPr>
            <a:r>
              <a:rPr lang="ru-RU" dirty="0"/>
              <a:t>Промежуточная команда </a:t>
            </a:r>
            <a:r>
              <a:rPr lang="ru-RU" dirty="0" err="1"/>
              <a:t>sudo</a:t>
            </a:r>
            <a:r>
              <a:rPr lang="ru-RU" dirty="0"/>
              <a:t> (</a:t>
            </a:r>
            <a:r>
              <a:rPr lang="ru-RU" dirty="0" err="1"/>
              <a:t>SuperUser</a:t>
            </a:r>
            <a:r>
              <a:rPr lang="ru-RU" dirty="0"/>
              <a:t> DO — </a:t>
            </a:r>
            <a:r>
              <a:rPr lang="ru-RU" dirty="0" err="1"/>
              <a:t>суперпользователь</a:t>
            </a:r>
            <a:r>
              <a:rPr lang="ru-RU" dirty="0"/>
              <a:t>) позволяет запускать программы от имени администратора или </a:t>
            </a:r>
            <a:r>
              <a:rPr lang="ru-RU" dirty="0" err="1"/>
              <a:t>root</a:t>
            </a:r>
            <a:r>
              <a:rPr lang="ru-RU" dirty="0"/>
              <a:t>-пользователя.</a:t>
            </a:r>
            <a:endParaRPr dirty="0"/>
          </a:p>
          <a:p>
            <a:pPr marL="0" lvl="0" indent="0" algn="l" rtl="0">
              <a:lnSpc>
                <a:spcPct val="90000"/>
              </a:lnSpc>
              <a:spcBef>
                <a:spcPts val="1000"/>
              </a:spcBef>
              <a:spcAft>
                <a:spcPts val="0"/>
              </a:spcAft>
              <a:buClr>
                <a:schemeClr val="dk1"/>
              </a:buClr>
              <a:buSzPct val="100000"/>
              <a:buNone/>
            </a:pPr>
            <a:r>
              <a:rPr lang="ru-RU" dirty="0"/>
              <a:t>Вы можете добавить </a:t>
            </a:r>
            <a:r>
              <a:rPr lang="ru-RU" dirty="0" err="1"/>
              <a:t>sudo</a:t>
            </a:r>
            <a:r>
              <a:rPr lang="ru-RU" dirty="0"/>
              <a:t> перед любой командой, чтобы запустить её от имени </a:t>
            </a:r>
            <a:r>
              <a:rPr lang="ru-RU" dirty="0" err="1"/>
              <a:t>суперпользователя</a:t>
            </a:r>
            <a:r>
              <a:rPr lang="ru-RU" dirty="0"/>
              <a:t>.</a:t>
            </a:r>
            <a:endParaRPr dirty="0"/>
          </a:p>
          <a:p>
            <a:pPr marL="228600" lvl="0" indent="-104140" algn="l" rtl="0">
              <a:lnSpc>
                <a:spcPct val="90000"/>
              </a:lnSpc>
              <a:spcBef>
                <a:spcPts val="1000"/>
              </a:spcBef>
              <a:spcAft>
                <a:spcPts val="0"/>
              </a:spcAft>
              <a:buClr>
                <a:schemeClr val="dk1"/>
              </a:buClr>
              <a:buSzPct val="100000"/>
              <a:buNone/>
            </a:pPr>
            <a:endParaRPr dirty="0"/>
          </a:p>
          <a:p>
            <a:pPr marL="228600" lvl="0" indent="-228600" algn="l" rtl="0">
              <a:lnSpc>
                <a:spcPct val="90000"/>
              </a:lnSpc>
              <a:spcBef>
                <a:spcPts val="1000"/>
              </a:spcBef>
              <a:spcAft>
                <a:spcPts val="0"/>
              </a:spcAft>
              <a:buClr>
                <a:schemeClr val="dk1"/>
              </a:buClr>
              <a:buSzPct val="100000"/>
              <a:buChar char="•"/>
            </a:pPr>
            <a:r>
              <a:rPr lang="ru-RU" b="1" dirty="0" err="1"/>
              <a:t>apt-get</a:t>
            </a:r>
            <a:endParaRPr b="1" dirty="0"/>
          </a:p>
          <a:p>
            <a:pPr marL="0" lvl="0" indent="0" algn="l" rtl="0">
              <a:lnSpc>
                <a:spcPct val="90000"/>
              </a:lnSpc>
              <a:spcBef>
                <a:spcPts val="1000"/>
              </a:spcBef>
              <a:spcAft>
                <a:spcPts val="0"/>
              </a:spcAft>
              <a:buClr>
                <a:schemeClr val="dk1"/>
              </a:buClr>
              <a:buSzPct val="100000"/>
              <a:buNone/>
            </a:pPr>
            <a:r>
              <a:rPr lang="ru-RU" dirty="0"/>
              <a:t>Команда </a:t>
            </a:r>
            <a:r>
              <a:rPr lang="ru-RU" dirty="0" err="1"/>
              <a:t>apt-get</a:t>
            </a:r>
            <a:r>
              <a:rPr lang="ru-RU" dirty="0"/>
              <a:t> используется для работы с программными пакетами для установки программных пакетов (</a:t>
            </a:r>
            <a:r>
              <a:rPr lang="ru-RU" dirty="0" err="1"/>
              <a:t>sudo</a:t>
            </a:r>
            <a:r>
              <a:rPr lang="ru-RU" dirty="0"/>
              <a:t> </a:t>
            </a:r>
            <a:r>
              <a:rPr lang="ru-RU" dirty="0" err="1"/>
              <a:t>apt-get</a:t>
            </a:r>
            <a:r>
              <a:rPr lang="ru-RU" dirty="0"/>
              <a:t> </a:t>
            </a:r>
            <a:r>
              <a:rPr lang="ru-RU" dirty="0" err="1"/>
              <a:t>install</a:t>
            </a:r>
            <a:r>
              <a:rPr lang="ru-RU" dirty="0"/>
              <a:t> имя-пакета), обновления </a:t>
            </a:r>
            <a:r>
              <a:rPr lang="ru-RU" dirty="0" err="1"/>
              <a:t>репозитория</a:t>
            </a:r>
            <a:r>
              <a:rPr lang="ru-RU" dirty="0"/>
              <a:t> с пакетами (</a:t>
            </a:r>
            <a:r>
              <a:rPr lang="ru-RU" dirty="0" err="1"/>
              <a:t>sudo</a:t>
            </a:r>
            <a:r>
              <a:rPr lang="ru-RU" dirty="0"/>
              <a:t> </a:t>
            </a:r>
            <a:r>
              <a:rPr lang="ru-RU" dirty="0" err="1"/>
              <a:t>apt-get</a:t>
            </a:r>
            <a:r>
              <a:rPr lang="ru-RU" dirty="0"/>
              <a:t> </a:t>
            </a:r>
            <a:r>
              <a:rPr lang="ru-RU" dirty="0" err="1"/>
              <a:t>update</a:t>
            </a:r>
            <a:r>
              <a:rPr lang="ru-RU" dirty="0"/>
              <a:t>) и обновления пакетов, которые установлены в систему (</a:t>
            </a:r>
            <a:r>
              <a:rPr lang="ru-RU" dirty="0" err="1"/>
              <a:t>sudo</a:t>
            </a:r>
            <a:r>
              <a:rPr lang="ru-RU" dirty="0"/>
              <a:t> </a:t>
            </a:r>
            <a:r>
              <a:rPr lang="ru-RU" dirty="0" err="1"/>
              <a:t>apt-get</a:t>
            </a:r>
            <a:r>
              <a:rPr lang="ru-RU" dirty="0"/>
              <a:t> </a:t>
            </a:r>
            <a:r>
              <a:rPr lang="ru-RU" dirty="0" err="1"/>
              <a:t>upgrade</a:t>
            </a:r>
            <a:r>
              <a:rPr lang="ru-RU" dirty="0"/>
              <a:t>).</a:t>
            </a:r>
            <a:endParaRPr dirty="0"/>
          </a:p>
          <a:p>
            <a:pPr marL="228600" lvl="0" indent="-104140" algn="l" rtl="0">
              <a:lnSpc>
                <a:spcPct val="90000"/>
              </a:lnSpc>
              <a:spcBef>
                <a:spcPts val="1000"/>
              </a:spcBef>
              <a:spcAft>
                <a:spcPts val="0"/>
              </a:spcAft>
              <a:buClr>
                <a:schemeClr val="dk1"/>
              </a:buClr>
              <a:buSzPct val="100000"/>
              <a:buNone/>
            </a:pPr>
            <a:endParaRPr dirty="0"/>
          </a:p>
          <a:p>
            <a:pPr marL="228600" lvl="0" indent="-228600" algn="l" rtl="0">
              <a:lnSpc>
                <a:spcPct val="90000"/>
              </a:lnSpc>
              <a:spcBef>
                <a:spcPts val="1000"/>
              </a:spcBef>
              <a:spcAft>
                <a:spcPts val="0"/>
              </a:spcAft>
              <a:buClr>
                <a:schemeClr val="dk1"/>
              </a:buClr>
              <a:buSzPct val="100000"/>
              <a:buChar char="•"/>
            </a:pPr>
            <a:r>
              <a:rPr lang="ru-RU" b="1" dirty="0" err="1"/>
              <a:t>pwd</a:t>
            </a:r>
            <a:endParaRPr b="1" dirty="0"/>
          </a:p>
          <a:p>
            <a:pPr marL="0" lvl="0" indent="0" algn="l" rtl="0">
              <a:lnSpc>
                <a:spcPct val="90000"/>
              </a:lnSpc>
              <a:spcBef>
                <a:spcPts val="1000"/>
              </a:spcBef>
              <a:spcAft>
                <a:spcPts val="0"/>
              </a:spcAft>
              <a:buClr>
                <a:schemeClr val="dk1"/>
              </a:buClr>
              <a:buSzPct val="100000"/>
              <a:buNone/>
            </a:pPr>
            <a:r>
              <a:rPr lang="ru-RU" dirty="0"/>
              <a:t>Команда </a:t>
            </a:r>
            <a:r>
              <a:rPr lang="ru-RU" dirty="0" err="1"/>
              <a:t>pwd</a:t>
            </a:r>
            <a:r>
              <a:rPr lang="ru-RU" dirty="0"/>
              <a:t> (</a:t>
            </a:r>
            <a:r>
              <a:rPr lang="ru-RU" dirty="0" err="1"/>
              <a:t>print</a:t>
            </a:r>
            <a:r>
              <a:rPr lang="ru-RU" dirty="0"/>
              <a:t> </a:t>
            </a:r>
            <a:r>
              <a:rPr lang="ru-RU" dirty="0" err="1"/>
              <a:t>working</a:t>
            </a:r>
            <a:r>
              <a:rPr lang="ru-RU" dirty="0"/>
              <a:t> </a:t>
            </a:r>
            <a:r>
              <a:rPr lang="ru-RU" dirty="0" err="1"/>
              <a:t>directory</a:t>
            </a:r>
            <a:r>
              <a:rPr lang="ru-RU" dirty="0"/>
              <a:t> — вывести рабочую директорию) показывает полное имя рабочей директории, в которой вы находитесь.</a:t>
            </a:r>
            <a:endParaRPr dirty="0"/>
          </a:p>
          <a:p>
            <a:pPr marL="228600" lvl="0" indent="-104140" algn="l" rtl="0">
              <a:lnSpc>
                <a:spcPct val="90000"/>
              </a:lnSpc>
              <a:spcBef>
                <a:spcPts val="1000"/>
              </a:spcBef>
              <a:spcAft>
                <a:spcPts val="0"/>
              </a:spcAft>
              <a:buClr>
                <a:schemeClr val="dk1"/>
              </a:buClr>
              <a:buSzPct val="100000"/>
              <a:buNone/>
            </a:pP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40</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325109240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0"/>
          <p:cNvSpPr txBox="1">
            <a:spLocks noGrp="1"/>
          </p:cNvSpPr>
          <p:nvPr>
            <p:ph type="title"/>
          </p:nvPr>
        </p:nvSpPr>
        <p:spPr>
          <a:xfrm>
            <a:off x="838200" y="365127"/>
            <a:ext cx="1109044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ru-RU" dirty="0"/>
              <a:t>Команды для работы с файлами и папками</a:t>
            </a:r>
            <a:endParaRPr dirty="0"/>
          </a:p>
        </p:txBody>
      </p:sp>
      <p:sp>
        <p:nvSpPr>
          <p:cNvPr id="199" name="Google Shape;199;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ru-RU" b="1" dirty="0" err="1">
                <a:latin typeface="Arial"/>
                <a:ea typeface="Arial"/>
                <a:cs typeface="Arial"/>
                <a:sym typeface="Arial"/>
              </a:rPr>
              <a:t>ls</a:t>
            </a:r>
            <a:r>
              <a:rPr lang="ru-RU" b="1" dirty="0">
                <a:latin typeface="Arial"/>
                <a:ea typeface="Arial"/>
                <a:cs typeface="Arial"/>
                <a:sym typeface="Arial"/>
              </a:rPr>
              <a:t> </a:t>
            </a:r>
            <a:r>
              <a:rPr lang="ru-RU" b="0" dirty="0">
                <a:latin typeface="Arial"/>
                <a:ea typeface="Arial"/>
                <a:cs typeface="Arial"/>
                <a:sym typeface="Arial"/>
              </a:rPr>
              <a:t>— покажет содержимое директории, в которой вы находитесь. Если после команды ввести адрес конкретной папки, то она покажет то, что хранится в ней. При добавлении аргумента -R в выводе команды появятся файлы из поддиректорий.</a:t>
            </a:r>
            <a:endParaRPr dirty="0"/>
          </a:p>
          <a:p>
            <a:pPr marL="228600" lvl="0" indent="-228600" algn="l" rtl="0">
              <a:lnSpc>
                <a:spcPct val="90000"/>
              </a:lnSpc>
              <a:spcBef>
                <a:spcPts val="1000"/>
              </a:spcBef>
              <a:spcAft>
                <a:spcPts val="0"/>
              </a:spcAft>
              <a:buClr>
                <a:schemeClr val="dk1"/>
              </a:buClr>
              <a:buSzPct val="100000"/>
              <a:buChar char="•"/>
            </a:pPr>
            <a:r>
              <a:rPr lang="ru-RU" b="1" dirty="0" err="1">
                <a:latin typeface="Arial"/>
                <a:ea typeface="Arial"/>
                <a:cs typeface="Arial"/>
                <a:sym typeface="Arial"/>
              </a:rPr>
              <a:t>cd</a:t>
            </a:r>
            <a:r>
              <a:rPr lang="ru-RU" b="0" dirty="0">
                <a:latin typeface="Arial"/>
                <a:ea typeface="Arial"/>
                <a:cs typeface="Arial"/>
                <a:sym typeface="Arial"/>
              </a:rPr>
              <a:t> — </a:t>
            </a:r>
            <a:r>
              <a:rPr lang="ru-RU" b="0" dirty="0" err="1">
                <a:latin typeface="Arial"/>
                <a:ea typeface="Arial"/>
                <a:cs typeface="Arial"/>
                <a:sym typeface="Arial"/>
              </a:rPr>
              <a:t>change</a:t>
            </a:r>
            <a:r>
              <a:rPr lang="ru-RU" b="0" dirty="0">
                <a:latin typeface="Arial"/>
                <a:ea typeface="Arial"/>
                <a:cs typeface="Arial"/>
                <a:sym typeface="Arial"/>
              </a:rPr>
              <a:t> </a:t>
            </a:r>
            <a:r>
              <a:rPr lang="ru-RU" b="0" dirty="0" err="1">
                <a:latin typeface="Arial"/>
                <a:ea typeface="Arial"/>
                <a:cs typeface="Arial"/>
                <a:sym typeface="Arial"/>
              </a:rPr>
              <a:t>directory</a:t>
            </a:r>
            <a:r>
              <a:rPr lang="ru-RU" b="0" dirty="0">
                <a:latin typeface="Arial"/>
                <a:ea typeface="Arial"/>
                <a:cs typeface="Arial"/>
                <a:sym typeface="Arial"/>
              </a:rPr>
              <a:t>, что в переводе означает «сменить директорию». Из названия понятно, что с помощью этой команды можно перемещаться между папками. Вписываем её, а потом адрес: </a:t>
            </a:r>
            <a:r>
              <a:rPr lang="ru-RU" b="0" dirty="0" err="1">
                <a:latin typeface="Arial"/>
                <a:ea typeface="Arial"/>
                <a:cs typeface="Arial"/>
                <a:sym typeface="Arial"/>
              </a:rPr>
              <a:t>cd</a:t>
            </a:r>
            <a:r>
              <a:rPr lang="ru-RU" b="0" dirty="0">
                <a:latin typeface="Arial"/>
                <a:ea typeface="Arial"/>
                <a:cs typeface="Arial"/>
                <a:sym typeface="Arial"/>
              </a:rPr>
              <a:t> /</a:t>
            </a:r>
            <a:r>
              <a:rPr lang="ru-RU" b="0" dirty="0" err="1">
                <a:latin typeface="Arial"/>
                <a:ea typeface="Arial"/>
                <a:cs typeface="Arial"/>
                <a:sym typeface="Arial"/>
              </a:rPr>
              <a:t>user</a:t>
            </a:r>
            <a:r>
              <a:rPr lang="ru-RU" b="0" dirty="0">
                <a:latin typeface="Arial"/>
                <a:ea typeface="Arial"/>
                <a:cs typeface="Arial"/>
                <a:sym typeface="Arial"/>
              </a:rPr>
              <a:t>/</a:t>
            </a:r>
            <a:r>
              <a:rPr lang="ru-RU" b="0" dirty="0" err="1">
                <a:latin typeface="Arial"/>
                <a:ea typeface="Arial"/>
                <a:cs typeface="Arial"/>
                <a:sym typeface="Arial"/>
              </a:rPr>
              <a:t>test</a:t>
            </a:r>
            <a:r>
              <a:rPr lang="ru-RU" b="0" dirty="0">
                <a:latin typeface="Arial"/>
                <a:ea typeface="Arial"/>
                <a:cs typeface="Arial"/>
                <a:sym typeface="Arial"/>
              </a:rPr>
              <a:t>/</a:t>
            </a:r>
            <a:r>
              <a:rPr lang="ru-RU" b="0" dirty="0" err="1">
                <a:latin typeface="Arial"/>
                <a:ea typeface="Arial"/>
                <a:cs typeface="Arial"/>
                <a:sym typeface="Arial"/>
              </a:rPr>
              <a:t>dir</a:t>
            </a:r>
            <a:r>
              <a:rPr lang="ru-RU" b="0" dirty="0">
                <a:latin typeface="Arial"/>
                <a:ea typeface="Arial"/>
                <a:cs typeface="Arial"/>
                <a:sym typeface="Arial"/>
              </a:rPr>
              <a:t>/111. Есть сокращенные варианты: </a:t>
            </a:r>
            <a:r>
              <a:rPr lang="ru-RU" b="0" dirty="0" err="1" smtClean="0">
                <a:latin typeface="Arial"/>
                <a:ea typeface="Arial"/>
                <a:cs typeface="Arial"/>
                <a:sym typeface="Arial"/>
              </a:rPr>
              <a:t>cd</a:t>
            </a:r>
            <a:r>
              <a:rPr lang="en-US" b="0" smtClean="0">
                <a:latin typeface="Arial"/>
                <a:ea typeface="Arial"/>
                <a:cs typeface="Arial"/>
                <a:sym typeface="Arial"/>
              </a:rPr>
              <a:t> </a:t>
            </a:r>
            <a:r>
              <a:rPr lang="ru-RU" b="0" smtClean="0">
                <a:latin typeface="Arial"/>
                <a:ea typeface="Arial"/>
                <a:cs typeface="Arial"/>
                <a:sym typeface="Arial"/>
              </a:rPr>
              <a:t>- </a:t>
            </a:r>
            <a:r>
              <a:rPr lang="ru-RU" b="0">
                <a:latin typeface="Arial"/>
                <a:ea typeface="Arial"/>
                <a:cs typeface="Arial"/>
                <a:sym typeface="Arial"/>
              </a:rPr>
              <a:t>для перемещения в предыдущую директорию или </a:t>
            </a:r>
            <a:r>
              <a:rPr lang="ru-RU" b="0" dirty="0" err="1">
                <a:latin typeface="Arial"/>
                <a:ea typeface="Arial"/>
                <a:cs typeface="Arial"/>
                <a:sym typeface="Arial"/>
              </a:rPr>
              <a:t>cd</a:t>
            </a:r>
            <a:r>
              <a:rPr lang="ru-RU" b="0" dirty="0">
                <a:latin typeface="Arial"/>
                <a:ea typeface="Arial"/>
                <a:cs typeface="Arial"/>
                <a:sym typeface="Arial"/>
              </a:rPr>
              <a:t> (без аргументов) для прыжка в домашнюю папку.</a:t>
            </a:r>
            <a:endParaRPr dirty="0"/>
          </a:p>
          <a:p>
            <a:pPr marL="228600" lvl="0" indent="-228600" algn="l" rtl="0">
              <a:lnSpc>
                <a:spcPct val="90000"/>
              </a:lnSpc>
              <a:spcBef>
                <a:spcPts val="1000"/>
              </a:spcBef>
              <a:spcAft>
                <a:spcPts val="0"/>
              </a:spcAft>
              <a:buClr>
                <a:schemeClr val="dk1"/>
              </a:buClr>
              <a:buSzPct val="100000"/>
              <a:buChar char="•"/>
            </a:pPr>
            <a:r>
              <a:rPr lang="ru-RU" b="1" dirty="0" err="1">
                <a:latin typeface="Arial"/>
                <a:ea typeface="Arial"/>
                <a:cs typeface="Arial"/>
                <a:sym typeface="Arial"/>
              </a:rPr>
              <a:t>pwd</a:t>
            </a:r>
            <a:r>
              <a:rPr lang="ru-RU" b="0" dirty="0">
                <a:latin typeface="Arial"/>
                <a:ea typeface="Arial"/>
                <a:cs typeface="Arial"/>
                <a:sym typeface="Arial"/>
              </a:rPr>
              <a:t> — укажет полный путь до директории, в которой вы находитесь. </a:t>
            </a: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41</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78722612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8"/>
          <p:cNvSpPr txBox="1">
            <a:spLocks noGrp="1"/>
          </p:cNvSpPr>
          <p:nvPr>
            <p:ph type="title"/>
          </p:nvPr>
        </p:nvSpPr>
        <p:spPr>
          <a:xfrm>
            <a:off x="838200" y="365127"/>
            <a:ext cx="11090448" cy="1325563"/>
          </a:xfrm>
          <a:prstGeom prst="rect">
            <a:avLst/>
          </a:prstGeom>
          <a:noFill/>
          <a:ln>
            <a:noFill/>
          </a:ln>
        </p:spPr>
        <p:txBody>
          <a:bodyPr spcFirstLastPara="1" wrap="square" lIns="91425" tIns="45700" rIns="91425" bIns="45700" anchor="ctr" anchorCtr="0">
            <a:normAutofit/>
          </a:bodyPr>
          <a:lstStyle/>
          <a:p>
            <a:pPr lvl="0">
              <a:buSzPts val="4400"/>
            </a:pPr>
            <a:r>
              <a:rPr lang="ru-RU" dirty="0"/>
              <a:t>Команды для работы с файлами и папками</a:t>
            </a:r>
            <a:endParaRPr dirty="0"/>
          </a:p>
        </p:txBody>
      </p:sp>
      <p:sp>
        <p:nvSpPr>
          <p:cNvPr id="187" name="Google Shape;187;p18"/>
          <p:cNvSpPr txBox="1">
            <a:spLocks noGrp="1"/>
          </p:cNvSpPr>
          <p:nvPr>
            <p:ph type="body" idx="1"/>
          </p:nvPr>
        </p:nvSpPr>
        <p:spPr>
          <a:xfrm>
            <a:off x="548640" y="1350498"/>
            <a:ext cx="10805160" cy="4826465"/>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ru-RU" b="1" dirty="0" err="1"/>
              <a:t>cp</a:t>
            </a:r>
            <a:endParaRPr b="1" dirty="0"/>
          </a:p>
          <a:p>
            <a:pPr marL="0" lvl="0" indent="0" algn="l" rtl="0">
              <a:lnSpc>
                <a:spcPct val="90000"/>
              </a:lnSpc>
              <a:spcBef>
                <a:spcPts val="1000"/>
              </a:spcBef>
              <a:spcAft>
                <a:spcPts val="0"/>
              </a:spcAft>
              <a:buClr>
                <a:schemeClr val="dk1"/>
              </a:buClr>
              <a:buSzPct val="100000"/>
              <a:buNone/>
            </a:pPr>
            <a:r>
              <a:rPr lang="ru-RU" dirty="0"/>
              <a:t>Команда </a:t>
            </a:r>
            <a:r>
              <a:rPr lang="ru-RU" dirty="0" err="1"/>
              <a:t>cp</a:t>
            </a:r>
            <a:r>
              <a:rPr lang="ru-RU" dirty="0"/>
              <a:t> (</a:t>
            </a:r>
            <a:r>
              <a:rPr lang="ru-RU" dirty="0" err="1"/>
              <a:t>copy</a:t>
            </a:r>
            <a:r>
              <a:rPr lang="ru-RU" dirty="0"/>
              <a:t> — копировать) копирует файл.</a:t>
            </a:r>
            <a:endParaRPr dirty="0"/>
          </a:p>
          <a:p>
            <a:pPr marL="0" lvl="0" indent="0" algn="l" rtl="0">
              <a:lnSpc>
                <a:spcPct val="90000"/>
              </a:lnSpc>
              <a:spcBef>
                <a:spcPts val="1000"/>
              </a:spcBef>
              <a:spcAft>
                <a:spcPts val="0"/>
              </a:spcAft>
              <a:buClr>
                <a:schemeClr val="dk1"/>
              </a:buClr>
              <a:buSzPct val="100000"/>
              <a:buNone/>
            </a:pPr>
            <a:r>
              <a:rPr lang="ru-RU" dirty="0" smtClean="0"/>
              <a:t>Например</a:t>
            </a:r>
            <a:r>
              <a:rPr lang="ru-RU" dirty="0"/>
              <a:t>, </a:t>
            </a:r>
            <a:r>
              <a:rPr lang="ru-RU" dirty="0" err="1"/>
              <a:t>cp</a:t>
            </a:r>
            <a:r>
              <a:rPr lang="ru-RU" dirty="0"/>
              <a:t> file1 file2 скопирует содержимого файла file1 в file2.</a:t>
            </a:r>
            <a:endParaRPr dirty="0"/>
          </a:p>
          <a:p>
            <a:pPr marL="0" lvl="0" indent="0" algn="l" rtl="0">
              <a:lnSpc>
                <a:spcPct val="90000"/>
              </a:lnSpc>
              <a:spcBef>
                <a:spcPts val="1000"/>
              </a:spcBef>
              <a:spcAft>
                <a:spcPts val="0"/>
              </a:spcAft>
              <a:buClr>
                <a:schemeClr val="dk1"/>
              </a:buClr>
              <a:buSzPct val="100000"/>
              <a:buNone/>
            </a:pPr>
            <a:r>
              <a:rPr lang="ru-RU" dirty="0"/>
              <a:t>Команда </a:t>
            </a:r>
            <a:r>
              <a:rPr lang="ru-RU" dirty="0" err="1"/>
              <a:t>cp</a:t>
            </a:r>
            <a:r>
              <a:rPr lang="ru-RU" dirty="0"/>
              <a:t> </a:t>
            </a:r>
            <a:r>
              <a:rPr lang="ru-RU" dirty="0" err="1"/>
              <a:t>file</a:t>
            </a:r>
            <a:r>
              <a:rPr lang="ru-RU" dirty="0"/>
              <a:t> /</a:t>
            </a:r>
            <a:r>
              <a:rPr lang="ru-RU" dirty="0" err="1"/>
              <a:t>home</a:t>
            </a:r>
            <a:r>
              <a:rPr lang="ru-RU" dirty="0"/>
              <a:t>/</a:t>
            </a:r>
            <a:r>
              <a:rPr lang="ru-RU" dirty="0" err="1"/>
              <a:t>files</a:t>
            </a:r>
            <a:r>
              <a:rPr lang="ru-RU" dirty="0"/>
              <a:t> скопирует файл с названием </a:t>
            </a:r>
            <a:r>
              <a:rPr lang="ru-RU" dirty="0" err="1"/>
              <a:t>file</a:t>
            </a:r>
            <a:r>
              <a:rPr lang="ru-RU" dirty="0"/>
              <a:t> в директорию /</a:t>
            </a:r>
            <a:r>
              <a:rPr lang="ru-RU" dirty="0" err="1"/>
              <a:t>home</a:t>
            </a:r>
            <a:r>
              <a:rPr lang="ru-RU" dirty="0"/>
              <a:t>/</a:t>
            </a:r>
            <a:r>
              <a:rPr lang="ru-RU" dirty="0" err="1"/>
              <a:t>files</a:t>
            </a:r>
            <a:r>
              <a:rPr lang="ru-RU" dirty="0"/>
              <a:t>.</a:t>
            </a:r>
            <a:endParaRPr dirty="0"/>
          </a:p>
          <a:p>
            <a:pPr marL="228600" lvl="0" indent="-64135" algn="l" rtl="0">
              <a:lnSpc>
                <a:spcPct val="90000"/>
              </a:lnSpc>
              <a:spcBef>
                <a:spcPts val="1000"/>
              </a:spcBef>
              <a:spcAft>
                <a:spcPts val="0"/>
              </a:spcAft>
              <a:buClr>
                <a:schemeClr val="dk1"/>
              </a:buClr>
              <a:buSzPct val="100000"/>
              <a:buNone/>
            </a:pPr>
            <a:endParaRPr dirty="0"/>
          </a:p>
          <a:p>
            <a:pPr marL="228600" lvl="0" indent="-228600" algn="l" rtl="0">
              <a:lnSpc>
                <a:spcPct val="90000"/>
              </a:lnSpc>
              <a:spcBef>
                <a:spcPts val="1000"/>
              </a:spcBef>
              <a:spcAft>
                <a:spcPts val="0"/>
              </a:spcAft>
              <a:buClr>
                <a:schemeClr val="dk1"/>
              </a:buClr>
              <a:buSzPct val="100000"/>
              <a:buChar char="•"/>
            </a:pPr>
            <a:r>
              <a:rPr lang="ru-RU" b="1" dirty="0" err="1"/>
              <a:t>mv</a:t>
            </a:r>
            <a:endParaRPr b="1" dirty="0"/>
          </a:p>
          <a:p>
            <a:pPr marL="0" lvl="0" indent="0" algn="l" rtl="0">
              <a:lnSpc>
                <a:spcPct val="90000"/>
              </a:lnSpc>
              <a:spcBef>
                <a:spcPts val="1000"/>
              </a:spcBef>
              <a:spcAft>
                <a:spcPts val="0"/>
              </a:spcAft>
              <a:buClr>
                <a:schemeClr val="dk1"/>
              </a:buClr>
              <a:buSzPct val="100000"/>
              <a:buNone/>
            </a:pPr>
            <a:r>
              <a:rPr lang="ru-RU" dirty="0"/>
              <a:t>Команда </a:t>
            </a:r>
            <a:r>
              <a:rPr lang="ru-RU" dirty="0" err="1"/>
              <a:t>mv</a:t>
            </a:r>
            <a:r>
              <a:rPr lang="ru-RU" dirty="0"/>
              <a:t> (</a:t>
            </a:r>
            <a:r>
              <a:rPr lang="ru-RU" dirty="0" err="1"/>
              <a:t>move</a:t>
            </a:r>
            <a:r>
              <a:rPr lang="ru-RU" dirty="0"/>
              <a:t> — переместить) помогает перемещать файлы.</a:t>
            </a:r>
            <a:endParaRPr dirty="0"/>
          </a:p>
          <a:p>
            <a:pPr marL="0" lvl="0" indent="0" algn="l" rtl="0">
              <a:lnSpc>
                <a:spcPct val="90000"/>
              </a:lnSpc>
              <a:spcBef>
                <a:spcPts val="1000"/>
              </a:spcBef>
              <a:spcAft>
                <a:spcPts val="0"/>
              </a:spcAft>
              <a:buClr>
                <a:schemeClr val="dk1"/>
              </a:buClr>
              <a:buSzPct val="100000"/>
              <a:buNone/>
            </a:pPr>
            <a:r>
              <a:rPr lang="ru-RU" dirty="0"/>
              <a:t>Также с помощью </a:t>
            </a:r>
            <a:r>
              <a:rPr lang="ru-RU" dirty="0" err="1"/>
              <a:t>mv</a:t>
            </a:r>
            <a:r>
              <a:rPr lang="ru-RU" dirty="0"/>
              <a:t> можно переименовывать файлы. Например, у нас есть файл file.txt. С помощью команды </a:t>
            </a:r>
            <a:r>
              <a:rPr lang="ru-RU" dirty="0" err="1"/>
              <a:t>mv</a:t>
            </a:r>
            <a:r>
              <a:rPr lang="ru-RU" dirty="0"/>
              <a:t> file.txt new_file.txt мы можем перенести его в ту же директорию, но у файла уже будет новое название new_file.txt.</a:t>
            </a:r>
            <a:endParaRPr dirty="0"/>
          </a:p>
          <a:p>
            <a:pPr marL="228600" lvl="0" indent="-64135" algn="l" rtl="0">
              <a:lnSpc>
                <a:spcPct val="90000"/>
              </a:lnSpc>
              <a:spcBef>
                <a:spcPts val="1000"/>
              </a:spcBef>
              <a:spcAft>
                <a:spcPts val="0"/>
              </a:spcAft>
              <a:buClr>
                <a:schemeClr val="dk1"/>
              </a:buClr>
              <a:buSzPct val="100000"/>
              <a:buNone/>
            </a:pP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42</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363672773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9"/>
          <p:cNvSpPr txBox="1">
            <a:spLocks noGrp="1"/>
          </p:cNvSpPr>
          <p:nvPr>
            <p:ph type="title"/>
          </p:nvPr>
        </p:nvSpPr>
        <p:spPr>
          <a:xfrm>
            <a:off x="838200" y="365127"/>
            <a:ext cx="11162456" cy="1325563"/>
          </a:xfrm>
          <a:prstGeom prst="rect">
            <a:avLst/>
          </a:prstGeom>
          <a:noFill/>
          <a:ln>
            <a:noFill/>
          </a:ln>
        </p:spPr>
        <p:txBody>
          <a:bodyPr spcFirstLastPara="1" wrap="square" lIns="91425" tIns="45700" rIns="91425" bIns="45700" anchor="ctr" anchorCtr="0">
            <a:normAutofit/>
          </a:bodyPr>
          <a:lstStyle/>
          <a:p>
            <a:pPr lvl="0">
              <a:buSzPts val="4400"/>
            </a:pPr>
            <a:r>
              <a:rPr lang="ru-RU" dirty="0"/>
              <a:t>Команды для работы с файлами и папками</a:t>
            </a:r>
            <a:endParaRPr dirty="0"/>
          </a:p>
        </p:txBody>
      </p:sp>
      <p:sp>
        <p:nvSpPr>
          <p:cNvPr id="193" name="Google Shape;193;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ru-RU" b="1" dirty="0" err="1"/>
              <a:t>rm</a:t>
            </a:r>
            <a:endParaRPr b="1" dirty="0"/>
          </a:p>
          <a:p>
            <a:pPr marL="0" lvl="0" indent="0" algn="l" rtl="0">
              <a:lnSpc>
                <a:spcPct val="90000"/>
              </a:lnSpc>
              <a:spcBef>
                <a:spcPts val="1000"/>
              </a:spcBef>
              <a:spcAft>
                <a:spcPts val="0"/>
              </a:spcAft>
              <a:buClr>
                <a:schemeClr val="dk1"/>
              </a:buClr>
              <a:buSzPct val="100000"/>
              <a:buNone/>
            </a:pPr>
            <a:r>
              <a:rPr lang="ru-RU" dirty="0"/>
              <a:t>Команда </a:t>
            </a:r>
            <a:r>
              <a:rPr lang="ru-RU" dirty="0" err="1"/>
              <a:t>rm</a:t>
            </a:r>
            <a:r>
              <a:rPr lang="ru-RU" dirty="0"/>
              <a:t> (</a:t>
            </a:r>
            <a:r>
              <a:rPr lang="ru-RU" dirty="0" err="1"/>
              <a:t>remove</a:t>
            </a:r>
            <a:r>
              <a:rPr lang="ru-RU" dirty="0"/>
              <a:t> — удалить) удаляет файлы и каталоги.</a:t>
            </a:r>
            <a:endParaRPr dirty="0"/>
          </a:p>
          <a:p>
            <a:pPr marL="0" lvl="0" indent="0" algn="l" rtl="0">
              <a:lnSpc>
                <a:spcPct val="90000"/>
              </a:lnSpc>
              <a:spcBef>
                <a:spcPts val="1000"/>
              </a:spcBef>
              <a:spcAft>
                <a:spcPts val="0"/>
              </a:spcAft>
              <a:buClr>
                <a:schemeClr val="dk1"/>
              </a:buClr>
              <a:buSzPct val="100000"/>
              <a:buNone/>
            </a:pPr>
            <a:r>
              <a:rPr lang="ru-RU" dirty="0"/>
              <a:t>Так, команда </a:t>
            </a:r>
            <a:r>
              <a:rPr lang="ru-RU" dirty="0" err="1"/>
              <a:t>rm</a:t>
            </a:r>
            <a:r>
              <a:rPr lang="ru-RU" dirty="0"/>
              <a:t> file.txt удалит текстовый файл с названием </a:t>
            </a:r>
            <a:r>
              <a:rPr lang="ru-RU" dirty="0" err="1"/>
              <a:t>file</a:t>
            </a:r>
            <a:r>
              <a:rPr lang="ru-RU" dirty="0"/>
              <a:t>, а команда </a:t>
            </a:r>
            <a:r>
              <a:rPr lang="ru-RU" dirty="0" err="1"/>
              <a:t>rm</a:t>
            </a:r>
            <a:r>
              <a:rPr lang="ru-RU" dirty="0"/>
              <a:t> -r </a:t>
            </a:r>
            <a:r>
              <a:rPr lang="ru-RU" dirty="0" err="1"/>
              <a:t>Files</a:t>
            </a:r>
            <a:r>
              <a:rPr lang="ru-RU" dirty="0"/>
              <a:t> удалит директорию </a:t>
            </a:r>
            <a:r>
              <a:rPr lang="ru-RU" dirty="0" err="1"/>
              <a:t>Files</a:t>
            </a:r>
            <a:r>
              <a:rPr lang="ru-RU" dirty="0"/>
              <a:t> со всеми содержащимися в ней файлами.</a:t>
            </a:r>
            <a:endParaRPr dirty="0"/>
          </a:p>
          <a:p>
            <a:pPr marL="228600" lvl="0" indent="-64135" algn="l" rtl="0">
              <a:lnSpc>
                <a:spcPct val="90000"/>
              </a:lnSpc>
              <a:spcBef>
                <a:spcPts val="1000"/>
              </a:spcBef>
              <a:spcAft>
                <a:spcPts val="0"/>
              </a:spcAft>
              <a:buClr>
                <a:schemeClr val="dk1"/>
              </a:buClr>
              <a:buSzPct val="100000"/>
              <a:buNone/>
            </a:pPr>
            <a:endParaRPr dirty="0"/>
          </a:p>
          <a:p>
            <a:pPr marL="228600" lvl="0" indent="-228600" algn="l" rtl="0">
              <a:lnSpc>
                <a:spcPct val="90000"/>
              </a:lnSpc>
              <a:spcBef>
                <a:spcPts val="1000"/>
              </a:spcBef>
              <a:spcAft>
                <a:spcPts val="0"/>
              </a:spcAft>
              <a:buClr>
                <a:schemeClr val="dk1"/>
              </a:buClr>
              <a:buSzPct val="100000"/>
              <a:buChar char="•"/>
            </a:pPr>
            <a:r>
              <a:rPr lang="ru-RU" b="1" dirty="0" err="1"/>
              <a:t>mkdir</a:t>
            </a:r>
            <a:endParaRPr b="1" dirty="0"/>
          </a:p>
          <a:p>
            <a:pPr marL="0" lvl="0" indent="0" algn="l" rtl="0">
              <a:lnSpc>
                <a:spcPct val="90000"/>
              </a:lnSpc>
              <a:spcBef>
                <a:spcPts val="1000"/>
              </a:spcBef>
              <a:spcAft>
                <a:spcPts val="0"/>
              </a:spcAft>
              <a:buClr>
                <a:schemeClr val="dk1"/>
              </a:buClr>
              <a:buSzPct val="100000"/>
              <a:buNone/>
            </a:pPr>
            <a:r>
              <a:rPr lang="ru-RU" dirty="0"/>
              <a:t>С помощью </a:t>
            </a:r>
            <a:r>
              <a:rPr lang="ru-RU" dirty="0" err="1"/>
              <a:t>mkdir</a:t>
            </a:r>
            <a:r>
              <a:rPr lang="ru-RU" dirty="0"/>
              <a:t> (</a:t>
            </a:r>
            <a:r>
              <a:rPr lang="ru-RU" dirty="0" err="1"/>
              <a:t>make</a:t>
            </a:r>
            <a:r>
              <a:rPr lang="ru-RU" dirty="0"/>
              <a:t> </a:t>
            </a:r>
            <a:r>
              <a:rPr lang="ru-RU" dirty="0" err="1"/>
              <a:t>directory</a:t>
            </a:r>
            <a:r>
              <a:rPr lang="ru-RU" dirty="0"/>
              <a:t> — создать директорию) можно создать новую директорию.</a:t>
            </a:r>
            <a:endParaRPr dirty="0"/>
          </a:p>
          <a:p>
            <a:pPr marL="0" lvl="0" indent="0" algn="l" rtl="0">
              <a:lnSpc>
                <a:spcPct val="90000"/>
              </a:lnSpc>
              <a:spcBef>
                <a:spcPts val="1000"/>
              </a:spcBef>
              <a:spcAft>
                <a:spcPts val="0"/>
              </a:spcAft>
              <a:buClr>
                <a:schemeClr val="dk1"/>
              </a:buClr>
              <a:buSzPct val="100000"/>
              <a:buNone/>
            </a:pPr>
            <a:r>
              <a:rPr lang="ru-RU" dirty="0"/>
              <a:t>Так, команда </a:t>
            </a:r>
            <a:r>
              <a:rPr lang="ru-RU" dirty="0" err="1"/>
              <a:t>mkdir</a:t>
            </a:r>
            <a:r>
              <a:rPr lang="ru-RU" dirty="0"/>
              <a:t> </a:t>
            </a:r>
            <a:r>
              <a:rPr lang="ru-RU" dirty="0" err="1"/>
              <a:t>directory</a:t>
            </a:r>
            <a:r>
              <a:rPr lang="ru-RU" dirty="0"/>
              <a:t> создаст новую директорию с именем </a:t>
            </a:r>
            <a:r>
              <a:rPr lang="ru-RU" dirty="0" err="1"/>
              <a:t>directory</a:t>
            </a:r>
            <a:r>
              <a:rPr lang="ru-RU" dirty="0"/>
              <a:t> в текущей рабочей директории.</a:t>
            </a: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43</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262933999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1"/>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ru-RU"/>
              <a:t>Команды для работы с файлами и папками</a:t>
            </a:r>
            <a:endParaRPr/>
          </a:p>
        </p:txBody>
      </p:sp>
      <p:sp>
        <p:nvSpPr>
          <p:cNvPr id="205" name="Google Shape;205;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ru-RU" b="1" dirty="0" err="1">
                <a:latin typeface="Arial"/>
                <a:ea typeface="Arial"/>
                <a:cs typeface="Arial"/>
                <a:sym typeface="Arial"/>
              </a:rPr>
              <a:t>dd</a:t>
            </a:r>
            <a:r>
              <a:rPr lang="ru-RU" b="0" dirty="0">
                <a:latin typeface="Arial"/>
                <a:ea typeface="Arial"/>
                <a:cs typeface="Arial"/>
                <a:sym typeface="Arial"/>
              </a:rPr>
              <a:t> — мощная утилита для взаимодействия </a:t>
            </a:r>
            <a:r>
              <a:rPr lang="ru-RU" b="0" dirty="0" smtClean="0">
                <a:latin typeface="Arial"/>
                <a:ea typeface="Arial"/>
                <a:cs typeface="Arial"/>
                <a:sym typeface="Arial"/>
              </a:rPr>
              <a:t>с</a:t>
            </a:r>
            <a:r>
              <a:rPr lang="en-US" b="0" dirty="0" smtClean="0">
                <a:latin typeface="Arial"/>
                <a:ea typeface="Arial"/>
                <a:cs typeface="Arial"/>
                <a:sym typeface="Arial"/>
              </a:rPr>
              <a:t> </a:t>
            </a:r>
            <a:r>
              <a:rPr lang="ru-RU" b="0" dirty="0" smtClean="0">
                <a:latin typeface="Arial"/>
                <a:ea typeface="Arial"/>
                <a:cs typeface="Arial"/>
                <a:sym typeface="Arial"/>
              </a:rPr>
              <a:t>дисками и разделами, по сути с блочными устройствами. </a:t>
            </a:r>
            <a:r>
              <a:rPr lang="ru-RU" b="0" dirty="0">
                <a:latin typeface="Arial"/>
                <a:ea typeface="Arial"/>
                <a:cs typeface="Arial"/>
                <a:sym typeface="Arial"/>
              </a:rPr>
              <a:t>С её помощью можно делать копии разделов, перемещать их, удалять без возможности восстановления. </a:t>
            </a:r>
            <a:endParaRPr dirty="0"/>
          </a:p>
          <a:p>
            <a:pPr marL="228600" lvl="0" indent="-228600" algn="l" rtl="0">
              <a:lnSpc>
                <a:spcPct val="90000"/>
              </a:lnSpc>
              <a:spcBef>
                <a:spcPts val="1000"/>
              </a:spcBef>
              <a:spcAft>
                <a:spcPts val="0"/>
              </a:spcAft>
              <a:buClr>
                <a:schemeClr val="dk1"/>
              </a:buClr>
              <a:buSzPct val="100000"/>
              <a:buChar char="•"/>
            </a:pPr>
            <a:r>
              <a:rPr lang="ru-RU" b="1" dirty="0" err="1" smtClean="0">
                <a:latin typeface="Arial"/>
                <a:ea typeface="Arial"/>
                <a:cs typeface="Arial"/>
                <a:sym typeface="Arial"/>
              </a:rPr>
              <a:t>grep</a:t>
            </a:r>
            <a:r>
              <a:rPr lang="ru-RU" b="1" dirty="0">
                <a:latin typeface="Arial"/>
                <a:ea typeface="Arial"/>
                <a:cs typeface="Arial"/>
                <a:sym typeface="Arial"/>
              </a:rPr>
              <a:t> </a:t>
            </a:r>
            <a:r>
              <a:rPr lang="ru-RU" b="0" dirty="0">
                <a:latin typeface="Arial"/>
                <a:ea typeface="Arial"/>
                <a:cs typeface="Arial"/>
                <a:sym typeface="Arial"/>
              </a:rPr>
              <a:t>— это полнотекстовый поиск в файле. </a:t>
            </a:r>
            <a:r>
              <a:rPr lang="ru-RU" dirty="0">
                <a:latin typeface="Arial"/>
                <a:ea typeface="Arial"/>
                <a:cs typeface="Arial"/>
                <a:sym typeface="Arial"/>
              </a:rPr>
              <a:t>Очень н</a:t>
            </a:r>
            <a:r>
              <a:rPr lang="ru-RU" b="0" dirty="0">
                <a:latin typeface="Arial"/>
                <a:ea typeface="Arial"/>
                <a:cs typeface="Arial"/>
                <a:sym typeface="Arial"/>
              </a:rPr>
              <a:t>ужная команда, когда вам нужно что-то найти. Например, </a:t>
            </a:r>
            <a:r>
              <a:rPr lang="ru-RU" b="0" dirty="0" err="1">
                <a:latin typeface="Arial"/>
                <a:ea typeface="Arial"/>
                <a:cs typeface="Arial"/>
                <a:sym typeface="Arial"/>
              </a:rPr>
              <a:t>grep</a:t>
            </a:r>
            <a:r>
              <a:rPr lang="ru-RU" b="0" dirty="0">
                <a:latin typeface="Arial"/>
                <a:ea typeface="Arial"/>
                <a:cs typeface="Arial"/>
                <a:sym typeface="Arial"/>
              </a:rPr>
              <a:t> значение /путь/до/файла покажет строки в которых есть «значение». А команда </a:t>
            </a:r>
            <a:r>
              <a:rPr lang="ru-RU" b="0" dirty="0" err="1">
                <a:latin typeface="Arial"/>
                <a:ea typeface="Arial"/>
                <a:cs typeface="Arial"/>
                <a:sym typeface="Arial"/>
              </a:rPr>
              <a:t>grep</a:t>
            </a:r>
            <a:r>
              <a:rPr lang="ru-RU" b="0" dirty="0">
                <a:latin typeface="Arial"/>
                <a:ea typeface="Arial"/>
                <a:cs typeface="Arial"/>
                <a:sym typeface="Arial"/>
              </a:rPr>
              <a:t> -</a:t>
            </a:r>
            <a:r>
              <a:rPr lang="ru-RU" b="0" dirty="0" err="1">
                <a:latin typeface="Arial"/>
                <a:ea typeface="Arial"/>
                <a:cs typeface="Arial"/>
                <a:sym typeface="Arial"/>
              </a:rPr>
              <a:t>ril</a:t>
            </a:r>
            <a:r>
              <a:rPr lang="ru-RU" b="0" dirty="0">
                <a:latin typeface="Arial"/>
                <a:ea typeface="Arial"/>
                <a:cs typeface="Arial"/>
                <a:sym typeface="Arial"/>
              </a:rPr>
              <a:t> значение /путь/до/каталога/* покажет все файлы, в которых есть искомое значение.</a:t>
            </a:r>
            <a:endParaRPr dirty="0"/>
          </a:p>
          <a:p>
            <a:pPr marL="228600" lvl="0" indent="-228600" algn="l" rtl="0">
              <a:lnSpc>
                <a:spcPct val="90000"/>
              </a:lnSpc>
              <a:spcBef>
                <a:spcPts val="1000"/>
              </a:spcBef>
              <a:spcAft>
                <a:spcPts val="0"/>
              </a:spcAft>
              <a:buClr>
                <a:schemeClr val="dk1"/>
              </a:buClr>
              <a:buSzPct val="100000"/>
              <a:buChar char="•"/>
            </a:pPr>
            <a:r>
              <a:rPr lang="ru-RU" b="1" dirty="0">
                <a:latin typeface="Arial"/>
                <a:ea typeface="Arial"/>
                <a:cs typeface="Arial"/>
                <a:sym typeface="Arial"/>
              </a:rPr>
              <a:t>-r </a:t>
            </a:r>
            <a:r>
              <a:rPr lang="ru-RU" b="0" dirty="0">
                <a:latin typeface="Arial"/>
                <a:ea typeface="Arial"/>
                <a:cs typeface="Arial"/>
                <a:sym typeface="Arial"/>
              </a:rPr>
              <a:t>— рекурсивный поиск</a:t>
            </a:r>
            <a:endParaRPr dirty="0"/>
          </a:p>
          <a:p>
            <a:pPr marL="228600" lvl="0" indent="-228600" algn="l" rtl="0">
              <a:lnSpc>
                <a:spcPct val="90000"/>
              </a:lnSpc>
              <a:spcBef>
                <a:spcPts val="1000"/>
              </a:spcBef>
              <a:spcAft>
                <a:spcPts val="0"/>
              </a:spcAft>
              <a:buClr>
                <a:schemeClr val="dk1"/>
              </a:buClr>
              <a:buSzPct val="100000"/>
              <a:buChar char="•"/>
            </a:pPr>
            <a:r>
              <a:rPr lang="ru-RU" b="1" dirty="0">
                <a:latin typeface="Arial"/>
                <a:ea typeface="Arial"/>
                <a:cs typeface="Arial"/>
                <a:sym typeface="Arial"/>
              </a:rPr>
              <a:t>-i </a:t>
            </a:r>
            <a:r>
              <a:rPr lang="ru-RU" b="0" dirty="0">
                <a:latin typeface="Arial"/>
                <a:ea typeface="Arial"/>
                <a:cs typeface="Arial"/>
                <a:sym typeface="Arial"/>
              </a:rPr>
              <a:t>— игнорировать регистр (</a:t>
            </a:r>
            <a:r>
              <a:rPr lang="ru-RU" b="0" dirty="0" err="1">
                <a:latin typeface="Arial"/>
                <a:ea typeface="Arial"/>
                <a:cs typeface="Arial"/>
                <a:sym typeface="Arial"/>
              </a:rPr>
              <a:t>Case</a:t>
            </a:r>
            <a:r>
              <a:rPr lang="ru-RU" b="0" dirty="0">
                <a:latin typeface="Arial"/>
                <a:ea typeface="Arial"/>
                <a:cs typeface="Arial"/>
                <a:sym typeface="Arial"/>
              </a:rPr>
              <a:t> </a:t>
            </a:r>
            <a:r>
              <a:rPr lang="ru-RU" b="0" dirty="0" err="1">
                <a:latin typeface="Arial"/>
                <a:ea typeface="Arial"/>
                <a:cs typeface="Arial"/>
                <a:sym typeface="Arial"/>
              </a:rPr>
              <a:t>insensetive</a:t>
            </a:r>
            <a:r>
              <a:rPr lang="ru-RU" b="0" dirty="0">
                <a:latin typeface="Arial"/>
                <a:ea typeface="Arial"/>
                <a:cs typeface="Arial"/>
                <a:sym typeface="Arial"/>
              </a:rPr>
              <a:t>)</a:t>
            </a:r>
            <a:endParaRPr dirty="0"/>
          </a:p>
          <a:p>
            <a:pPr marL="228600" lvl="0" indent="-228600" algn="l" rtl="0">
              <a:lnSpc>
                <a:spcPct val="90000"/>
              </a:lnSpc>
              <a:spcBef>
                <a:spcPts val="1000"/>
              </a:spcBef>
              <a:spcAft>
                <a:spcPts val="0"/>
              </a:spcAft>
              <a:buClr>
                <a:schemeClr val="dk1"/>
              </a:buClr>
              <a:buSzPct val="100000"/>
              <a:buChar char="•"/>
            </a:pPr>
            <a:r>
              <a:rPr lang="ru-RU" b="1" dirty="0">
                <a:latin typeface="Arial"/>
                <a:ea typeface="Arial"/>
                <a:cs typeface="Arial"/>
                <a:sym typeface="Arial"/>
              </a:rPr>
              <a:t>-l </a:t>
            </a:r>
            <a:r>
              <a:rPr lang="ru-RU" b="0" dirty="0">
                <a:latin typeface="Arial"/>
                <a:ea typeface="Arial"/>
                <a:cs typeface="Arial"/>
                <a:sym typeface="Arial"/>
              </a:rPr>
              <a:t>— вывести результат списком.</a:t>
            </a:r>
            <a:endParaRPr dirty="0"/>
          </a:p>
          <a:p>
            <a:pPr marL="228600" lvl="0" indent="-77470" algn="l" rtl="0">
              <a:lnSpc>
                <a:spcPct val="90000"/>
              </a:lnSpc>
              <a:spcBef>
                <a:spcPts val="1000"/>
              </a:spcBef>
              <a:spcAft>
                <a:spcPts val="0"/>
              </a:spcAft>
              <a:buClr>
                <a:schemeClr val="dk1"/>
              </a:buClr>
              <a:buSzPct val="100000"/>
              <a:buNone/>
            </a:pP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44</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141651251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2"/>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ru-RU"/>
              <a:t>Команды для работы с файлами и папками</a:t>
            </a:r>
            <a:endParaRPr/>
          </a:p>
        </p:txBody>
      </p:sp>
      <p:sp>
        <p:nvSpPr>
          <p:cNvPr id="211" name="Google Shape;211;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ru-RU" b="1">
                <a:latin typeface="Arial"/>
                <a:ea typeface="Arial"/>
                <a:cs typeface="Arial"/>
                <a:sym typeface="Arial"/>
              </a:rPr>
              <a:t>chown </a:t>
            </a:r>
            <a:r>
              <a:rPr lang="ru-RU" b="0">
                <a:latin typeface="Arial"/>
                <a:ea typeface="Arial"/>
                <a:cs typeface="Arial"/>
                <a:sym typeface="Arial"/>
              </a:rPr>
              <a:t>пользователь:группа — команда позволяет изменить владельца файла.</a:t>
            </a:r>
            <a:endParaRPr/>
          </a:p>
          <a:p>
            <a:pPr marL="228600" lvl="0" indent="-228600" algn="l" rtl="0">
              <a:lnSpc>
                <a:spcPct val="90000"/>
              </a:lnSpc>
              <a:spcBef>
                <a:spcPts val="1000"/>
              </a:spcBef>
              <a:spcAft>
                <a:spcPts val="0"/>
              </a:spcAft>
              <a:buClr>
                <a:schemeClr val="dk1"/>
              </a:buClr>
              <a:buSzPts val="2800"/>
              <a:buChar char="•"/>
            </a:pPr>
            <a:r>
              <a:rPr lang="ru-RU" b="1">
                <a:latin typeface="Arial"/>
                <a:ea typeface="Arial"/>
                <a:cs typeface="Arial"/>
                <a:sym typeface="Arial"/>
              </a:rPr>
              <a:t>chmod</a:t>
            </a:r>
            <a:r>
              <a:rPr lang="ru-RU" b="0">
                <a:latin typeface="Arial"/>
                <a:ea typeface="Arial"/>
                <a:cs typeface="Arial"/>
                <a:sym typeface="Arial"/>
              </a:rPr>
              <a:t> — изменяет права на файл или каталог</a:t>
            </a:r>
            <a:endParaRPr/>
          </a:p>
          <a:p>
            <a:pPr marL="228600" lvl="0" indent="-228600" algn="l" rtl="0">
              <a:lnSpc>
                <a:spcPct val="90000"/>
              </a:lnSpc>
              <a:spcBef>
                <a:spcPts val="1000"/>
              </a:spcBef>
              <a:spcAft>
                <a:spcPts val="0"/>
              </a:spcAft>
              <a:buClr>
                <a:schemeClr val="dk1"/>
              </a:buClr>
              <a:buSzPts val="2800"/>
              <a:buChar char="•"/>
            </a:pPr>
            <a:r>
              <a:rPr lang="ru-RU" b="1">
                <a:latin typeface="Arial"/>
                <a:ea typeface="Arial"/>
                <a:cs typeface="Arial"/>
                <a:sym typeface="Arial"/>
              </a:rPr>
              <a:t>find</a:t>
            </a:r>
            <a:r>
              <a:rPr lang="ru-RU" b="0">
                <a:latin typeface="Arial"/>
                <a:ea typeface="Arial"/>
                <a:cs typeface="Arial"/>
                <a:sym typeface="Arial"/>
              </a:rPr>
              <a:t> — суперполезная команда. С её помощью можно искать файлы по определённым параметрам. </a:t>
            </a:r>
            <a:endParaRPr/>
          </a:p>
          <a:p>
            <a:pPr marL="228600" lvl="0" indent="-50800" algn="l" rtl="0">
              <a:lnSpc>
                <a:spcPct val="90000"/>
              </a:lnSpc>
              <a:spcBef>
                <a:spcPts val="1000"/>
              </a:spcBef>
              <a:spcAft>
                <a:spcPts val="0"/>
              </a:spcAft>
              <a:buClr>
                <a:schemeClr val="dk1"/>
              </a:buClr>
              <a:buSzPts val="2800"/>
              <a:buNone/>
            </a:pPr>
            <a:endParaRPr/>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45</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357841370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3"/>
          <p:cNvSpPr txBox="1">
            <a:spLocks noGrp="1"/>
          </p:cNvSpPr>
          <p:nvPr>
            <p:ph type="title"/>
          </p:nvPr>
        </p:nvSpPr>
        <p:spPr>
          <a:xfrm>
            <a:off x="838200" y="2"/>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ru-RU"/>
              <a:t>Команды для работы с файлами</a:t>
            </a:r>
            <a:endParaRPr/>
          </a:p>
        </p:txBody>
      </p:sp>
      <p:sp>
        <p:nvSpPr>
          <p:cNvPr id="217" name="Google Shape;217;p23"/>
          <p:cNvSpPr txBox="1">
            <a:spLocks noGrp="1"/>
          </p:cNvSpPr>
          <p:nvPr>
            <p:ph type="body" idx="1"/>
          </p:nvPr>
        </p:nvSpPr>
        <p:spPr>
          <a:xfrm>
            <a:off x="422033" y="1325564"/>
            <a:ext cx="10931769" cy="5167312"/>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ct val="100000"/>
              <a:buChar char="•"/>
            </a:pPr>
            <a:r>
              <a:rPr lang="ru-RU" b="1">
                <a:latin typeface="Arial"/>
                <a:ea typeface="Arial"/>
                <a:cs typeface="Arial"/>
                <a:sym typeface="Arial"/>
              </a:rPr>
              <a:t>cat</a:t>
            </a:r>
            <a:r>
              <a:rPr lang="ru-RU" b="0">
                <a:latin typeface="Arial"/>
                <a:ea typeface="Arial"/>
                <a:cs typeface="Arial"/>
                <a:sym typeface="Arial"/>
              </a:rPr>
              <a:t> — показывает содержимое файлов. Также может использоваться в двух вариантах: 1) одним текстовым файлом (cat путь_к_файлу), она отображает содержимое файла в окне терминала, 2) если же указать больше элементов, то команда склеит их (cat путь_к_файлу_1 путь_к_файлу_2).</a:t>
            </a:r>
            <a:endParaRPr/>
          </a:p>
          <a:p>
            <a:pPr marL="228600" lvl="0" indent="-228600" algn="l" rtl="0">
              <a:lnSpc>
                <a:spcPct val="90000"/>
              </a:lnSpc>
              <a:spcBef>
                <a:spcPts val="1000"/>
              </a:spcBef>
              <a:spcAft>
                <a:spcPts val="0"/>
              </a:spcAft>
              <a:buClr>
                <a:schemeClr val="dk1"/>
              </a:buClr>
              <a:buSzPct val="100000"/>
              <a:buChar char="•"/>
            </a:pPr>
            <a:r>
              <a:rPr lang="ru-RU" b="1">
                <a:latin typeface="Arial"/>
                <a:ea typeface="Arial"/>
                <a:cs typeface="Arial"/>
                <a:sym typeface="Arial"/>
              </a:rPr>
              <a:t>head</a:t>
            </a:r>
            <a:r>
              <a:rPr lang="ru-RU" b="0">
                <a:latin typeface="Arial"/>
                <a:ea typeface="Arial"/>
                <a:cs typeface="Arial"/>
                <a:sym typeface="Arial"/>
              </a:rPr>
              <a:t> — «голова», как и cat, показывает содержимое документов, но не всё, а только первые 10 строк. При желании количество строк можно увеличить или сократить, добавив параметр -n.</a:t>
            </a:r>
            <a:endParaRPr/>
          </a:p>
          <a:p>
            <a:pPr marL="228600" lvl="0" indent="-228600" algn="l" rtl="0">
              <a:lnSpc>
                <a:spcPct val="90000"/>
              </a:lnSpc>
              <a:spcBef>
                <a:spcPts val="1000"/>
              </a:spcBef>
              <a:spcAft>
                <a:spcPts val="0"/>
              </a:spcAft>
              <a:buClr>
                <a:schemeClr val="dk1"/>
              </a:buClr>
              <a:buSzPct val="100000"/>
              <a:buChar char="•"/>
            </a:pPr>
            <a:r>
              <a:rPr lang="ru-RU" b="1">
                <a:latin typeface="Arial"/>
                <a:ea typeface="Arial"/>
                <a:cs typeface="Arial"/>
                <a:sym typeface="Arial"/>
              </a:rPr>
              <a:t>tail -f</a:t>
            </a:r>
            <a:r>
              <a:rPr lang="ru-RU" b="0">
                <a:latin typeface="Arial"/>
                <a:ea typeface="Arial"/>
                <a:cs typeface="Arial"/>
                <a:sym typeface="Arial"/>
              </a:rPr>
              <a:t> — используется для просмотра растущего файла в окне интерактивного запуска кода.</a:t>
            </a:r>
            <a:endParaRPr/>
          </a:p>
          <a:p>
            <a:pPr marL="228600" lvl="0" indent="-228600" algn="l" rtl="0">
              <a:lnSpc>
                <a:spcPct val="90000"/>
              </a:lnSpc>
              <a:spcBef>
                <a:spcPts val="1000"/>
              </a:spcBef>
              <a:spcAft>
                <a:spcPts val="0"/>
              </a:spcAft>
              <a:buClr>
                <a:schemeClr val="dk1"/>
              </a:buClr>
              <a:buSzPct val="100000"/>
              <a:buChar char="•"/>
            </a:pPr>
            <a:r>
              <a:rPr lang="ru-RU" b="1">
                <a:latin typeface="Arial"/>
                <a:ea typeface="Arial"/>
                <a:cs typeface="Arial"/>
                <a:sym typeface="Arial"/>
              </a:rPr>
              <a:t>touch</a:t>
            </a:r>
            <a:r>
              <a:rPr lang="ru-RU" b="0">
                <a:latin typeface="Arial"/>
                <a:ea typeface="Arial"/>
                <a:cs typeface="Arial"/>
                <a:sym typeface="Arial"/>
              </a:rPr>
              <a:t> — эта команда создавалась для изменения времени последнего открытия файла или директории, но используют её, в основном, для создания новых файлов.</a:t>
            </a:r>
            <a:endParaRPr/>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46</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407331874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4"/>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ru-RU"/>
              <a:t>Команды для работы с файлами</a:t>
            </a:r>
            <a:endParaRPr/>
          </a:p>
        </p:txBody>
      </p:sp>
      <p:sp>
        <p:nvSpPr>
          <p:cNvPr id="223" name="Google Shape;223;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ru-RU" b="1" dirty="0" err="1">
                <a:latin typeface="Arial"/>
                <a:ea typeface="Arial"/>
                <a:cs typeface="Arial"/>
                <a:sym typeface="Arial"/>
              </a:rPr>
              <a:t>wget</a:t>
            </a:r>
            <a:r>
              <a:rPr lang="ru-RU" b="1" dirty="0">
                <a:latin typeface="Arial"/>
                <a:ea typeface="Arial"/>
                <a:cs typeface="Arial"/>
                <a:sym typeface="Arial"/>
              </a:rPr>
              <a:t> </a:t>
            </a:r>
            <a:r>
              <a:rPr lang="ru-RU" b="0" dirty="0">
                <a:latin typeface="Arial"/>
                <a:ea typeface="Arial"/>
                <a:cs typeface="Arial"/>
                <a:sym typeface="Arial"/>
              </a:rPr>
              <a:t>— загружает из интернета документы, картинки, целые страницы и прочий контент</a:t>
            </a:r>
            <a:r>
              <a:rPr lang="ru-RU" b="0" dirty="0" smtClean="0">
                <a:latin typeface="Arial"/>
                <a:ea typeface="Arial"/>
                <a:cs typeface="Arial"/>
                <a:sym typeface="Arial"/>
              </a:rPr>
              <a:t>.</a:t>
            </a:r>
            <a:endParaRPr b="1" dirty="0">
              <a:latin typeface="Arial"/>
              <a:ea typeface="Arial"/>
              <a:cs typeface="Arial"/>
              <a:sym typeface="Arial"/>
            </a:endParaRPr>
          </a:p>
          <a:p>
            <a:pPr marL="228600" lvl="0" indent="-228600" algn="l" rtl="0">
              <a:lnSpc>
                <a:spcPct val="90000"/>
              </a:lnSpc>
              <a:spcBef>
                <a:spcPts val="1000"/>
              </a:spcBef>
              <a:spcAft>
                <a:spcPts val="0"/>
              </a:spcAft>
              <a:buClr>
                <a:schemeClr val="dk1"/>
              </a:buClr>
              <a:buSzPts val="2800"/>
              <a:buChar char="•"/>
            </a:pPr>
            <a:r>
              <a:rPr lang="ru-RU" b="1" dirty="0" err="1">
                <a:latin typeface="Arial"/>
                <a:ea typeface="Arial"/>
                <a:cs typeface="Arial"/>
                <a:sym typeface="Arial"/>
              </a:rPr>
              <a:t>wc</a:t>
            </a:r>
            <a:r>
              <a:rPr lang="ru-RU" b="0" dirty="0">
                <a:latin typeface="Arial"/>
                <a:ea typeface="Arial"/>
                <a:cs typeface="Arial"/>
                <a:sym typeface="Arial"/>
              </a:rPr>
              <a:t> — считает количество строк, слов, знаков и байтов.</a:t>
            </a:r>
            <a:endParaRPr dirty="0"/>
          </a:p>
          <a:p>
            <a:pPr marL="228600" lvl="0" indent="-228600" algn="l" rtl="0">
              <a:lnSpc>
                <a:spcPct val="90000"/>
              </a:lnSpc>
              <a:spcBef>
                <a:spcPts val="1000"/>
              </a:spcBef>
              <a:spcAft>
                <a:spcPts val="0"/>
              </a:spcAft>
              <a:buClr>
                <a:schemeClr val="dk1"/>
              </a:buClr>
              <a:buSzPts val="2800"/>
              <a:buChar char="•"/>
            </a:pPr>
            <a:r>
              <a:rPr lang="ru-RU" b="1" dirty="0" err="1">
                <a:latin typeface="Arial"/>
                <a:ea typeface="Arial"/>
                <a:cs typeface="Arial"/>
                <a:sym typeface="Arial"/>
              </a:rPr>
              <a:t>zip</a:t>
            </a:r>
            <a:r>
              <a:rPr lang="ru-RU" b="0" dirty="0">
                <a:latin typeface="Arial"/>
                <a:ea typeface="Arial"/>
                <a:cs typeface="Arial"/>
                <a:sym typeface="Arial"/>
              </a:rPr>
              <a:t> — упаковывает файлы в архив в формате .</a:t>
            </a:r>
            <a:r>
              <a:rPr lang="ru-RU" b="0" dirty="0" err="1">
                <a:latin typeface="Arial"/>
                <a:ea typeface="Arial"/>
                <a:cs typeface="Arial"/>
                <a:sym typeface="Arial"/>
              </a:rPr>
              <a:t>zip</a:t>
            </a:r>
            <a:r>
              <a:rPr lang="ru-RU" b="0" dirty="0">
                <a:latin typeface="Arial"/>
                <a:ea typeface="Arial"/>
                <a:cs typeface="Arial"/>
                <a:sym typeface="Arial"/>
              </a:rPr>
              <a:t>.</a:t>
            </a:r>
            <a:endParaRPr dirty="0"/>
          </a:p>
          <a:p>
            <a:pPr marL="228600" lvl="0" indent="-228600" algn="l" rtl="0">
              <a:lnSpc>
                <a:spcPct val="90000"/>
              </a:lnSpc>
              <a:spcBef>
                <a:spcPts val="1000"/>
              </a:spcBef>
              <a:spcAft>
                <a:spcPts val="0"/>
              </a:spcAft>
              <a:buClr>
                <a:schemeClr val="dk1"/>
              </a:buClr>
              <a:buSzPts val="2800"/>
              <a:buChar char="•"/>
            </a:pPr>
            <a:r>
              <a:rPr lang="ru-RU" b="1" dirty="0" err="1">
                <a:latin typeface="Arial"/>
                <a:ea typeface="Arial"/>
                <a:cs typeface="Arial"/>
                <a:sym typeface="Arial"/>
              </a:rPr>
              <a:t>diff</a:t>
            </a:r>
            <a:r>
              <a:rPr lang="ru-RU" b="1" dirty="0">
                <a:latin typeface="Arial"/>
                <a:ea typeface="Arial"/>
                <a:cs typeface="Arial"/>
                <a:sym typeface="Arial"/>
              </a:rPr>
              <a:t> </a:t>
            </a:r>
            <a:r>
              <a:rPr lang="ru-RU" b="0" dirty="0">
                <a:latin typeface="Arial"/>
                <a:ea typeface="Arial"/>
                <a:cs typeface="Arial"/>
                <a:sym typeface="Arial"/>
              </a:rPr>
              <a:t>— сокращение от «</a:t>
            </a:r>
            <a:r>
              <a:rPr lang="ru-RU" b="0" dirty="0" err="1">
                <a:latin typeface="Arial"/>
                <a:ea typeface="Arial"/>
                <a:cs typeface="Arial"/>
                <a:sym typeface="Arial"/>
              </a:rPr>
              <a:t>difference</a:t>
            </a:r>
            <a:r>
              <a:rPr lang="ru-RU" b="0" dirty="0">
                <a:latin typeface="Arial"/>
                <a:ea typeface="Arial"/>
                <a:cs typeface="Arial"/>
                <a:sym typeface="Arial"/>
              </a:rPr>
              <a:t>». Команда показывает разницу между двумя текстовыми файлами.</a:t>
            </a:r>
            <a:endParaRPr dirty="0"/>
          </a:p>
          <a:p>
            <a:pPr marL="228600" lvl="0" indent="-50800" algn="l" rtl="0">
              <a:lnSpc>
                <a:spcPct val="90000"/>
              </a:lnSpc>
              <a:spcBef>
                <a:spcPts val="1000"/>
              </a:spcBef>
              <a:spcAft>
                <a:spcPts val="0"/>
              </a:spcAft>
              <a:buClr>
                <a:schemeClr val="dk1"/>
              </a:buClr>
              <a:buSzPts val="2800"/>
              <a:buNone/>
            </a:pP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47</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58242760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5"/>
          <p:cNvSpPr txBox="1">
            <a:spLocks noGrp="1"/>
          </p:cNvSpPr>
          <p:nvPr>
            <p:ph type="title"/>
          </p:nvPr>
        </p:nvSpPr>
        <p:spPr>
          <a:xfrm>
            <a:off x="838200" y="365127"/>
            <a:ext cx="110490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ru-RU"/>
              <a:t>Команды для работы с бинарными файлами</a:t>
            </a:r>
            <a:endParaRPr/>
          </a:p>
        </p:txBody>
      </p:sp>
      <p:sp>
        <p:nvSpPr>
          <p:cNvPr id="229" name="Google Shape;229;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ru-RU" b="1">
                <a:latin typeface="Arial"/>
                <a:ea typeface="Arial"/>
                <a:cs typeface="Arial"/>
                <a:sym typeface="Arial"/>
              </a:rPr>
              <a:t>strings</a:t>
            </a:r>
            <a:r>
              <a:rPr lang="ru-RU" b="0">
                <a:latin typeface="Arial"/>
                <a:ea typeface="Arial"/>
                <a:cs typeface="Arial"/>
                <a:sym typeface="Arial"/>
              </a:rPr>
              <a:t> — команда выведет готовые к печати строки файла;</a:t>
            </a:r>
            <a:endParaRPr/>
          </a:p>
          <a:p>
            <a:pPr marL="228600" lvl="0" indent="-228600" algn="l" rtl="0">
              <a:lnSpc>
                <a:spcPct val="90000"/>
              </a:lnSpc>
              <a:spcBef>
                <a:spcPts val="1000"/>
              </a:spcBef>
              <a:spcAft>
                <a:spcPts val="0"/>
              </a:spcAft>
              <a:buClr>
                <a:schemeClr val="dk1"/>
              </a:buClr>
              <a:buSzPts val="2800"/>
              <a:buChar char="•"/>
            </a:pPr>
            <a:r>
              <a:rPr lang="ru-RU" b="1">
                <a:latin typeface="Arial"/>
                <a:ea typeface="Arial"/>
                <a:cs typeface="Arial"/>
                <a:sym typeface="Arial"/>
              </a:rPr>
              <a:t>od</a:t>
            </a:r>
            <a:r>
              <a:rPr lang="ru-RU" b="0">
                <a:latin typeface="Arial"/>
                <a:ea typeface="Arial"/>
                <a:cs typeface="Arial"/>
                <a:sym typeface="Arial"/>
              </a:rPr>
              <a:t> — позволит вам напечатать файл в восьмеричном формате;</a:t>
            </a:r>
            <a:endParaRPr/>
          </a:p>
          <a:p>
            <a:pPr marL="228600" lvl="0" indent="-228600" algn="l" rtl="0">
              <a:lnSpc>
                <a:spcPct val="90000"/>
              </a:lnSpc>
              <a:spcBef>
                <a:spcPts val="1000"/>
              </a:spcBef>
              <a:spcAft>
                <a:spcPts val="0"/>
              </a:spcAft>
              <a:buClr>
                <a:schemeClr val="dk1"/>
              </a:buClr>
              <a:buSzPts val="2800"/>
              <a:buChar char="•"/>
            </a:pPr>
            <a:r>
              <a:rPr lang="ru-RU" b="1">
                <a:latin typeface="Arial"/>
                <a:ea typeface="Arial"/>
                <a:cs typeface="Arial"/>
                <a:sym typeface="Arial"/>
              </a:rPr>
              <a:t>cmp </a:t>
            </a:r>
            <a:r>
              <a:rPr lang="ru-RU" b="0">
                <a:latin typeface="Arial"/>
                <a:ea typeface="Arial"/>
                <a:cs typeface="Arial"/>
                <a:sym typeface="Arial"/>
              </a:rPr>
              <a:t>— даёт возможность побайтно сравнивать файлы.</a:t>
            </a:r>
            <a:endParaRPr/>
          </a:p>
          <a:p>
            <a:pPr marL="228600" lvl="0" indent="-50800" algn="l" rtl="0">
              <a:lnSpc>
                <a:spcPct val="90000"/>
              </a:lnSpc>
              <a:spcBef>
                <a:spcPts val="1000"/>
              </a:spcBef>
              <a:spcAft>
                <a:spcPts val="0"/>
              </a:spcAft>
              <a:buClr>
                <a:schemeClr val="dk1"/>
              </a:buClr>
              <a:buSzPts val="2800"/>
              <a:buNone/>
            </a:pPr>
            <a:endParaRPr/>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48</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154535092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ru-RU"/>
              <a:t>Сравнение текстовых файлов</a:t>
            </a:r>
            <a:endParaRPr/>
          </a:p>
        </p:txBody>
      </p:sp>
      <p:sp>
        <p:nvSpPr>
          <p:cNvPr id="235" name="Google Shape;235;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ru-RU" b="1">
                <a:latin typeface="Arial"/>
                <a:ea typeface="Arial"/>
                <a:cs typeface="Arial"/>
                <a:sym typeface="Arial"/>
              </a:rPr>
              <a:t>comm</a:t>
            </a:r>
            <a:r>
              <a:rPr lang="ru-RU" b="0">
                <a:latin typeface="Arial"/>
                <a:ea typeface="Arial"/>
                <a:cs typeface="Arial"/>
                <a:sym typeface="Arial"/>
              </a:rPr>
              <a:t> — отсортированные файлы будут строка за строкой.</a:t>
            </a:r>
            <a:endParaRPr/>
          </a:p>
          <a:p>
            <a:pPr marL="228600" lvl="0" indent="-228600" algn="l" rtl="0">
              <a:lnSpc>
                <a:spcPct val="90000"/>
              </a:lnSpc>
              <a:spcBef>
                <a:spcPts val="1000"/>
              </a:spcBef>
              <a:spcAft>
                <a:spcPts val="0"/>
              </a:spcAft>
              <a:buClr>
                <a:schemeClr val="dk1"/>
              </a:buClr>
              <a:buSzPts val="2800"/>
              <a:buChar char="•"/>
            </a:pPr>
            <a:r>
              <a:rPr lang="ru-RU" b="1">
                <a:latin typeface="Arial"/>
                <a:ea typeface="Arial"/>
                <a:cs typeface="Arial"/>
                <a:sym typeface="Arial"/>
              </a:rPr>
              <a:t>diff </a:t>
            </a:r>
            <a:r>
              <a:rPr lang="ru-RU" b="0">
                <a:latin typeface="Arial"/>
                <a:ea typeface="Arial"/>
                <a:cs typeface="Arial"/>
                <a:sym typeface="Arial"/>
              </a:rPr>
              <a:t>— позволяет построчно выявить различия. Эта команда используется наиболее часто в силу богатого набора опций.</a:t>
            </a:r>
            <a:endParaRPr/>
          </a:p>
          <a:p>
            <a:pPr marL="228600" lvl="0" indent="-50800" algn="l" rtl="0">
              <a:lnSpc>
                <a:spcPct val="90000"/>
              </a:lnSpc>
              <a:spcBef>
                <a:spcPts val="1000"/>
              </a:spcBef>
              <a:spcAft>
                <a:spcPts val="0"/>
              </a:spcAft>
              <a:buClr>
                <a:schemeClr val="dk1"/>
              </a:buClr>
              <a:buSzPts val="2800"/>
              <a:buNone/>
            </a:pPr>
            <a:endParaRPr/>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49</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292897830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7"/>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ru-RU"/>
              <a:t>Команды для управления пользователями</a:t>
            </a:r>
            <a:endParaRPr/>
          </a:p>
        </p:txBody>
      </p:sp>
      <p:sp>
        <p:nvSpPr>
          <p:cNvPr id="241" name="Google Shape;241;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ru-RU" b="1">
                <a:latin typeface="Arial"/>
                <a:ea typeface="Arial"/>
                <a:cs typeface="Arial"/>
                <a:sym typeface="Arial"/>
              </a:rPr>
              <a:t>useradd</a:t>
            </a:r>
            <a:r>
              <a:rPr lang="ru-RU" b="0">
                <a:latin typeface="Arial"/>
                <a:ea typeface="Arial"/>
                <a:cs typeface="Arial"/>
                <a:sym typeface="Arial"/>
              </a:rPr>
              <a:t> — создаёт новую учётную запись. Например, если мы захотим бы добавить нового пользователя с именем teacher, то нужно воспользоваться этой командой — вводим useradd teacher. </a:t>
            </a:r>
            <a:endParaRPr/>
          </a:p>
          <a:p>
            <a:pPr marL="228600" lvl="0" indent="-228600" algn="l" rtl="0">
              <a:lnSpc>
                <a:spcPct val="90000"/>
              </a:lnSpc>
              <a:spcBef>
                <a:spcPts val="1000"/>
              </a:spcBef>
              <a:spcAft>
                <a:spcPts val="0"/>
              </a:spcAft>
              <a:buClr>
                <a:schemeClr val="dk1"/>
              </a:buClr>
              <a:buSzPts val="2800"/>
              <a:buChar char="•"/>
            </a:pPr>
            <a:r>
              <a:rPr lang="ru-RU" b="1">
                <a:latin typeface="Arial"/>
                <a:ea typeface="Arial"/>
                <a:cs typeface="Arial"/>
                <a:sym typeface="Arial"/>
              </a:rPr>
              <a:t>passwd </a:t>
            </a:r>
            <a:r>
              <a:rPr lang="ru-RU" b="0">
                <a:latin typeface="Arial"/>
                <a:ea typeface="Arial"/>
                <a:cs typeface="Arial"/>
                <a:sym typeface="Arial"/>
              </a:rPr>
              <a:t>— задаёт пароль для учётной записи. Короче говоря, работает вкупе с предыдущей командой. То есть сразу после создания аккаунта, пишем passwd REG.RU.</a:t>
            </a:r>
            <a:endParaRPr/>
          </a:p>
          <a:p>
            <a:pPr marL="228600" lvl="0" indent="-228600" algn="l" rtl="0">
              <a:lnSpc>
                <a:spcPct val="90000"/>
              </a:lnSpc>
              <a:spcBef>
                <a:spcPts val="1000"/>
              </a:spcBef>
              <a:spcAft>
                <a:spcPts val="0"/>
              </a:spcAft>
              <a:buClr>
                <a:schemeClr val="dk1"/>
              </a:buClr>
              <a:buSzPts val="2800"/>
              <a:buChar char="•"/>
            </a:pPr>
            <a:r>
              <a:rPr lang="ru-RU" b="1">
                <a:latin typeface="Arial"/>
                <a:ea typeface="Arial"/>
                <a:cs typeface="Arial"/>
                <a:sym typeface="Arial"/>
              </a:rPr>
              <a:t>userdel</a:t>
            </a:r>
            <a:r>
              <a:rPr lang="ru-RU" b="0">
                <a:latin typeface="Arial"/>
                <a:ea typeface="Arial"/>
                <a:cs typeface="Arial"/>
                <a:sym typeface="Arial"/>
              </a:rPr>
              <a:t> — удаляет выбранную учётную запись. Синтаксис простейший: </a:t>
            </a:r>
            <a:r>
              <a:rPr lang="ru-RU" b="1">
                <a:latin typeface="Arial"/>
                <a:ea typeface="Arial"/>
                <a:cs typeface="Arial"/>
                <a:sym typeface="Arial"/>
              </a:rPr>
              <a:t>userdel &lt;имя учётной записи&gt;</a:t>
            </a:r>
            <a:r>
              <a:rPr lang="ru-RU" b="0">
                <a:latin typeface="Arial"/>
                <a:ea typeface="Arial"/>
                <a:cs typeface="Arial"/>
                <a:sym typeface="Arial"/>
              </a:rPr>
              <a:t>, которую нужно стереть</a:t>
            </a:r>
            <a:endParaRPr/>
          </a:p>
          <a:p>
            <a:pPr marL="228600" lvl="0" indent="-50800" algn="l" rtl="0">
              <a:lnSpc>
                <a:spcPct val="90000"/>
              </a:lnSpc>
              <a:spcBef>
                <a:spcPts val="1000"/>
              </a:spcBef>
              <a:spcAft>
                <a:spcPts val="0"/>
              </a:spcAft>
              <a:buClr>
                <a:schemeClr val="dk1"/>
              </a:buClr>
              <a:buSzPts val="2800"/>
              <a:buNone/>
            </a:pPr>
            <a:endParaRPr/>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50</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341003090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8"/>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ru-RU"/>
              <a:t>Команды для работы с пакетами в Debian</a:t>
            </a:r>
            <a:endParaRPr/>
          </a:p>
        </p:txBody>
      </p:sp>
      <p:sp>
        <p:nvSpPr>
          <p:cNvPr id="247" name="Google Shape;247;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l" rtl="0">
              <a:lnSpc>
                <a:spcPct val="90000"/>
              </a:lnSpc>
              <a:spcBef>
                <a:spcPts val="0"/>
              </a:spcBef>
              <a:spcAft>
                <a:spcPts val="0"/>
              </a:spcAft>
              <a:buClr>
                <a:schemeClr val="dk1"/>
              </a:buClr>
              <a:buSzPct val="100000"/>
              <a:buChar char="•"/>
            </a:pPr>
            <a:r>
              <a:rPr lang="ru-RU" b="1">
                <a:latin typeface="Arial"/>
                <a:ea typeface="Arial"/>
                <a:cs typeface="Arial"/>
                <a:sym typeface="Arial"/>
              </a:rPr>
              <a:t>sudo apt-get install название_пакета </a:t>
            </a:r>
            <a:r>
              <a:rPr lang="ru-RU" b="0">
                <a:latin typeface="Arial"/>
                <a:ea typeface="Arial"/>
                <a:cs typeface="Arial"/>
                <a:sym typeface="Arial"/>
              </a:rPr>
              <a:t>— устанавливает программу</a:t>
            </a:r>
            <a:endParaRPr/>
          </a:p>
          <a:p>
            <a:pPr marL="228600" lvl="0" indent="-228600" algn="l" rtl="0">
              <a:lnSpc>
                <a:spcPct val="90000"/>
              </a:lnSpc>
              <a:spcBef>
                <a:spcPts val="1000"/>
              </a:spcBef>
              <a:spcAft>
                <a:spcPts val="0"/>
              </a:spcAft>
              <a:buClr>
                <a:schemeClr val="dk1"/>
              </a:buClr>
              <a:buSzPct val="100000"/>
              <a:buChar char="•"/>
            </a:pPr>
            <a:r>
              <a:rPr lang="ru-RU" b="1">
                <a:latin typeface="Arial"/>
                <a:ea typeface="Arial"/>
                <a:cs typeface="Arial"/>
                <a:sym typeface="Arial"/>
              </a:rPr>
              <a:t>sudo apt remove название_пакета</a:t>
            </a:r>
            <a:r>
              <a:rPr lang="ru-RU" b="0">
                <a:latin typeface="Arial"/>
                <a:ea typeface="Arial"/>
                <a:cs typeface="Arial"/>
                <a:sym typeface="Arial"/>
              </a:rPr>
              <a:t> — команда, используя которую можно удалить не только ПО, но и все неиспользуемые пакеты</a:t>
            </a:r>
            <a:endParaRPr/>
          </a:p>
          <a:p>
            <a:pPr marL="228600" lvl="0" indent="-228600" algn="l" rtl="0">
              <a:lnSpc>
                <a:spcPct val="90000"/>
              </a:lnSpc>
              <a:spcBef>
                <a:spcPts val="1000"/>
              </a:spcBef>
              <a:spcAft>
                <a:spcPts val="0"/>
              </a:spcAft>
              <a:buClr>
                <a:schemeClr val="dk1"/>
              </a:buClr>
              <a:buSzPct val="100000"/>
              <a:buChar char="•"/>
            </a:pPr>
            <a:r>
              <a:rPr lang="ru-RU" b="1">
                <a:latin typeface="Arial"/>
                <a:ea typeface="Arial"/>
                <a:cs typeface="Arial"/>
                <a:sym typeface="Arial"/>
              </a:rPr>
              <a:t>sudo apt-get update </a:t>
            </a:r>
            <a:r>
              <a:rPr lang="ru-RU" b="0">
                <a:latin typeface="Arial"/>
                <a:ea typeface="Arial"/>
                <a:cs typeface="Arial"/>
                <a:sym typeface="Arial"/>
              </a:rPr>
              <a:t>— обновляет информацию о пакетах, имеющихся в системе, и тех, что хранятся в подключённых репозиториях</a:t>
            </a:r>
            <a:endParaRPr/>
          </a:p>
          <a:p>
            <a:pPr marL="228600" lvl="0" indent="-228600" algn="l" rtl="0">
              <a:lnSpc>
                <a:spcPct val="90000"/>
              </a:lnSpc>
              <a:spcBef>
                <a:spcPts val="1000"/>
              </a:spcBef>
              <a:spcAft>
                <a:spcPts val="0"/>
              </a:spcAft>
              <a:buClr>
                <a:schemeClr val="dk1"/>
              </a:buClr>
              <a:buSzPct val="100000"/>
              <a:buChar char="•"/>
            </a:pPr>
            <a:r>
              <a:rPr lang="ru-RU" b="1">
                <a:latin typeface="Arial"/>
                <a:ea typeface="Arial"/>
                <a:cs typeface="Arial"/>
                <a:sym typeface="Arial"/>
              </a:rPr>
              <a:t>sudo apt-upgrade</a:t>
            </a:r>
            <a:r>
              <a:rPr lang="ru-RU" b="0">
                <a:latin typeface="Arial"/>
                <a:ea typeface="Arial"/>
                <a:cs typeface="Arial"/>
                <a:sym typeface="Arial"/>
              </a:rPr>
              <a:t> — обновляет установленные пакеты до самых свежих версий, доступных в подключенных репозиториях</a:t>
            </a:r>
            <a:endParaRPr/>
          </a:p>
          <a:p>
            <a:pPr marL="228600" lvl="0" indent="-228600" algn="l" rtl="0">
              <a:lnSpc>
                <a:spcPct val="90000"/>
              </a:lnSpc>
              <a:spcBef>
                <a:spcPts val="1000"/>
              </a:spcBef>
              <a:spcAft>
                <a:spcPts val="0"/>
              </a:spcAft>
              <a:buClr>
                <a:schemeClr val="dk1"/>
              </a:buClr>
              <a:buSzPct val="100000"/>
              <a:buChar char="•"/>
            </a:pPr>
            <a:r>
              <a:rPr lang="ru-RU" b="1">
                <a:latin typeface="Arial"/>
                <a:ea typeface="Arial"/>
                <a:cs typeface="Arial"/>
                <a:sym typeface="Arial"/>
              </a:rPr>
              <a:t>sudo apt purge</a:t>
            </a:r>
            <a:r>
              <a:rPr lang="ru-RU" b="0">
                <a:latin typeface="Arial"/>
                <a:ea typeface="Arial"/>
                <a:cs typeface="Arial"/>
                <a:sym typeface="Arial"/>
              </a:rPr>
              <a:t> — удаляет все файлы конфигурации вместе с пакетами ПО</a:t>
            </a:r>
            <a:endParaRPr/>
          </a:p>
          <a:p>
            <a:pPr marL="228600" lvl="0" indent="-228600" algn="l" rtl="0">
              <a:lnSpc>
                <a:spcPct val="90000"/>
              </a:lnSpc>
              <a:spcBef>
                <a:spcPts val="1000"/>
              </a:spcBef>
              <a:spcAft>
                <a:spcPts val="0"/>
              </a:spcAft>
              <a:buClr>
                <a:schemeClr val="dk1"/>
              </a:buClr>
              <a:buSzPct val="100000"/>
              <a:buChar char="•"/>
            </a:pPr>
            <a:r>
              <a:rPr lang="ru-RU" b="1">
                <a:latin typeface="Arial"/>
                <a:ea typeface="Arial"/>
                <a:cs typeface="Arial"/>
                <a:sym typeface="Arial"/>
              </a:rPr>
              <a:t>sudo apt autoremove -purge</a:t>
            </a:r>
            <a:r>
              <a:rPr lang="ru-RU" b="0">
                <a:latin typeface="Arial"/>
                <a:ea typeface="Arial"/>
                <a:cs typeface="Arial"/>
                <a:sym typeface="Arial"/>
              </a:rPr>
              <a:t> — удаляет абсолютно всё: и пакеты, и зависимости, и конфиги</a:t>
            </a:r>
            <a:endParaRPr/>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51</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334604953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4"/>
          <p:cNvSpPr txBox="1">
            <a:spLocks noGrp="1"/>
          </p:cNvSpPr>
          <p:nvPr>
            <p:ph type="title"/>
          </p:nvPr>
        </p:nvSpPr>
        <p:spPr>
          <a:xfrm>
            <a:off x="450165" y="365127"/>
            <a:ext cx="11741835"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ru-RU"/>
              <a:t>Сбор информации о системе</a:t>
            </a:r>
            <a:endParaRPr/>
          </a:p>
        </p:txBody>
      </p:sp>
      <p:sp>
        <p:nvSpPr>
          <p:cNvPr id="281" name="Google Shape;281;p34"/>
          <p:cNvSpPr txBox="1">
            <a:spLocks noGrp="1"/>
          </p:cNvSpPr>
          <p:nvPr>
            <p:ph type="body" idx="1"/>
          </p:nvPr>
        </p:nvSpPr>
        <p:spPr>
          <a:xfrm>
            <a:off x="159433" y="1825625"/>
            <a:ext cx="11741835"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ru-RU" dirty="0">
                <a:latin typeface="Times New Roman"/>
                <a:ea typeface="Times New Roman"/>
                <a:cs typeface="Times New Roman"/>
                <a:sym typeface="Times New Roman"/>
              </a:rPr>
              <a:t>Узнать имя машины – </a:t>
            </a:r>
            <a:r>
              <a:rPr lang="ru-RU" dirty="0" err="1">
                <a:latin typeface="Times New Roman"/>
                <a:ea typeface="Times New Roman"/>
                <a:cs typeface="Times New Roman"/>
                <a:sym typeface="Times New Roman"/>
              </a:rPr>
              <a:t>hostname</a:t>
            </a:r>
            <a:r>
              <a:rPr lang="ru-RU" dirty="0">
                <a:latin typeface="Times New Roman"/>
                <a:ea typeface="Times New Roman"/>
                <a:cs typeface="Times New Roman"/>
                <a:sym typeface="Times New Roman"/>
              </a:rPr>
              <a:t> или </a:t>
            </a:r>
            <a:r>
              <a:rPr lang="ru-RU" b="0" i="0" dirty="0" err="1">
                <a:latin typeface="Times New Roman"/>
                <a:ea typeface="Times New Roman"/>
                <a:cs typeface="Times New Roman"/>
                <a:sym typeface="Times New Roman"/>
              </a:rPr>
              <a:t>cat</a:t>
            </a:r>
            <a:r>
              <a:rPr lang="ru-RU" b="0" i="0" dirty="0">
                <a:latin typeface="Times New Roman"/>
                <a:ea typeface="Times New Roman"/>
                <a:cs typeface="Times New Roman"/>
                <a:sym typeface="Times New Roman"/>
              </a:rPr>
              <a:t> /</a:t>
            </a:r>
            <a:r>
              <a:rPr lang="ru-RU" b="0" i="0" dirty="0" err="1">
                <a:latin typeface="Times New Roman"/>
                <a:ea typeface="Times New Roman"/>
                <a:cs typeface="Times New Roman"/>
                <a:sym typeface="Times New Roman"/>
              </a:rPr>
              <a:t>etc</a:t>
            </a:r>
            <a:r>
              <a:rPr lang="ru-RU" b="0" i="0" dirty="0">
                <a:latin typeface="Times New Roman"/>
                <a:ea typeface="Times New Roman"/>
                <a:cs typeface="Times New Roman"/>
                <a:sym typeface="Times New Roman"/>
              </a:rPr>
              <a:t>/</a:t>
            </a:r>
            <a:r>
              <a:rPr lang="ru-RU" b="0" i="0" dirty="0" err="1">
                <a:latin typeface="Times New Roman"/>
                <a:ea typeface="Times New Roman"/>
                <a:cs typeface="Times New Roman"/>
                <a:sym typeface="Times New Roman"/>
              </a:rPr>
              <a:t>hostname</a:t>
            </a:r>
            <a:endParaRPr b="0" i="0" dirty="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800"/>
              <a:buChar char="•"/>
            </a:pPr>
            <a:r>
              <a:rPr lang="ru-RU" dirty="0">
                <a:latin typeface="Times New Roman"/>
                <a:ea typeface="Times New Roman"/>
                <a:cs typeface="Times New Roman"/>
                <a:sym typeface="Times New Roman"/>
              </a:rPr>
              <a:t>Подробная информация о машине – </a:t>
            </a:r>
            <a:r>
              <a:rPr lang="ru-RU" b="0" i="0" dirty="0" err="1">
                <a:latin typeface="Times New Roman"/>
                <a:ea typeface="Times New Roman"/>
                <a:cs typeface="Times New Roman"/>
                <a:sym typeface="Times New Roman"/>
              </a:rPr>
              <a:t>hostnamectl</a:t>
            </a:r>
            <a:endParaRPr b="0" i="0" dirty="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800"/>
              <a:buChar char="•"/>
            </a:pPr>
            <a:r>
              <a:rPr lang="ru-RU" dirty="0">
                <a:latin typeface="Times New Roman"/>
                <a:ea typeface="Times New Roman"/>
                <a:cs typeface="Times New Roman"/>
                <a:sym typeface="Times New Roman"/>
              </a:rPr>
              <a:t>Статистика использования процессора – </a:t>
            </a:r>
            <a:r>
              <a:rPr lang="ru-RU" dirty="0" err="1">
                <a:latin typeface="Times New Roman"/>
                <a:ea typeface="Times New Roman"/>
                <a:cs typeface="Times New Roman"/>
                <a:sym typeface="Times New Roman"/>
              </a:rPr>
              <a:t>sudo</a:t>
            </a:r>
            <a:r>
              <a:rPr lang="ru-RU" dirty="0">
                <a:latin typeface="Times New Roman"/>
                <a:ea typeface="Times New Roman"/>
                <a:cs typeface="Times New Roman"/>
                <a:sym typeface="Times New Roman"/>
              </a:rPr>
              <a:t> </a:t>
            </a:r>
            <a:r>
              <a:rPr lang="ru-RU" dirty="0" err="1">
                <a:latin typeface="Times New Roman"/>
                <a:ea typeface="Times New Roman"/>
                <a:cs typeface="Times New Roman"/>
                <a:sym typeface="Times New Roman"/>
              </a:rPr>
              <a:t>mpstat</a:t>
            </a:r>
            <a:endParaRPr dirty="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800"/>
              <a:buChar char="•"/>
            </a:pPr>
            <a:r>
              <a:rPr lang="ru-RU" dirty="0">
                <a:latin typeface="Times New Roman"/>
                <a:ea typeface="Times New Roman"/>
                <a:cs typeface="Times New Roman"/>
                <a:sym typeface="Times New Roman"/>
              </a:rPr>
              <a:t>Статистика использования </a:t>
            </a:r>
            <a:r>
              <a:rPr lang="ru-RU" dirty="0" smtClean="0">
                <a:latin typeface="Times New Roman"/>
                <a:ea typeface="Times New Roman"/>
                <a:cs typeface="Times New Roman"/>
                <a:sym typeface="Times New Roman"/>
              </a:rPr>
              <a:t>памяти </a:t>
            </a:r>
            <a:r>
              <a:rPr lang="ru-RU" dirty="0">
                <a:latin typeface="Times New Roman"/>
                <a:ea typeface="Times New Roman"/>
                <a:cs typeface="Times New Roman"/>
                <a:sym typeface="Times New Roman"/>
              </a:rPr>
              <a:t>– </a:t>
            </a:r>
            <a:r>
              <a:rPr lang="ru-RU" b="0" i="0" dirty="0" err="1">
                <a:latin typeface="Times New Roman"/>
                <a:ea typeface="Times New Roman"/>
                <a:cs typeface="Times New Roman"/>
                <a:sym typeface="Times New Roman"/>
              </a:rPr>
              <a:t>cat</a:t>
            </a:r>
            <a:r>
              <a:rPr lang="ru-RU" b="0" i="0" dirty="0">
                <a:latin typeface="Times New Roman"/>
                <a:ea typeface="Times New Roman"/>
                <a:cs typeface="Times New Roman"/>
                <a:sym typeface="Times New Roman"/>
              </a:rPr>
              <a:t> /</a:t>
            </a:r>
            <a:r>
              <a:rPr lang="ru-RU" b="0" i="0" dirty="0" err="1">
                <a:latin typeface="Times New Roman"/>
                <a:ea typeface="Times New Roman"/>
                <a:cs typeface="Times New Roman"/>
                <a:sym typeface="Times New Roman"/>
              </a:rPr>
              <a:t>proc</a:t>
            </a:r>
            <a:r>
              <a:rPr lang="ru-RU" b="0" i="0" dirty="0">
                <a:latin typeface="Times New Roman"/>
                <a:ea typeface="Times New Roman"/>
                <a:cs typeface="Times New Roman"/>
                <a:sym typeface="Times New Roman"/>
              </a:rPr>
              <a:t>/</a:t>
            </a:r>
            <a:r>
              <a:rPr lang="ru-RU" b="0" i="0" dirty="0" err="1">
                <a:latin typeface="Times New Roman"/>
                <a:ea typeface="Times New Roman"/>
                <a:cs typeface="Times New Roman"/>
                <a:sym typeface="Times New Roman"/>
              </a:rPr>
              <a:t>meminfo</a:t>
            </a:r>
            <a:endParaRPr dirty="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800"/>
              <a:buChar char="•"/>
            </a:pPr>
            <a:r>
              <a:rPr lang="ru-RU" dirty="0">
                <a:latin typeface="Times New Roman"/>
                <a:ea typeface="Times New Roman"/>
                <a:cs typeface="Times New Roman"/>
                <a:sym typeface="Times New Roman"/>
              </a:rPr>
              <a:t>Версия дистрибутива – </a:t>
            </a:r>
            <a:r>
              <a:rPr lang="ru-RU" b="0" i="0" dirty="0">
                <a:latin typeface="Times New Roman"/>
                <a:ea typeface="Times New Roman"/>
                <a:cs typeface="Times New Roman"/>
                <a:sym typeface="Times New Roman"/>
              </a:rPr>
              <a:t> </a:t>
            </a:r>
            <a:r>
              <a:rPr lang="ru-RU" b="0" i="0" dirty="0" err="1">
                <a:latin typeface="Times New Roman"/>
                <a:ea typeface="Times New Roman"/>
                <a:cs typeface="Times New Roman"/>
                <a:sym typeface="Times New Roman"/>
              </a:rPr>
              <a:t>lsb_release</a:t>
            </a:r>
            <a:r>
              <a:rPr lang="ru-RU" b="0" i="0" dirty="0">
                <a:latin typeface="Times New Roman"/>
                <a:ea typeface="Times New Roman"/>
                <a:cs typeface="Times New Roman"/>
                <a:sym typeface="Times New Roman"/>
              </a:rPr>
              <a:t> –a</a:t>
            </a:r>
            <a:endParaRPr b="0" i="0" dirty="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800"/>
              <a:buChar char="•"/>
            </a:pPr>
            <a:r>
              <a:rPr lang="ru-RU" dirty="0">
                <a:latin typeface="Times New Roman"/>
                <a:ea typeface="Times New Roman"/>
                <a:cs typeface="Times New Roman"/>
                <a:sym typeface="Times New Roman"/>
              </a:rPr>
              <a:t>Версия ядра – </a:t>
            </a:r>
            <a:r>
              <a:rPr lang="ru-RU" dirty="0" err="1">
                <a:latin typeface="Times New Roman"/>
                <a:ea typeface="Times New Roman"/>
                <a:cs typeface="Times New Roman"/>
                <a:sym typeface="Times New Roman"/>
              </a:rPr>
              <a:t>uname</a:t>
            </a:r>
            <a:r>
              <a:rPr lang="ru-RU" dirty="0">
                <a:latin typeface="Times New Roman"/>
                <a:ea typeface="Times New Roman"/>
                <a:cs typeface="Times New Roman"/>
                <a:sym typeface="Times New Roman"/>
              </a:rPr>
              <a:t> –a </a:t>
            </a:r>
            <a:endParaRPr dirty="0"/>
          </a:p>
          <a:p>
            <a:pPr marL="228600" lvl="0" indent="-228600" algn="l" rtl="0">
              <a:lnSpc>
                <a:spcPct val="90000"/>
              </a:lnSpc>
              <a:spcBef>
                <a:spcPts val="1000"/>
              </a:spcBef>
              <a:spcAft>
                <a:spcPts val="0"/>
              </a:spcAft>
              <a:buClr>
                <a:schemeClr val="dk1"/>
              </a:buClr>
              <a:buSzPts val="2800"/>
              <a:buChar char="•"/>
            </a:pPr>
            <a:r>
              <a:rPr lang="ru-RU" dirty="0">
                <a:latin typeface="Times New Roman"/>
                <a:ea typeface="Times New Roman"/>
                <a:cs typeface="Times New Roman"/>
                <a:sym typeface="Times New Roman"/>
              </a:rPr>
              <a:t>Подключенные </a:t>
            </a:r>
            <a:r>
              <a:rPr lang="ru-RU" dirty="0" smtClean="0">
                <a:latin typeface="Times New Roman"/>
                <a:ea typeface="Times New Roman"/>
                <a:cs typeface="Times New Roman"/>
                <a:sym typeface="Times New Roman"/>
              </a:rPr>
              <a:t>H</a:t>
            </a:r>
            <a:r>
              <a:rPr lang="en-US" dirty="0" smtClean="0">
                <a:latin typeface="Times New Roman"/>
                <a:ea typeface="Times New Roman"/>
                <a:cs typeface="Times New Roman"/>
                <a:sym typeface="Times New Roman"/>
              </a:rPr>
              <a:t>D</a:t>
            </a:r>
            <a:r>
              <a:rPr lang="ru-RU" dirty="0" smtClean="0">
                <a:latin typeface="Times New Roman"/>
                <a:ea typeface="Times New Roman"/>
                <a:cs typeface="Times New Roman"/>
                <a:sym typeface="Times New Roman"/>
              </a:rPr>
              <a:t>D </a:t>
            </a:r>
            <a:r>
              <a:rPr lang="ru-RU" dirty="0">
                <a:latin typeface="Times New Roman"/>
                <a:ea typeface="Times New Roman"/>
                <a:cs typeface="Times New Roman"/>
                <a:sym typeface="Times New Roman"/>
              </a:rPr>
              <a:t>– </a:t>
            </a:r>
            <a:r>
              <a:rPr lang="ru-RU" b="0" i="0" dirty="0" err="1">
                <a:latin typeface="Times New Roman"/>
                <a:ea typeface="Times New Roman"/>
                <a:cs typeface="Times New Roman"/>
                <a:sym typeface="Times New Roman"/>
              </a:rPr>
              <a:t>fdisk</a:t>
            </a:r>
            <a:r>
              <a:rPr lang="ru-RU" b="0" i="0" dirty="0">
                <a:latin typeface="Times New Roman"/>
                <a:ea typeface="Times New Roman"/>
                <a:cs typeface="Times New Roman"/>
                <a:sym typeface="Times New Roman"/>
              </a:rPr>
              <a:t> -l | </a:t>
            </a:r>
            <a:r>
              <a:rPr lang="ru-RU" b="0" i="0" dirty="0" err="1">
                <a:latin typeface="Times New Roman"/>
                <a:ea typeface="Times New Roman"/>
                <a:cs typeface="Times New Roman"/>
                <a:sym typeface="Times New Roman"/>
              </a:rPr>
              <a:t>grep</a:t>
            </a:r>
            <a:r>
              <a:rPr lang="ru-RU" b="0" i="0" dirty="0">
                <a:latin typeface="Times New Roman"/>
                <a:ea typeface="Times New Roman"/>
                <a:cs typeface="Times New Roman"/>
                <a:sym typeface="Times New Roman"/>
              </a:rPr>
              <a:t> '^/</a:t>
            </a:r>
            <a:r>
              <a:rPr lang="ru-RU" b="0" i="0" dirty="0" err="1">
                <a:latin typeface="Times New Roman"/>
                <a:ea typeface="Times New Roman"/>
                <a:cs typeface="Times New Roman"/>
                <a:sym typeface="Times New Roman"/>
              </a:rPr>
              <a:t>dev</a:t>
            </a:r>
            <a:r>
              <a:rPr lang="ru-RU" b="0" i="0" dirty="0">
                <a:latin typeface="Times New Roman"/>
                <a:ea typeface="Times New Roman"/>
                <a:cs typeface="Times New Roman"/>
                <a:sym typeface="Times New Roman"/>
              </a:rPr>
              <a:t>’ </a:t>
            </a:r>
            <a:endParaRPr dirty="0"/>
          </a:p>
          <a:p>
            <a:pPr marL="228600" lvl="0" indent="-228600" algn="l" rtl="0">
              <a:lnSpc>
                <a:spcPct val="90000"/>
              </a:lnSpc>
              <a:spcBef>
                <a:spcPts val="1000"/>
              </a:spcBef>
              <a:spcAft>
                <a:spcPts val="0"/>
              </a:spcAft>
              <a:buClr>
                <a:schemeClr val="dk1"/>
              </a:buClr>
              <a:buSzPts val="2800"/>
              <a:buChar char="•"/>
            </a:pPr>
            <a:r>
              <a:rPr lang="ru-RU" dirty="0">
                <a:latin typeface="Times New Roman"/>
                <a:ea typeface="Times New Roman"/>
                <a:cs typeface="Times New Roman"/>
                <a:sym typeface="Times New Roman"/>
              </a:rPr>
              <a:t>Все </a:t>
            </a:r>
            <a:r>
              <a:rPr lang="ru-RU" dirty="0" err="1">
                <a:latin typeface="Times New Roman"/>
                <a:ea typeface="Times New Roman"/>
                <a:cs typeface="Times New Roman"/>
                <a:sym typeface="Times New Roman"/>
              </a:rPr>
              <a:t>примонтированные</a:t>
            </a:r>
            <a:r>
              <a:rPr lang="ru-RU" dirty="0">
                <a:latin typeface="Times New Roman"/>
                <a:ea typeface="Times New Roman"/>
                <a:cs typeface="Times New Roman"/>
                <a:sym typeface="Times New Roman"/>
              </a:rPr>
              <a:t> файловые системы – </a:t>
            </a:r>
            <a:r>
              <a:rPr lang="ru-RU" b="0" i="0" dirty="0" err="1">
                <a:latin typeface="Times New Roman"/>
                <a:ea typeface="Times New Roman"/>
                <a:cs typeface="Times New Roman"/>
                <a:sym typeface="Times New Roman"/>
              </a:rPr>
              <a:t>mount</a:t>
            </a:r>
            <a:r>
              <a:rPr lang="ru-RU" b="0" i="0" dirty="0">
                <a:latin typeface="Times New Roman"/>
                <a:ea typeface="Times New Roman"/>
                <a:cs typeface="Times New Roman"/>
                <a:sym typeface="Times New Roman"/>
              </a:rPr>
              <a:t> | </a:t>
            </a:r>
            <a:r>
              <a:rPr lang="ru-RU" b="0" i="0" dirty="0" err="1">
                <a:latin typeface="Times New Roman"/>
                <a:ea typeface="Times New Roman"/>
                <a:cs typeface="Times New Roman"/>
                <a:sym typeface="Times New Roman"/>
              </a:rPr>
              <a:t>grep</a:t>
            </a:r>
            <a:r>
              <a:rPr lang="ru-RU" b="0" i="0" dirty="0">
                <a:latin typeface="Times New Roman"/>
                <a:ea typeface="Times New Roman"/>
                <a:cs typeface="Times New Roman"/>
                <a:sym typeface="Times New Roman"/>
              </a:rPr>
              <a:t> /</a:t>
            </a:r>
            <a:r>
              <a:rPr lang="ru-RU" b="0" i="0" dirty="0" err="1">
                <a:latin typeface="Times New Roman"/>
                <a:ea typeface="Times New Roman"/>
                <a:cs typeface="Times New Roman"/>
                <a:sym typeface="Times New Roman"/>
              </a:rPr>
              <a:t>dev</a:t>
            </a:r>
            <a:r>
              <a:rPr lang="ru-RU" b="0" i="0" dirty="0">
                <a:latin typeface="Times New Roman"/>
                <a:ea typeface="Times New Roman"/>
                <a:cs typeface="Times New Roman"/>
                <a:sym typeface="Times New Roman"/>
              </a:rPr>
              <a:t>/</a:t>
            </a:r>
            <a:endParaRPr dirty="0">
              <a:latin typeface="Times New Roman"/>
              <a:ea typeface="Times New Roman"/>
              <a:cs typeface="Times New Roman"/>
              <a:sym typeface="Times New Roman"/>
            </a:endParaRPr>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52</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298231516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5"/>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ru-RU"/>
              <a:t>Сбор информации о системе</a:t>
            </a:r>
            <a:endParaRPr/>
          </a:p>
        </p:txBody>
      </p:sp>
      <p:sp>
        <p:nvSpPr>
          <p:cNvPr id="287" name="Google Shape;287;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ru-RU"/>
              <a:t>Подключенные USB-устройства – lsusb</a:t>
            </a:r>
            <a:endParaRPr/>
          </a:p>
          <a:p>
            <a:pPr marL="228600" lvl="0" indent="-228600" algn="l" rtl="0">
              <a:lnSpc>
                <a:spcPct val="90000"/>
              </a:lnSpc>
              <a:spcBef>
                <a:spcPts val="1000"/>
              </a:spcBef>
              <a:spcAft>
                <a:spcPts val="0"/>
              </a:spcAft>
              <a:buClr>
                <a:schemeClr val="dk1"/>
              </a:buClr>
              <a:buSzPts val="2800"/>
              <a:buChar char="•"/>
            </a:pPr>
            <a:r>
              <a:rPr lang="ru-RU"/>
              <a:t>Беспроводные сетевые адаптеры – iwconfig </a:t>
            </a:r>
            <a:endParaRPr/>
          </a:p>
          <a:p>
            <a:pPr marL="228600" lvl="0" indent="-228600" algn="l" rtl="0">
              <a:lnSpc>
                <a:spcPct val="90000"/>
              </a:lnSpc>
              <a:spcBef>
                <a:spcPts val="1000"/>
              </a:spcBef>
              <a:spcAft>
                <a:spcPts val="0"/>
              </a:spcAft>
              <a:buClr>
                <a:schemeClr val="dk1"/>
              </a:buClr>
              <a:buSzPts val="2800"/>
              <a:buChar char="•"/>
            </a:pPr>
            <a:r>
              <a:rPr lang="ru-RU"/>
              <a:t>Время работы системы – uptime </a:t>
            </a:r>
            <a:endParaRPr/>
          </a:p>
          <a:p>
            <a:pPr marL="228600" lvl="0" indent="-228600" algn="l" rtl="0">
              <a:lnSpc>
                <a:spcPct val="90000"/>
              </a:lnSpc>
              <a:spcBef>
                <a:spcPts val="1000"/>
              </a:spcBef>
              <a:spcAft>
                <a:spcPts val="0"/>
              </a:spcAft>
              <a:buClr>
                <a:schemeClr val="dk1"/>
              </a:buClr>
              <a:buSzPts val="2800"/>
              <a:buChar char="•"/>
            </a:pPr>
            <a:r>
              <a:rPr lang="ru-RU"/>
              <a:t>Текущий уровень запуска – runlevel </a:t>
            </a:r>
            <a:endParaRPr/>
          </a:p>
          <a:p>
            <a:pPr marL="228600" lvl="0" indent="-228600" algn="l" rtl="0">
              <a:lnSpc>
                <a:spcPct val="90000"/>
              </a:lnSpc>
              <a:spcBef>
                <a:spcPts val="1000"/>
              </a:spcBef>
              <a:spcAft>
                <a:spcPts val="0"/>
              </a:spcAft>
              <a:buClr>
                <a:schemeClr val="dk1"/>
              </a:buClr>
              <a:buSzPts val="2800"/>
              <a:buChar char="•"/>
            </a:pPr>
            <a:r>
              <a:rPr lang="ru-RU"/>
              <a:t>Лог ядра – sudo dmesg</a:t>
            </a:r>
            <a:endParaRPr/>
          </a:p>
          <a:p>
            <a:pPr marL="228600" lvl="0" indent="-228600" algn="l" rtl="0">
              <a:lnSpc>
                <a:spcPct val="90000"/>
              </a:lnSpc>
              <a:spcBef>
                <a:spcPts val="1000"/>
              </a:spcBef>
              <a:spcAft>
                <a:spcPts val="0"/>
              </a:spcAft>
              <a:buClr>
                <a:schemeClr val="dk1"/>
              </a:buClr>
              <a:buSzPts val="2800"/>
              <a:buChar char="•"/>
            </a:pPr>
            <a:r>
              <a:rPr lang="ru-RU"/>
              <a:t>Загруженные модули ядра – sudo lsmod</a:t>
            </a:r>
            <a:endParaRPr/>
          </a:p>
          <a:p>
            <a:pPr marL="228600" lvl="0" indent="-228600" algn="l" rtl="0">
              <a:lnSpc>
                <a:spcPct val="90000"/>
              </a:lnSpc>
              <a:spcBef>
                <a:spcPts val="1000"/>
              </a:spcBef>
              <a:spcAft>
                <a:spcPts val="0"/>
              </a:spcAft>
              <a:buClr>
                <a:schemeClr val="dk1"/>
              </a:buClr>
              <a:buSzPts val="2800"/>
              <a:buChar char="•"/>
            </a:pPr>
            <a:r>
              <a:rPr lang="ru-RU"/>
              <a:t>Список сетевых интерфейсов – ls /sys/class/net</a:t>
            </a:r>
            <a:endParaRPr/>
          </a:p>
          <a:p>
            <a:pPr marL="228600" lvl="0" indent="-228600" algn="l" rtl="0">
              <a:lnSpc>
                <a:spcPct val="90000"/>
              </a:lnSpc>
              <a:spcBef>
                <a:spcPts val="1000"/>
              </a:spcBef>
              <a:spcAft>
                <a:spcPts val="0"/>
              </a:spcAft>
              <a:buClr>
                <a:schemeClr val="dk1"/>
              </a:buClr>
              <a:buSzPts val="2800"/>
              <a:buChar char="•"/>
            </a:pPr>
            <a:r>
              <a:rPr lang="ru-RU"/>
              <a:t>Локальный IP – sudo ip addr (старый вариант sudo ifconfig -a)</a:t>
            </a:r>
            <a:endParaRPr/>
          </a:p>
          <a:p>
            <a:pPr marL="228600" lvl="0" indent="-228600" algn="l" rtl="0">
              <a:lnSpc>
                <a:spcPct val="90000"/>
              </a:lnSpc>
              <a:spcBef>
                <a:spcPts val="1000"/>
              </a:spcBef>
              <a:spcAft>
                <a:spcPts val="0"/>
              </a:spcAft>
              <a:buClr>
                <a:schemeClr val="dk1"/>
              </a:buClr>
              <a:buSzPts val="2800"/>
              <a:buChar char="•"/>
            </a:pPr>
            <a:r>
              <a:rPr lang="ru-RU"/>
              <a:t>Таблица маршрутизации sudo ip route</a:t>
            </a:r>
            <a:endParaRPr/>
          </a:p>
          <a:p>
            <a:pPr marL="228600" lvl="0" indent="-50800" algn="l" rtl="0">
              <a:lnSpc>
                <a:spcPct val="90000"/>
              </a:lnSpc>
              <a:spcBef>
                <a:spcPts val="1000"/>
              </a:spcBef>
              <a:spcAft>
                <a:spcPts val="0"/>
              </a:spcAft>
              <a:buClr>
                <a:schemeClr val="dk1"/>
              </a:buClr>
              <a:buSzPts val="2800"/>
              <a:buNone/>
            </a:pPr>
            <a:endParaRPr/>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53</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282366724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6"/>
          <p:cNvSpPr txBox="1">
            <a:spLocks noGrp="1"/>
          </p:cNvSpPr>
          <p:nvPr>
            <p:ph type="title"/>
          </p:nvPr>
        </p:nvSpPr>
        <p:spPr>
          <a:xfrm>
            <a:off x="211016" y="365127"/>
            <a:ext cx="11816861"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ru-RU"/>
              <a:t>Сбор информации о системе</a:t>
            </a:r>
            <a:endParaRPr/>
          </a:p>
        </p:txBody>
      </p:sp>
      <p:sp>
        <p:nvSpPr>
          <p:cNvPr id="293" name="Google Shape;293;p3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ru-RU"/>
              <a:t>Сетевые мосты – sudo brctl show</a:t>
            </a:r>
            <a:endParaRPr/>
          </a:p>
          <a:p>
            <a:pPr marL="228600" lvl="0" indent="-228600" algn="l" rtl="0">
              <a:lnSpc>
                <a:spcPct val="90000"/>
              </a:lnSpc>
              <a:spcBef>
                <a:spcPts val="1000"/>
              </a:spcBef>
              <a:spcAft>
                <a:spcPts val="0"/>
              </a:spcAft>
              <a:buClr>
                <a:schemeClr val="dk1"/>
              </a:buClr>
              <a:buSzPct val="100000"/>
              <a:buChar char="•"/>
            </a:pPr>
            <a:r>
              <a:rPr lang="ru-RU"/>
              <a:t>Адреса DNS-серверов -  cat /etc/resolv.conf</a:t>
            </a:r>
            <a:endParaRPr/>
          </a:p>
          <a:p>
            <a:pPr marL="228600" lvl="0" indent="-228600" algn="l" rtl="0">
              <a:lnSpc>
                <a:spcPct val="90000"/>
              </a:lnSpc>
              <a:spcBef>
                <a:spcPts val="1000"/>
              </a:spcBef>
              <a:spcAft>
                <a:spcPts val="0"/>
              </a:spcAft>
              <a:buClr>
                <a:schemeClr val="dk1"/>
              </a:buClr>
              <a:buSzPct val="100000"/>
              <a:buChar char="•"/>
            </a:pPr>
            <a:r>
              <a:rPr lang="ru-RU"/>
              <a:t>Все прослушиваемые порты sudo ss –l</a:t>
            </a:r>
            <a:endParaRPr/>
          </a:p>
          <a:p>
            <a:pPr marL="228600" lvl="0" indent="-228600" algn="l" rtl="0">
              <a:lnSpc>
                <a:spcPct val="90000"/>
              </a:lnSpc>
              <a:spcBef>
                <a:spcPts val="1000"/>
              </a:spcBef>
              <a:spcAft>
                <a:spcPts val="0"/>
              </a:spcAft>
              <a:buClr>
                <a:schemeClr val="dk1"/>
              </a:buClr>
              <a:buSzPct val="100000"/>
              <a:buChar char="•"/>
            </a:pPr>
            <a:r>
              <a:rPr lang="ru-RU"/>
              <a:t>Только сетевые прослушиваемые порты sudo ss –tulpn</a:t>
            </a:r>
            <a:endParaRPr/>
          </a:p>
          <a:p>
            <a:pPr marL="228600" lvl="0" indent="-228600" algn="l" rtl="0">
              <a:lnSpc>
                <a:spcPct val="90000"/>
              </a:lnSpc>
              <a:spcBef>
                <a:spcPts val="1000"/>
              </a:spcBef>
              <a:spcAft>
                <a:spcPts val="0"/>
              </a:spcAft>
              <a:buClr>
                <a:schemeClr val="dk1"/>
              </a:buClr>
              <a:buSzPct val="100000"/>
              <a:buChar char="•"/>
            </a:pPr>
            <a:r>
              <a:rPr lang="ru-RU"/>
              <a:t>Открытые в системе файлы – sudo lsof</a:t>
            </a:r>
            <a:endParaRPr/>
          </a:p>
          <a:p>
            <a:pPr marL="228600" lvl="0" indent="-228600" algn="l" rtl="0">
              <a:lnSpc>
                <a:spcPct val="90000"/>
              </a:lnSpc>
              <a:spcBef>
                <a:spcPts val="1000"/>
              </a:spcBef>
              <a:spcAft>
                <a:spcPts val="0"/>
              </a:spcAft>
              <a:buClr>
                <a:schemeClr val="dk1"/>
              </a:buClr>
              <a:buSzPct val="100000"/>
              <a:buChar char="•"/>
            </a:pPr>
            <a:r>
              <a:rPr lang="ru-RU"/>
              <a:t>Открытые в определенной папке файлы – sudo lsof | grep /bin/</a:t>
            </a:r>
            <a:endParaRPr/>
          </a:p>
          <a:p>
            <a:pPr marL="228600" lvl="0" indent="-228600" algn="l" rtl="0">
              <a:lnSpc>
                <a:spcPct val="90000"/>
              </a:lnSpc>
              <a:spcBef>
                <a:spcPts val="1000"/>
              </a:spcBef>
              <a:spcAft>
                <a:spcPts val="0"/>
              </a:spcAft>
              <a:buClr>
                <a:schemeClr val="dk1"/>
              </a:buClr>
              <a:buSzPct val="100000"/>
              <a:buChar char="•"/>
            </a:pPr>
            <a:r>
              <a:rPr lang="ru-RU"/>
              <a:t>Все запущенные сервисы – systemctl list-units –type service – state running</a:t>
            </a:r>
            <a:endParaRPr/>
          </a:p>
          <a:p>
            <a:pPr marL="228600" lvl="0" indent="-228600" algn="l" rtl="0">
              <a:lnSpc>
                <a:spcPct val="90000"/>
              </a:lnSpc>
              <a:spcBef>
                <a:spcPts val="1000"/>
              </a:spcBef>
              <a:spcAft>
                <a:spcPts val="0"/>
              </a:spcAft>
              <a:buClr>
                <a:schemeClr val="dk1"/>
              </a:buClr>
              <a:buSzPct val="100000"/>
              <a:buChar char="•"/>
            </a:pPr>
            <a:r>
              <a:rPr lang="ru-RU"/>
              <a:t>Проверка, запущен ли сервис docker – sudo systemctl status docker</a:t>
            </a:r>
            <a:endParaRPr/>
          </a:p>
          <a:p>
            <a:pPr marL="228600" lvl="0" indent="-228600" algn="l" rtl="0">
              <a:lnSpc>
                <a:spcPct val="90000"/>
              </a:lnSpc>
              <a:spcBef>
                <a:spcPts val="1000"/>
              </a:spcBef>
              <a:spcAft>
                <a:spcPts val="0"/>
              </a:spcAft>
              <a:buClr>
                <a:schemeClr val="dk1"/>
              </a:buClr>
              <a:buSzPct val="100000"/>
              <a:buChar char="•"/>
            </a:pPr>
            <a:r>
              <a:rPr lang="ru-RU"/>
              <a:t>Проверка, загружается ли сервис apache2 автоматически – sudo systemctl is-enabled apache2</a:t>
            </a:r>
            <a:endParaRPr/>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54</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240253209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7"/>
          <p:cNvSpPr txBox="1">
            <a:spLocks noGrp="1"/>
          </p:cNvSpPr>
          <p:nvPr>
            <p:ph type="title"/>
          </p:nvPr>
        </p:nvSpPr>
        <p:spPr>
          <a:xfrm>
            <a:off x="1" y="365127"/>
            <a:ext cx="11999743"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ru-RU"/>
              <a:t>Сбор информации о системе</a:t>
            </a:r>
            <a:endParaRPr/>
          </a:p>
        </p:txBody>
      </p:sp>
      <p:sp>
        <p:nvSpPr>
          <p:cNvPr id="299" name="Google Shape;299;p3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ru-RU" dirty="0"/>
              <a:t>Все запущенные процессы – </a:t>
            </a:r>
            <a:r>
              <a:rPr lang="ru-RU" dirty="0" err="1"/>
              <a:t>ps</a:t>
            </a:r>
            <a:r>
              <a:rPr lang="ru-RU" dirty="0"/>
              <a:t> </a:t>
            </a:r>
            <a:r>
              <a:rPr lang="ru-RU" dirty="0" err="1"/>
              <a:t>aux</a:t>
            </a:r>
            <a:endParaRPr dirty="0"/>
          </a:p>
          <a:p>
            <a:pPr marL="228600" lvl="0" indent="-228600" algn="l" rtl="0">
              <a:lnSpc>
                <a:spcPct val="90000"/>
              </a:lnSpc>
              <a:spcBef>
                <a:spcPts val="1000"/>
              </a:spcBef>
              <a:spcAft>
                <a:spcPts val="0"/>
              </a:spcAft>
              <a:buClr>
                <a:schemeClr val="dk1"/>
              </a:buClr>
              <a:buSzPts val="2800"/>
              <a:buChar char="•"/>
            </a:pPr>
            <a:r>
              <a:rPr lang="ru-RU" dirty="0"/>
              <a:t>Все запущенные процессы (более удобно) – </a:t>
            </a:r>
            <a:r>
              <a:rPr lang="ru-RU" dirty="0" err="1"/>
              <a:t>top</a:t>
            </a:r>
            <a:r>
              <a:rPr lang="ru-RU" dirty="0"/>
              <a:t> или </a:t>
            </a:r>
            <a:r>
              <a:rPr lang="ru-RU" dirty="0" err="1"/>
              <a:t>htop</a:t>
            </a:r>
            <a:endParaRPr dirty="0"/>
          </a:p>
          <a:p>
            <a:pPr marL="228600" lvl="0" indent="-228600" algn="l" rtl="0">
              <a:lnSpc>
                <a:spcPct val="90000"/>
              </a:lnSpc>
              <a:spcBef>
                <a:spcPts val="1000"/>
              </a:spcBef>
              <a:spcAft>
                <a:spcPts val="0"/>
              </a:spcAft>
              <a:buClr>
                <a:schemeClr val="dk1"/>
              </a:buClr>
              <a:buSzPts val="2800"/>
              <a:buChar char="•"/>
            </a:pPr>
            <a:r>
              <a:rPr lang="ru-RU" dirty="0"/>
              <a:t>Список всех установленных пакетов </a:t>
            </a:r>
            <a:r>
              <a:rPr lang="ru-RU" dirty="0" err="1"/>
              <a:t>dpkg</a:t>
            </a:r>
            <a:r>
              <a:rPr lang="ru-RU" dirty="0"/>
              <a:t> –l</a:t>
            </a:r>
            <a:endParaRPr dirty="0"/>
          </a:p>
          <a:p>
            <a:pPr marL="228600" lvl="0" indent="-50800" algn="l" rtl="0">
              <a:lnSpc>
                <a:spcPct val="90000"/>
              </a:lnSpc>
              <a:spcBef>
                <a:spcPts val="1000"/>
              </a:spcBef>
              <a:spcAft>
                <a:spcPts val="0"/>
              </a:spcAft>
              <a:buClr>
                <a:schemeClr val="dk1"/>
              </a:buClr>
              <a:buSzPts val="2800"/>
              <a:buNone/>
            </a:pPr>
            <a:endParaRPr dirty="0"/>
          </a:p>
        </p:txBody>
      </p:sp>
      <p:sp>
        <p:nvSpPr>
          <p:cNvPr id="5" name="Номер слайда 4"/>
          <p:cNvSpPr>
            <a:spLocks noGrp="1"/>
          </p:cNvSpPr>
          <p:nvPr>
            <p:ph type="sldNum" idx="12"/>
          </p:nvPr>
        </p:nvSpPr>
        <p:spPr/>
        <p:txBody>
          <a:bodyPr/>
          <a:lstStyle/>
          <a:p>
            <a:fld id="{725C68B6-61C2-468F-89AB-4B9F7531AA68}" type="slidenum">
              <a:rPr lang="ru-RU" smtClean="0">
                <a:latin typeface="Arial"/>
                <a:cs typeface="Arial"/>
                <a:sym typeface="Arial"/>
              </a:rPr>
              <a:pPr/>
              <a:t>55</a:t>
            </a:fld>
            <a:r>
              <a:rPr lang="ru-RU" smtClean="0">
                <a:latin typeface="Arial"/>
                <a:cs typeface="Arial"/>
                <a:sym typeface="Arial"/>
              </a:rPr>
              <a:t> / 54</a:t>
            </a:r>
            <a:endParaRPr lang="ru-RU" dirty="0" smtClean="0">
              <a:latin typeface="Arial"/>
              <a:cs typeface="Arial"/>
              <a:sym typeface="Arial"/>
            </a:endParaRPr>
          </a:p>
        </p:txBody>
      </p:sp>
    </p:spTree>
    <p:extLst>
      <p:ext uri="{BB962C8B-B14F-4D97-AF65-F5344CB8AC3E}">
        <p14:creationId xmlns:p14="http://schemas.microsoft.com/office/powerpoint/2010/main" val="3127479620"/>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343</TotalTime>
  <Words>3581</Words>
  <Application>Microsoft Office PowerPoint</Application>
  <PresentationFormat>Произвольный</PresentationFormat>
  <Paragraphs>518</Paragraphs>
  <Slides>55</Slides>
  <Notes>41</Notes>
  <HiddenSlides>0</HiddenSlides>
  <MMClips>0</MMClips>
  <ScaleCrop>false</ScaleCrop>
  <HeadingPairs>
    <vt:vector size="6" baseType="variant">
      <vt:variant>
        <vt:lpstr>Использованные шрифты</vt:lpstr>
      </vt:variant>
      <vt:variant>
        <vt:i4>7</vt:i4>
      </vt:variant>
      <vt:variant>
        <vt:lpstr>Тема</vt:lpstr>
      </vt:variant>
      <vt:variant>
        <vt:i4>2</vt:i4>
      </vt:variant>
      <vt:variant>
        <vt:lpstr>Заголовки слайдов</vt:lpstr>
      </vt:variant>
      <vt:variant>
        <vt:i4>55</vt:i4>
      </vt:variant>
    </vt:vector>
  </HeadingPairs>
  <TitlesOfParts>
    <vt:vector size="64" baseType="lpstr">
      <vt:lpstr>Arial</vt:lpstr>
      <vt:lpstr>IBM Plex Sans</vt:lpstr>
      <vt:lpstr>Lucida Console</vt:lpstr>
      <vt:lpstr>PT Mono</vt:lpstr>
      <vt:lpstr>Fira Sans</vt:lpstr>
      <vt:lpstr>Times New Roman</vt:lpstr>
      <vt:lpstr>Calibri</vt:lpstr>
      <vt:lpstr>Тема Office</vt:lpstr>
      <vt:lpstr>1_Тема Office</vt:lpstr>
      <vt:lpstr>Элтекс</vt:lpstr>
      <vt:lpstr>Linux</vt:lpstr>
      <vt:lpstr>POSIX (по-русски: ПОЗИКС)</vt:lpstr>
      <vt:lpstr>Стандартизация Linux</vt:lpstr>
      <vt:lpstr>Терминал </vt:lpstr>
      <vt:lpstr>Терминал </vt:lpstr>
      <vt:lpstr>Загрузка Linux</vt:lpstr>
      <vt:lpstr>Загрузка Linux: (BIOS/Legacy)</vt:lpstr>
      <vt:lpstr>BIOS</vt:lpstr>
      <vt:lpstr>MBR</vt:lpstr>
      <vt:lpstr>GRUB</vt:lpstr>
      <vt:lpstr>Загрузочный раздел</vt:lpstr>
      <vt:lpstr>Kernel</vt:lpstr>
      <vt:lpstr>Init SystemV</vt:lpstr>
      <vt:lpstr>Уровень выполнения программ (Runlevel)</vt:lpstr>
      <vt:lpstr>Уровень выполнения программ (Runlevel)</vt:lpstr>
      <vt:lpstr>Презентация PowerPoint</vt:lpstr>
      <vt:lpstr>Командная строка (CLI) Linux</vt:lpstr>
      <vt:lpstr>Вид команды</vt:lpstr>
      <vt:lpstr>Работа с файлами и папками </vt:lpstr>
      <vt:lpstr>Самая полезная команда</vt:lpstr>
      <vt:lpstr>Поиск файла по имени</vt:lpstr>
      <vt:lpstr>Виртуализация файловой системы</vt:lpstr>
      <vt:lpstr>Презентация PowerPoint</vt:lpstr>
      <vt:lpstr>Презентация PowerPoint</vt:lpstr>
      <vt:lpstr>Презентация PowerPoint</vt:lpstr>
      <vt:lpstr>Имена файлов и содержимое каталогов</vt:lpstr>
      <vt:lpstr>Индексный дескриптор (inode)</vt:lpstr>
      <vt:lpstr>Содержимое inode</vt:lpstr>
      <vt:lpstr>Типы файлов в Linux</vt:lpstr>
      <vt:lpstr>Блочные устройства</vt:lpstr>
      <vt:lpstr>Жесткие и символьные (мягкие) ссылки</vt:lpstr>
      <vt:lpstr>inode жесткой ссылки</vt:lpstr>
      <vt:lpstr>inode мягкой ссылки</vt:lpstr>
      <vt:lpstr>Удаление файла</vt:lpstr>
      <vt:lpstr>Различия между символической и жесткой ссылкой</vt:lpstr>
      <vt:lpstr>Значение дескриптора + ссылки</vt:lpstr>
      <vt:lpstr>Команды</vt:lpstr>
      <vt:lpstr>Команды для ОС</vt:lpstr>
      <vt:lpstr>Некоторые основные команды</vt:lpstr>
      <vt:lpstr>Команды для работы с файлами и папками</vt:lpstr>
      <vt:lpstr>Команды для работы с файлами и папками</vt:lpstr>
      <vt:lpstr>Команды для работы с файлами и папками</vt:lpstr>
      <vt:lpstr>Команды для работы с файлами и папками</vt:lpstr>
      <vt:lpstr>Команды для работы с файлами и папками</vt:lpstr>
      <vt:lpstr>Команды для работы с файлами</vt:lpstr>
      <vt:lpstr>Команды для работы с файлами</vt:lpstr>
      <vt:lpstr>Команды для работы с бинарными файлами</vt:lpstr>
      <vt:lpstr>Сравнение текстовых файлов</vt:lpstr>
      <vt:lpstr>Команды для управления пользователями</vt:lpstr>
      <vt:lpstr>Команды для работы с пакетами в Debian</vt:lpstr>
      <vt:lpstr>Сбор информации о системе</vt:lpstr>
      <vt:lpstr>Сбор информации о системе</vt:lpstr>
      <vt:lpstr>Сбор информации о системе</vt:lpstr>
      <vt:lpstr>Сбор информации о системе</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Элтекс</dc:title>
  <dc:creator>nes</dc:creator>
  <cp:lastModifiedBy>Sergei</cp:lastModifiedBy>
  <cp:revision>79</cp:revision>
  <dcterms:created xsi:type="dcterms:W3CDTF">2022-10-04T01:26:52Z</dcterms:created>
  <dcterms:modified xsi:type="dcterms:W3CDTF">2026-10-05T01:28:17Z</dcterms:modified>
</cp:coreProperties>
</file>